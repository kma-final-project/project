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58" r:id="rId3"/>
    <p:sldId id="257" r:id="rId4"/>
    <p:sldId id="259" r:id="rId5"/>
    <p:sldId id="260" r:id="rId6"/>
    <p:sldId id="263" r:id="rId7"/>
    <p:sldId id="264" r:id="rId8"/>
    <p:sldId id="265" r:id="rId9"/>
    <p:sldId id="266" r:id="rId10"/>
    <p:sldId id="267" r:id="rId11"/>
    <p:sldId id="268" r:id="rId12"/>
    <p:sldId id="269" r:id="rId13"/>
    <p:sldId id="270" r:id="rId14"/>
    <p:sldId id="271"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5F1EA"/>
    <a:srgbClr val="C88639"/>
    <a:srgbClr val="1A2036"/>
    <a:srgbClr val="F90D1E"/>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9467" autoAdjust="0"/>
  </p:normalViewPr>
  <p:slideViewPr>
    <p:cSldViewPr snapToGrid="0" snapToObjects="1">
      <p:cViewPr varScale="1">
        <p:scale>
          <a:sx n="99" d="100"/>
          <a:sy n="99" d="100"/>
        </p:scale>
        <p:origin x="276" y="7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vi-V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557550D-5F05-4AD7-8D4D-6854756E8332}" type="datetimeFigureOut">
              <a:rPr lang="vi-VN" smtClean="0"/>
              <a:t>13/06/2026</a:t>
            </a:fld>
            <a:endParaRPr lang="vi-V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vi-V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vi-V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15D76D0-E0EB-4CE0-9AE7-DF43E82FE4CC}" type="slidenum">
              <a:rPr lang="vi-VN" smtClean="0"/>
              <a:t>‹#›</a:t>
            </a:fld>
            <a:endParaRPr lang="vi-VN"/>
          </a:p>
        </p:txBody>
      </p:sp>
    </p:spTree>
    <p:extLst>
      <p:ext uri="{BB962C8B-B14F-4D97-AF65-F5344CB8AC3E}">
        <p14:creationId xmlns:p14="http://schemas.microsoft.com/office/powerpoint/2010/main" val="15690573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dirty="0"/>
          </a:p>
        </p:txBody>
      </p:sp>
      <p:sp>
        <p:nvSpPr>
          <p:cNvPr id="4" name="Slide Number Placeholder 3"/>
          <p:cNvSpPr>
            <a:spLocks noGrp="1"/>
          </p:cNvSpPr>
          <p:nvPr>
            <p:ph type="sldNum" sz="quarter" idx="5"/>
          </p:nvPr>
        </p:nvSpPr>
        <p:spPr/>
        <p:txBody>
          <a:bodyPr/>
          <a:lstStyle/>
          <a:p>
            <a:fld id="{015D76D0-E0EB-4CE0-9AE7-DF43E82FE4CC}" type="slidenum">
              <a:rPr lang="vi-VN" smtClean="0"/>
              <a:t>3</a:t>
            </a:fld>
            <a:endParaRPr lang="vi-VN"/>
          </a:p>
        </p:txBody>
      </p:sp>
    </p:spTree>
    <p:extLst>
      <p:ext uri="{BB962C8B-B14F-4D97-AF65-F5344CB8AC3E}">
        <p14:creationId xmlns:p14="http://schemas.microsoft.com/office/powerpoint/2010/main" val="253388221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6/13/2026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6/13/2026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6/13/2026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6/13/2026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6/13/2026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6/13/2026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6/13/2026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Layout" Target="../slideLayouts/slideLayout7.xml"/><Relationship Id="rId5" Type="http://schemas.openxmlformats.org/officeDocument/2006/relationships/image" Target="../media/image7.sv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Layout" Target="../slideLayouts/slideLayout7.xml"/><Relationship Id="rId5" Type="http://schemas.openxmlformats.org/officeDocument/2006/relationships/image" Target="../media/image5.svg"/><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5F1EA"/>
        </a:solidFill>
        <a:effectLst/>
      </p:bgPr>
    </p:bg>
    <p:spTree>
      <p:nvGrpSpPr>
        <p:cNvPr id="1" name=""/>
        <p:cNvGrpSpPr/>
        <p:nvPr/>
      </p:nvGrpSpPr>
      <p:grpSpPr>
        <a:xfrm>
          <a:off x="0" y="0"/>
          <a:ext cx="0" cy="0"/>
          <a:chOff x="0" y="0"/>
          <a:chExt cx="0" cy="0"/>
        </a:xfrm>
      </p:grpSpPr>
      <p:sp>
        <p:nvSpPr>
          <p:cNvPr id="16" name="Rectangle: Rounded Corners 15">
            <a:extLst>
              <a:ext uri="{FF2B5EF4-FFF2-40B4-BE49-F238E27FC236}">
                <a16:creationId xmlns:a16="http://schemas.microsoft.com/office/drawing/2014/main" id="{56261634-90D9-5139-29A1-ED775AF8F77F}"/>
              </a:ext>
            </a:extLst>
          </p:cNvPr>
          <p:cNvSpPr/>
          <p:nvPr/>
        </p:nvSpPr>
        <p:spPr>
          <a:xfrm>
            <a:off x="8604499" y="203454"/>
            <a:ext cx="2916939" cy="6451092"/>
          </a:xfrm>
          <a:prstGeom prst="roundRect">
            <a:avLst>
              <a:gd name="adj" fmla="val 11024"/>
            </a:avLst>
          </a:prstGeom>
          <a:solidFill>
            <a:srgbClr val="E8EEF9"/>
          </a:solidFill>
          <a:ln w="15875">
            <a:solidFill>
              <a:srgbClr val="C8D1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vi-VN" dirty="0"/>
          </a:p>
        </p:txBody>
      </p:sp>
      <p:sp>
        <p:nvSpPr>
          <p:cNvPr id="3" name="TextBox 2"/>
          <p:cNvSpPr txBox="1"/>
          <p:nvPr/>
        </p:nvSpPr>
        <p:spPr>
          <a:xfrm>
            <a:off x="659864" y="2693300"/>
            <a:ext cx="7626096" cy="1809726"/>
          </a:xfrm>
          <a:prstGeom prst="rect">
            <a:avLst/>
          </a:prstGeom>
          <a:noFill/>
        </p:spPr>
        <p:txBody>
          <a:bodyPr wrap="square" lIns="73152" tIns="73152" rIns="73152" bIns="73152" anchor="t">
            <a:spAutoFit/>
          </a:bodyPr>
          <a:lstStyle/>
          <a:p>
            <a:pPr algn="ctr">
              <a:lnSpc>
                <a:spcPct val="100000"/>
              </a:lnSpc>
            </a:pPr>
            <a:r>
              <a:rPr sz="3600" b="1" dirty="0" err="1">
                <a:solidFill>
                  <a:srgbClr val="242C44"/>
                </a:solidFill>
                <a:latin typeface="Georgia" panose="02040502050405020303" pitchFamily="18" charset="0"/>
              </a:rPr>
              <a:t>Phát</a:t>
            </a:r>
            <a:r>
              <a:rPr sz="3600" b="1" dirty="0">
                <a:solidFill>
                  <a:srgbClr val="242C44"/>
                </a:solidFill>
                <a:latin typeface="Georgia" panose="02040502050405020303" pitchFamily="18" charset="0"/>
              </a:rPr>
              <a:t> </a:t>
            </a:r>
            <a:r>
              <a:rPr sz="3600" b="1" dirty="0" err="1">
                <a:solidFill>
                  <a:srgbClr val="242C44"/>
                </a:solidFill>
                <a:latin typeface="Georgia" panose="02040502050405020303" pitchFamily="18" charset="0"/>
              </a:rPr>
              <a:t>triển</a:t>
            </a:r>
            <a:r>
              <a:rPr sz="3600" b="1" dirty="0">
                <a:solidFill>
                  <a:srgbClr val="242C44"/>
                </a:solidFill>
                <a:latin typeface="Georgia" panose="02040502050405020303" pitchFamily="18" charset="0"/>
              </a:rPr>
              <a:t> </a:t>
            </a:r>
            <a:r>
              <a:rPr sz="3600" b="1" dirty="0" err="1">
                <a:solidFill>
                  <a:srgbClr val="242C44"/>
                </a:solidFill>
                <a:latin typeface="Georgia" panose="02040502050405020303" pitchFamily="18" charset="0"/>
              </a:rPr>
              <a:t>ứng</a:t>
            </a:r>
            <a:r>
              <a:rPr sz="3600" b="1" dirty="0">
                <a:solidFill>
                  <a:srgbClr val="242C44"/>
                </a:solidFill>
                <a:latin typeface="Georgia" panose="02040502050405020303" pitchFamily="18" charset="0"/>
              </a:rPr>
              <a:t> </a:t>
            </a:r>
            <a:r>
              <a:rPr sz="3600" b="1" dirty="0" err="1">
                <a:solidFill>
                  <a:srgbClr val="242C44"/>
                </a:solidFill>
                <a:latin typeface="Georgia" panose="02040502050405020303" pitchFamily="18" charset="0"/>
              </a:rPr>
              <a:t>dụng</a:t>
            </a:r>
            <a:r>
              <a:rPr sz="3600" b="1" dirty="0">
                <a:solidFill>
                  <a:srgbClr val="242C44"/>
                </a:solidFill>
                <a:latin typeface="Georgia" panose="02040502050405020303" pitchFamily="18" charset="0"/>
              </a:rPr>
              <a:t> </a:t>
            </a:r>
            <a:r>
              <a:rPr sz="3600" b="1" dirty="0" err="1">
                <a:solidFill>
                  <a:srgbClr val="242C44"/>
                </a:solidFill>
                <a:latin typeface="Georgia" panose="02040502050405020303" pitchFamily="18" charset="0"/>
              </a:rPr>
              <a:t>phiên</a:t>
            </a:r>
            <a:r>
              <a:rPr sz="3600" b="1" dirty="0">
                <a:solidFill>
                  <a:srgbClr val="242C44"/>
                </a:solidFill>
                <a:latin typeface="Georgia" panose="02040502050405020303" pitchFamily="18" charset="0"/>
              </a:rPr>
              <a:t> </a:t>
            </a:r>
            <a:r>
              <a:rPr sz="3600" b="1" dirty="0" err="1">
                <a:solidFill>
                  <a:srgbClr val="242C44"/>
                </a:solidFill>
                <a:latin typeface="Georgia" panose="02040502050405020303" pitchFamily="18" charset="0"/>
              </a:rPr>
              <a:t>dịch</a:t>
            </a:r>
            <a:r>
              <a:rPr sz="3600" b="1" dirty="0">
                <a:solidFill>
                  <a:srgbClr val="242C44"/>
                </a:solidFill>
                <a:latin typeface="Georgia" panose="02040502050405020303" pitchFamily="18" charset="0"/>
              </a:rPr>
              <a:t> </a:t>
            </a:r>
            <a:r>
              <a:rPr sz="3600" b="1" dirty="0" err="1">
                <a:solidFill>
                  <a:srgbClr val="242C44"/>
                </a:solidFill>
                <a:latin typeface="Georgia" panose="02040502050405020303" pitchFamily="18" charset="0"/>
              </a:rPr>
              <a:t>và</a:t>
            </a:r>
            <a:r>
              <a:rPr sz="3600" b="1" dirty="0">
                <a:solidFill>
                  <a:srgbClr val="242C44"/>
                </a:solidFill>
                <a:latin typeface="Georgia" panose="02040502050405020303" pitchFamily="18" charset="0"/>
              </a:rPr>
              <a:t> </a:t>
            </a:r>
            <a:r>
              <a:rPr sz="3600" b="1" dirty="0" err="1">
                <a:solidFill>
                  <a:srgbClr val="242C44"/>
                </a:solidFill>
                <a:latin typeface="Georgia" panose="02040502050405020303" pitchFamily="18" charset="0"/>
              </a:rPr>
              <a:t>tạo</a:t>
            </a:r>
            <a:r>
              <a:rPr sz="3600" b="1" dirty="0">
                <a:solidFill>
                  <a:srgbClr val="242C44"/>
                </a:solidFill>
                <a:latin typeface="Georgia" panose="02040502050405020303" pitchFamily="18" charset="0"/>
              </a:rPr>
              <a:t> </a:t>
            </a:r>
            <a:r>
              <a:rPr sz="3600" b="1" dirty="0" err="1">
                <a:solidFill>
                  <a:srgbClr val="242C44"/>
                </a:solidFill>
                <a:latin typeface="Georgia" panose="02040502050405020303" pitchFamily="18" charset="0"/>
              </a:rPr>
              <a:t>phụ</a:t>
            </a:r>
            <a:r>
              <a:rPr sz="3600" b="1" dirty="0">
                <a:solidFill>
                  <a:srgbClr val="242C44"/>
                </a:solidFill>
                <a:latin typeface="Georgia" panose="02040502050405020303" pitchFamily="18" charset="0"/>
              </a:rPr>
              <a:t> </a:t>
            </a:r>
            <a:r>
              <a:rPr sz="3600" b="1" dirty="0" err="1">
                <a:solidFill>
                  <a:srgbClr val="242C44"/>
                </a:solidFill>
                <a:latin typeface="Georgia" panose="02040502050405020303" pitchFamily="18" charset="0"/>
              </a:rPr>
              <a:t>đề</a:t>
            </a:r>
            <a:r>
              <a:rPr sz="3600" b="1" dirty="0">
                <a:solidFill>
                  <a:srgbClr val="242C44"/>
                </a:solidFill>
                <a:latin typeface="Georgia" panose="02040502050405020303" pitchFamily="18" charset="0"/>
              </a:rPr>
              <a:t> song </a:t>
            </a:r>
            <a:r>
              <a:rPr sz="3600" b="1" dirty="0" err="1">
                <a:solidFill>
                  <a:srgbClr val="242C44"/>
                </a:solidFill>
                <a:latin typeface="Georgia" panose="02040502050405020303" pitchFamily="18" charset="0"/>
              </a:rPr>
              <a:t>ngữ</a:t>
            </a:r>
            <a:r>
              <a:rPr sz="3600" b="1" dirty="0">
                <a:solidFill>
                  <a:srgbClr val="242C44"/>
                </a:solidFill>
                <a:latin typeface="Georgia" panose="02040502050405020303" pitchFamily="18" charset="0"/>
              </a:rPr>
              <a:t> </a:t>
            </a:r>
            <a:r>
              <a:rPr sz="3600" b="1" dirty="0" err="1">
                <a:solidFill>
                  <a:srgbClr val="242C44"/>
                </a:solidFill>
                <a:latin typeface="Georgia" panose="02040502050405020303" pitchFamily="18" charset="0"/>
              </a:rPr>
              <a:t>thời</a:t>
            </a:r>
            <a:r>
              <a:rPr sz="3600" b="1" dirty="0">
                <a:solidFill>
                  <a:srgbClr val="242C44"/>
                </a:solidFill>
                <a:latin typeface="Georgia" panose="02040502050405020303" pitchFamily="18" charset="0"/>
              </a:rPr>
              <a:t> </a:t>
            </a:r>
            <a:r>
              <a:rPr sz="3600" b="1" dirty="0" err="1">
                <a:solidFill>
                  <a:srgbClr val="242C44"/>
                </a:solidFill>
                <a:latin typeface="Georgia" panose="02040502050405020303" pitchFamily="18" charset="0"/>
              </a:rPr>
              <a:t>gian</a:t>
            </a:r>
            <a:r>
              <a:rPr sz="3600" b="1" dirty="0">
                <a:solidFill>
                  <a:srgbClr val="242C44"/>
                </a:solidFill>
                <a:latin typeface="Georgia" panose="02040502050405020303" pitchFamily="18" charset="0"/>
              </a:rPr>
              <a:t> </a:t>
            </a:r>
            <a:r>
              <a:rPr sz="3600" b="1" dirty="0" err="1">
                <a:solidFill>
                  <a:srgbClr val="242C44"/>
                </a:solidFill>
                <a:latin typeface="Georgia" panose="02040502050405020303" pitchFamily="18" charset="0"/>
              </a:rPr>
              <a:t>thực</a:t>
            </a:r>
            <a:r>
              <a:rPr sz="3600" b="1" dirty="0">
                <a:solidFill>
                  <a:srgbClr val="242C44"/>
                </a:solidFill>
                <a:latin typeface="Georgia" panose="02040502050405020303" pitchFamily="18" charset="0"/>
              </a:rPr>
              <a:t> </a:t>
            </a:r>
            <a:r>
              <a:rPr sz="3600" b="1" dirty="0" err="1">
                <a:solidFill>
                  <a:srgbClr val="242C44"/>
                </a:solidFill>
                <a:latin typeface="Georgia" panose="02040502050405020303" pitchFamily="18" charset="0"/>
              </a:rPr>
              <a:t>cho</a:t>
            </a:r>
            <a:r>
              <a:rPr sz="3600" b="1" dirty="0">
                <a:solidFill>
                  <a:srgbClr val="242C44"/>
                </a:solidFill>
                <a:latin typeface="Georgia" panose="02040502050405020303" pitchFamily="18" charset="0"/>
              </a:rPr>
              <a:t> video/audio</a:t>
            </a:r>
          </a:p>
        </p:txBody>
      </p:sp>
      <p:pic>
        <p:nvPicPr>
          <p:cNvPr id="8" name="Picture 7" descr="player-1.png"/>
          <p:cNvPicPr>
            <a:picLocks noChangeAspect="1"/>
          </p:cNvPicPr>
          <p:nvPr/>
        </p:nvPicPr>
        <p:blipFill>
          <a:blip r:embed="rId2"/>
          <a:stretch>
            <a:fillRect/>
          </a:stretch>
        </p:blipFill>
        <p:spPr>
          <a:xfrm>
            <a:off x="8741661" y="345948"/>
            <a:ext cx="2642616" cy="6166104"/>
          </a:xfrm>
          <a:prstGeom prst="roundRect">
            <a:avLst>
              <a:gd name="adj" fmla="val 8363"/>
            </a:avLst>
          </a:prstGeom>
        </p:spPr>
      </p:pic>
      <p:sp>
        <p:nvSpPr>
          <p:cNvPr id="2" name="TextBox 1"/>
          <p:cNvSpPr txBox="1"/>
          <p:nvPr/>
        </p:nvSpPr>
        <p:spPr>
          <a:xfrm>
            <a:off x="2160978" y="1567585"/>
            <a:ext cx="4623870" cy="1078180"/>
          </a:xfrm>
          <a:prstGeom prst="rect">
            <a:avLst/>
          </a:prstGeom>
          <a:noFill/>
        </p:spPr>
        <p:txBody>
          <a:bodyPr wrap="square" lIns="73152" tIns="73152" rIns="73152" bIns="73152" anchor="t">
            <a:spAutoFit/>
          </a:bodyPr>
          <a:lstStyle/>
          <a:p>
            <a:pPr algn="ctr">
              <a:lnSpc>
                <a:spcPct val="120000"/>
              </a:lnSpc>
            </a:pPr>
            <a:r>
              <a:rPr lang="en-US" sz="2400" b="1" dirty="0">
                <a:solidFill>
                  <a:schemeClr val="accent6">
                    <a:lumMod val="50000"/>
                  </a:schemeClr>
                </a:solidFill>
                <a:latin typeface="Aptos" panose="020B0004020202020204" pitchFamily="34" charset="0"/>
              </a:rPr>
              <a:t>HỌC VIỆN KỸ THUẬT MẬT MÃ </a:t>
            </a:r>
          </a:p>
          <a:p>
            <a:pPr algn="ctr">
              <a:lnSpc>
                <a:spcPct val="120000"/>
              </a:lnSpc>
            </a:pPr>
            <a:r>
              <a:rPr sz="2800" b="1" dirty="0">
                <a:solidFill>
                  <a:schemeClr val="accent6">
                    <a:lumMod val="50000"/>
                  </a:schemeClr>
                </a:solidFill>
                <a:latin typeface="Aptos" panose="020B0004020202020204" pitchFamily="34" charset="0"/>
              </a:rPr>
              <a:t>ĐỒ ÁN TỐT NGHIỆP</a:t>
            </a:r>
          </a:p>
        </p:txBody>
      </p:sp>
      <p:pic>
        <p:nvPicPr>
          <p:cNvPr id="13" name="Picture 12" descr="A logo of a school&#10;&#10;AI-generated content may be incorrect.">
            <a:extLst>
              <a:ext uri="{FF2B5EF4-FFF2-40B4-BE49-F238E27FC236}">
                <a16:creationId xmlns:a16="http://schemas.microsoft.com/office/drawing/2014/main" id="{362B21F0-0B96-685A-0566-44557794D4E1}"/>
              </a:ext>
            </a:extLst>
          </p:cNvPr>
          <p:cNvPicPr>
            <a:picLocks noChangeAspect="1"/>
          </p:cNvPicPr>
          <p:nvPr/>
        </p:nvPicPr>
        <p:blipFill>
          <a:blip r:embed="rId3"/>
          <a:stretch>
            <a:fillRect/>
          </a:stretch>
        </p:blipFill>
        <p:spPr>
          <a:xfrm>
            <a:off x="3820748" y="336804"/>
            <a:ext cx="1304329" cy="1381269"/>
          </a:xfrm>
          <a:prstGeom prst="rect">
            <a:avLst/>
          </a:prstGeom>
        </p:spPr>
      </p:pic>
      <p:sp>
        <p:nvSpPr>
          <p:cNvPr id="15" name="TextBox 14">
            <a:extLst>
              <a:ext uri="{FF2B5EF4-FFF2-40B4-BE49-F238E27FC236}">
                <a16:creationId xmlns:a16="http://schemas.microsoft.com/office/drawing/2014/main" id="{3A312F79-208C-FB72-D993-71444FBC8BE8}"/>
              </a:ext>
            </a:extLst>
          </p:cNvPr>
          <p:cNvSpPr txBox="1"/>
          <p:nvPr/>
        </p:nvSpPr>
        <p:spPr>
          <a:xfrm>
            <a:off x="2133972" y="4663440"/>
            <a:ext cx="4677884" cy="1785104"/>
          </a:xfrm>
          <a:prstGeom prst="rect">
            <a:avLst/>
          </a:prstGeom>
          <a:noFill/>
        </p:spPr>
        <p:txBody>
          <a:bodyPr wrap="none" rtlCol="0">
            <a:spAutoFit/>
          </a:bodyPr>
          <a:lstStyle/>
          <a:p>
            <a:pPr algn="ctr"/>
            <a:r>
              <a:rPr lang="en-US" sz="2200" b="1" dirty="0">
                <a:solidFill>
                  <a:srgbClr val="565F77"/>
                </a:solidFill>
                <a:latin typeface="Aptos" panose="020B0004020202020204" pitchFamily="34" charset="0"/>
              </a:rPr>
              <a:t>Sinh </a:t>
            </a:r>
            <a:r>
              <a:rPr lang="en-US" sz="2200" b="1" dirty="0" err="1">
                <a:solidFill>
                  <a:srgbClr val="565F77"/>
                </a:solidFill>
                <a:latin typeface="Aptos" panose="020B0004020202020204" pitchFamily="34" charset="0"/>
              </a:rPr>
              <a:t>viên</a:t>
            </a:r>
            <a:r>
              <a:rPr lang="en-US" sz="2200" b="1" dirty="0">
                <a:solidFill>
                  <a:srgbClr val="565F77"/>
                </a:solidFill>
                <a:latin typeface="Aptos" panose="020B0004020202020204" pitchFamily="34" charset="0"/>
              </a:rPr>
              <a:t> </a:t>
            </a:r>
            <a:r>
              <a:rPr lang="en-US" sz="2200" b="1" dirty="0" err="1">
                <a:solidFill>
                  <a:srgbClr val="565F77"/>
                </a:solidFill>
                <a:latin typeface="Aptos" panose="020B0004020202020204" pitchFamily="34" charset="0"/>
              </a:rPr>
              <a:t>thực</a:t>
            </a:r>
            <a:r>
              <a:rPr lang="en-US" sz="2200" b="1" dirty="0">
                <a:solidFill>
                  <a:srgbClr val="565F77"/>
                </a:solidFill>
                <a:latin typeface="Aptos" panose="020B0004020202020204" pitchFamily="34" charset="0"/>
              </a:rPr>
              <a:t> </a:t>
            </a:r>
            <a:r>
              <a:rPr lang="en-US" sz="2200" b="1" dirty="0" err="1">
                <a:solidFill>
                  <a:srgbClr val="565F77"/>
                </a:solidFill>
                <a:latin typeface="Aptos" panose="020B0004020202020204" pitchFamily="34" charset="0"/>
              </a:rPr>
              <a:t>hiện</a:t>
            </a:r>
            <a:r>
              <a:rPr lang="en-US" sz="2200" b="1" dirty="0">
                <a:solidFill>
                  <a:srgbClr val="565F77"/>
                </a:solidFill>
                <a:latin typeface="Aptos" panose="020B0004020202020204" pitchFamily="34" charset="0"/>
              </a:rPr>
              <a:t>: Đoàn Nam Sơn</a:t>
            </a:r>
          </a:p>
          <a:p>
            <a:pPr algn="ctr"/>
            <a:r>
              <a:rPr lang="en-US" sz="2200" b="1" dirty="0">
                <a:solidFill>
                  <a:srgbClr val="565F77"/>
                </a:solidFill>
                <a:latin typeface="Aptos" panose="020B0004020202020204" pitchFamily="34" charset="0"/>
              </a:rPr>
              <a:t>MSV: CT060134</a:t>
            </a:r>
          </a:p>
          <a:p>
            <a:pPr algn="ctr"/>
            <a:r>
              <a:rPr lang="en-US" sz="2200" b="1" dirty="0">
                <a:solidFill>
                  <a:srgbClr val="565F77"/>
                </a:solidFill>
                <a:latin typeface="Aptos" panose="020B0004020202020204" pitchFamily="34" charset="0"/>
              </a:rPr>
              <a:t>GVHD: TS. Mai </a:t>
            </a:r>
            <a:r>
              <a:rPr lang="en-US" sz="2200" b="1" dirty="0" err="1">
                <a:solidFill>
                  <a:srgbClr val="565F77"/>
                </a:solidFill>
                <a:latin typeface="Aptos" panose="020B0004020202020204" pitchFamily="34" charset="0"/>
              </a:rPr>
              <a:t>Đức</a:t>
            </a:r>
            <a:r>
              <a:rPr lang="en-US" sz="2200" b="1" dirty="0">
                <a:solidFill>
                  <a:srgbClr val="565F77"/>
                </a:solidFill>
                <a:latin typeface="Aptos" panose="020B0004020202020204" pitchFamily="34" charset="0"/>
              </a:rPr>
              <a:t> </a:t>
            </a:r>
            <a:r>
              <a:rPr lang="en-US" sz="2200" b="1" dirty="0" err="1">
                <a:solidFill>
                  <a:srgbClr val="565F77"/>
                </a:solidFill>
                <a:latin typeface="Aptos" panose="020B0004020202020204" pitchFamily="34" charset="0"/>
              </a:rPr>
              <a:t>Thọ</a:t>
            </a:r>
            <a:br>
              <a:rPr lang="en-US" sz="2200" b="1" dirty="0">
                <a:solidFill>
                  <a:srgbClr val="565F77"/>
                </a:solidFill>
                <a:latin typeface="Aptos" panose="020B0004020202020204" pitchFamily="34" charset="0"/>
              </a:rPr>
            </a:br>
            <a:br>
              <a:rPr lang="en-US" sz="2200" b="1" dirty="0">
                <a:solidFill>
                  <a:srgbClr val="565F77"/>
                </a:solidFill>
                <a:latin typeface="Aptos" panose="020B0004020202020204" pitchFamily="34" charset="0"/>
              </a:rPr>
            </a:br>
            <a:r>
              <a:rPr lang="en-US" sz="2200" b="1" dirty="0" err="1">
                <a:solidFill>
                  <a:srgbClr val="565F77"/>
                </a:solidFill>
                <a:latin typeface="Aptos" panose="020B0004020202020204" pitchFamily="34" charset="0"/>
              </a:rPr>
              <a:t>Hội</a:t>
            </a:r>
            <a:r>
              <a:rPr lang="en-US" sz="2200" b="1" dirty="0">
                <a:solidFill>
                  <a:srgbClr val="565F77"/>
                </a:solidFill>
                <a:latin typeface="Aptos" panose="020B0004020202020204" pitchFamily="34" charset="0"/>
              </a:rPr>
              <a:t> </a:t>
            </a:r>
            <a:r>
              <a:rPr lang="en-US" sz="2200" b="1" dirty="0" err="1">
                <a:solidFill>
                  <a:srgbClr val="565F77"/>
                </a:solidFill>
                <a:latin typeface="Aptos" panose="020B0004020202020204" pitchFamily="34" charset="0"/>
              </a:rPr>
              <a:t>đồng</a:t>
            </a:r>
            <a:r>
              <a:rPr lang="en-US" sz="2200" b="1" dirty="0">
                <a:solidFill>
                  <a:srgbClr val="565F77"/>
                </a:solidFill>
                <a:latin typeface="Aptos" panose="020B0004020202020204" pitchFamily="34" charset="0"/>
              </a:rPr>
              <a:t> 2</a:t>
            </a:r>
            <a:endParaRPr lang="vi-VN" sz="2200" b="1" dirty="0">
              <a:solidFill>
                <a:srgbClr val="565F77"/>
              </a:solidFill>
              <a:latin typeface="Aptos" panose="020B0004020202020204" pitchFamily="3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5F1EA"/>
        </a:solidFill>
        <a:effectLst/>
      </p:bgPr>
    </p:bg>
    <p:spTree>
      <p:nvGrpSpPr>
        <p:cNvPr id="1" name=""/>
        <p:cNvGrpSpPr/>
        <p:nvPr/>
      </p:nvGrpSpPr>
      <p:grpSpPr>
        <a:xfrm>
          <a:off x="0" y="0"/>
          <a:ext cx="0" cy="0"/>
          <a:chOff x="0" y="0"/>
          <a:chExt cx="0" cy="0"/>
        </a:xfrm>
      </p:grpSpPr>
      <p:sp>
        <p:nvSpPr>
          <p:cNvPr id="3" name="codex-agenda-title">
            <a:extLst>
              <a:ext uri="{FF2B5EF4-FFF2-40B4-BE49-F238E27FC236}">
                <a16:creationId xmlns:a16="http://schemas.microsoft.com/office/drawing/2014/main" id="{7552E986-13BC-57FE-ACF8-AC7592F52E8F}"/>
              </a:ext>
            </a:extLst>
          </p:cNvPr>
          <p:cNvSpPr txBox="1"/>
          <p:nvPr/>
        </p:nvSpPr>
        <p:spPr>
          <a:xfrm>
            <a:off x="2492639" y="1351110"/>
            <a:ext cx="7112000" cy="512961"/>
          </a:xfrm>
          <a:prstGeom prst="rect">
            <a:avLst/>
          </a:prstGeom>
          <a:noFill/>
        </p:spPr>
        <p:txBody>
          <a:bodyPr vert="horz" lIns="50800" tIns="25400" rIns="50800" bIns="25400" rtlCol="0">
            <a:spAutoFit/>
          </a:bodyPr>
          <a:lstStyle/>
          <a:p>
            <a:pPr algn="ctr"/>
            <a:r>
              <a:rPr lang="vi-VN" sz="3000" b="1" dirty="0">
                <a:solidFill>
                  <a:srgbClr val="242C44"/>
                </a:solidFill>
              </a:rPr>
              <a:t>Nội dung thuyết trình</a:t>
            </a:r>
          </a:p>
        </p:txBody>
      </p:sp>
      <p:grpSp>
        <p:nvGrpSpPr>
          <p:cNvPr id="26" name="Group 25">
            <a:extLst>
              <a:ext uri="{FF2B5EF4-FFF2-40B4-BE49-F238E27FC236}">
                <a16:creationId xmlns:a16="http://schemas.microsoft.com/office/drawing/2014/main" id="{C9DF68D2-AA93-C59E-F831-3EBC71D4C9B0}"/>
              </a:ext>
            </a:extLst>
          </p:cNvPr>
          <p:cNvGrpSpPr/>
          <p:nvPr/>
        </p:nvGrpSpPr>
        <p:grpSpPr>
          <a:xfrm>
            <a:off x="1903281" y="2176908"/>
            <a:ext cx="8385438" cy="4135776"/>
            <a:chOff x="1422399" y="2349244"/>
            <a:chExt cx="8385438" cy="4135776"/>
          </a:xfrm>
        </p:grpSpPr>
        <p:sp>
          <p:nvSpPr>
            <p:cNvPr id="5" name="codex-agenda-card-01">
              <a:extLst>
                <a:ext uri="{FF2B5EF4-FFF2-40B4-BE49-F238E27FC236}">
                  <a16:creationId xmlns:a16="http://schemas.microsoft.com/office/drawing/2014/main" id="{F3380D4E-17F1-C596-F00E-072AF550C207}"/>
                </a:ext>
              </a:extLst>
            </p:cNvPr>
            <p:cNvSpPr/>
            <p:nvPr/>
          </p:nvSpPr>
          <p:spPr>
            <a:xfrm>
              <a:off x="1422399" y="2349244"/>
              <a:ext cx="3940437" cy="1760621"/>
            </a:xfrm>
            <a:prstGeom prst="roundRect">
              <a:avLst>
                <a:gd name="adj" fmla="val 8000"/>
              </a:avLst>
            </a:prstGeom>
            <a:solidFill>
              <a:srgbClr val="FFFFFF"/>
            </a:solidFill>
            <a:ln w="13970">
              <a:solidFill>
                <a:srgbClr val="CED6E5"/>
              </a:solidFill>
            </a:ln>
            <a:effectLst>
              <a:outerShdw blurRad="76200" dist="37027" dir="3542175" rotWithShape="0">
                <a:srgbClr val="DCE0E8">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vi-VN"/>
            </a:p>
          </p:txBody>
        </p:sp>
        <p:sp>
          <p:nvSpPr>
            <p:cNvPr id="6" name="codex-agenda-num-01">
              <a:extLst>
                <a:ext uri="{FF2B5EF4-FFF2-40B4-BE49-F238E27FC236}">
                  <a16:creationId xmlns:a16="http://schemas.microsoft.com/office/drawing/2014/main" id="{AEE1FFB9-4D41-FB47-57B8-F60A9D79122A}"/>
                </a:ext>
              </a:extLst>
            </p:cNvPr>
            <p:cNvSpPr txBox="1"/>
            <p:nvPr/>
          </p:nvSpPr>
          <p:spPr>
            <a:xfrm>
              <a:off x="1676400" y="2577844"/>
              <a:ext cx="670714" cy="343684"/>
            </a:xfrm>
            <a:prstGeom prst="rect">
              <a:avLst/>
            </a:prstGeom>
            <a:noFill/>
          </p:spPr>
          <p:txBody>
            <a:bodyPr vert="horz" wrap="square" lIns="50800" tIns="25400" rIns="50800" bIns="25400" rtlCol="0">
              <a:spAutoFit/>
            </a:bodyPr>
            <a:lstStyle/>
            <a:p>
              <a:r>
                <a:rPr lang="vi-VN" sz="1900" b="1">
                  <a:solidFill>
                    <a:srgbClr val="C88639"/>
                  </a:solidFill>
                  <a:latin typeface="Aptos" panose="020B0004020202020204" pitchFamily="34" charset="0"/>
                </a:rPr>
                <a:t>01</a:t>
              </a:r>
            </a:p>
          </p:txBody>
        </p:sp>
        <p:sp>
          <p:nvSpPr>
            <p:cNvPr id="7" name="codex-agenda-title-01">
              <a:extLst>
                <a:ext uri="{FF2B5EF4-FFF2-40B4-BE49-F238E27FC236}">
                  <a16:creationId xmlns:a16="http://schemas.microsoft.com/office/drawing/2014/main" id="{DE511DED-D91D-3CD1-6469-4D2AE1F10036}"/>
                </a:ext>
              </a:extLst>
            </p:cNvPr>
            <p:cNvSpPr txBox="1"/>
            <p:nvPr/>
          </p:nvSpPr>
          <p:spPr>
            <a:xfrm>
              <a:off x="1676399" y="2933444"/>
              <a:ext cx="2794639" cy="389850"/>
            </a:xfrm>
            <a:prstGeom prst="rect">
              <a:avLst/>
            </a:prstGeom>
            <a:noFill/>
          </p:spPr>
          <p:txBody>
            <a:bodyPr vert="horz" wrap="square" lIns="50800" tIns="25400" rIns="50800" bIns="25400" rtlCol="0">
              <a:spAutoFit/>
            </a:bodyPr>
            <a:lstStyle/>
            <a:p>
              <a:r>
                <a:rPr lang="vi-VN" sz="2200" b="1" dirty="0">
                  <a:solidFill>
                    <a:srgbClr val="242C44"/>
                  </a:solidFill>
                  <a:latin typeface="Aptos" panose="020B0004020202020204" pitchFamily="34" charset="0"/>
                </a:rPr>
                <a:t>Bài toán</a:t>
              </a:r>
            </a:p>
          </p:txBody>
        </p:sp>
        <p:sp>
          <p:nvSpPr>
            <p:cNvPr id="8" name="codex-agenda-note-01">
              <a:extLst>
                <a:ext uri="{FF2B5EF4-FFF2-40B4-BE49-F238E27FC236}">
                  <a16:creationId xmlns:a16="http://schemas.microsoft.com/office/drawing/2014/main" id="{3230A4AC-0817-E944-E783-FCB235100524}"/>
                </a:ext>
              </a:extLst>
            </p:cNvPr>
            <p:cNvSpPr txBox="1"/>
            <p:nvPr/>
          </p:nvSpPr>
          <p:spPr>
            <a:xfrm>
              <a:off x="1676400" y="3365245"/>
              <a:ext cx="3297670" cy="605294"/>
            </a:xfrm>
            <a:prstGeom prst="rect">
              <a:avLst/>
            </a:prstGeom>
            <a:noFill/>
          </p:spPr>
          <p:txBody>
            <a:bodyPr vert="horz" wrap="square" lIns="50800" tIns="25400" rIns="50800" bIns="25400" rtlCol="0">
              <a:spAutoFit/>
            </a:bodyPr>
            <a:lstStyle/>
            <a:p>
              <a:r>
                <a:rPr lang="vi-VN" dirty="0">
                  <a:solidFill>
                    <a:srgbClr val="60677C"/>
                  </a:solidFill>
                  <a:latin typeface="Aptos" panose="020B0004020202020204" pitchFamily="34" charset="0"/>
                </a:rPr>
                <a:t>Nhu cầu thực tế và mục tiêu tự động hóa</a:t>
              </a:r>
            </a:p>
          </p:txBody>
        </p:sp>
        <p:sp>
          <p:nvSpPr>
            <p:cNvPr id="9" name="codex-agenda-card-02">
              <a:extLst>
                <a:ext uri="{FF2B5EF4-FFF2-40B4-BE49-F238E27FC236}">
                  <a16:creationId xmlns:a16="http://schemas.microsoft.com/office/drawing/2014/main" id="{26FE5FD4-998F-5F64-1258-5AFDCDD9CF11}"/>
                </a:ext>
              </a:extLst>
            </p:cNvPr>
            <p:cNvSpPr/>
            <p:nvPr/>
          </p:nvSpPr>
          <p:spPr>
            <a:xfrm>
              <a:off x="5867400" y="2358972"/>
              <a:ext cx="3940437" cy="1760621"/>
            </a:xfrm>
            <a:prstGeom prst="roundRect">
              <a:avLst>
                <a:gd name="adj" fmla="val 8000"/>
              </a:avLst>
            </a:prstGeom>
            <a:solidFill>
              <a:srgbClr val="FFFFFF"/>
            </a:solidFill>
            <a:ln w="13970">
              <a:solidFill>
                <a:srgbClr val="CED6E5"/>
              </a:solidFill>
            </a:ln>
            <a:effectLst>
              <a:outerShdw blurRad="76200" dist="37027" dir="3542175" rotWithShape="0">
                <a:srgbClr val="DCE0E8">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vi-VN"/>
            </a:p>
          </p:txBody>
        </p:sp>
        <p:sp>
          <p:nvSpPr>
            <p:cNvPr id="10" name="codex-agenda-num-02">
              <a:extLst>
                <a:ext uri="{FF2B5EF4-FFF2-40B4-BE49-F238E27FC236}">
                  <a16:creationId xmlns:a16="http://schemas.microsoft.com/office/drawing/2014/main" id="{E519631D-D3AA-01CD-82C6-D926AA8003AF}"/>
                </a:ext>
              </a:extLst>
            </p:cNvPr>
            <p:cNvSpPr txBox="1"/>
            <p:nvPr/>
          </p:nvSpPr>
          <p:spPr>
            <a:xfrm>
              <a:off x="6096001" y="2452007"/>
              <a:ext cx="670714" cy="343684"/>
            </a:xfrm>
            <a:prstGeom prst="rect">
              <a:avLst/>
            </a:prstGeom>
            <a:noFill/>
          </p:spPr>
          <p:txBody>
            <a:bodyPr vert="horz" wrap="square" lIns="50800" tIns="25400" rIns="50800" bIns="25400" rtlCol="0">
              <a:spAutoFit/>
            </a:bodyPr>
            <a:lstStyle/>
            <a:p>
              <a:r>
                <a:rPr lang="vi-VN" sz="1900" b="1">
                  <a:solidFill>
                    <a:srgbClr val="C88639"/>
                  </a:solidFill>
                  <a:latin typeface="Aptos" panose="020B0004020202020204" pitchFamily="34" charset="0"/>
                </a:rPr>
                <a:t>02</a:t>
              </a:r>
            </a:p>
          </p:txBody>
        </p:sp>
        <p:sp>
          <p:nvSpPr>
            <p:cNvPr id="11" name="codex-agenda-title-02">
              <a:extLst>
                <a:ext uri="{FF2B5EF4-FFF2-40B4-BE49-F238E27FC236}">
                  <a16:creationId xmlns:a16="http://schemas.microsoft.com/office/drawing/2014/main" id="{48B907D8-8DF2-925B-4F98-706A0FBFF2EA}"/>
                </a:ext>
              </a:extLst>
            </p:cNvPr>
            <p:cNvSpPr txBox="1"/>
            <p:nvPr/>
          </p:nvSpPr>
          <p:spPr>
            <a:xfrm>
              <a:off x="6096000" y="2807607"/>
              <a:ext cx="2794639" cy="389850"/>
            </a:xfrm>
            <a:prstGeom prst="rect">
              <a:avLst/>
            </a:prstGeom>
            <a:noFill/>
          </p:spPr>
          <p:txBody>
            <a:bodyPr vert="horz" wrap="square" lIns="50800" tIns="25400" rIns="50800" bIns="25400" rtlCol="0">
              <a:spAutoFit/>
            </a:bodyPr>
            <a:lstStyle/>
            <a:p>
              <a:r>
                <a:rPr lang="vi-VN" sz="2200" b="1">
                  <a:solidFill>
                    <a:srgbClr val="242C44"/>
                  </a:solidFill>
                  <a:latin typeface="Aptos" panose="020B0004020202020204" pitchFamily="34" charset="0"/>
                </a:rPr>
                <a:t>Hệ thống</a:t>
              </a:r>
            </a:p>
          </p:txBody>
        </p:sp>
        <p:sp>
          <p:nvSpPr>
            <p:cNvPr id="12" name="codex-agenda-note-02">
              <a:extLst>
                <a:ext uri="{FF2B5EF4-FFF2-40B4-BE49-F238E27FC236}">
                  <a16:creationId xmlns:a16="http://schemas.microsoft.com/office/drawing/2014/main" id="{E800BB12-2344-47D2-E02C-152AC01C5E78}"/>
                </a:ext>
              </a:extLst>
            </p:cNvPr>
            <p:cNvSpPr txBox="1"/>
            <p:nvPr/>
          </p:nvSpPr>
          <p:spPr>
            <a:xfrm>
              <a:off x="6096001" y="3239408"/>
              <a:ext cx="3297670" cy="328295"/>
            </a:xfrm>
            <a:prstGeom prst="rect">
              <a:avLst/>
            </a:prstGeom>
            <a:noFill/>
          </p:spPr>
          <p:txBody>
            <a:bodyPr vert="horz" wrap="square" lIns="50800" tIns="25400" rIns="50800" bIns="25400" rtlCol="0">
              <a:spAutoFit/>
            </a:bodyPr>
            <a:lstStyle/>
            <a:p>
              <a:r>
                <a:rPr lang="vi-VN" dirty="0">
                  <a:solidFill>
                    <a:srgbClr val="60677C"/>
                  </a:solidFill>
                  <a:latin typeface="Aptos" panose="020B0004020202020204" pitchFamily="34" charset="0"/>
                </a:rPr>
                <a:t>Kiến trúc, pipeline và artifact</a:t>
              </a:r>
            </a:p>
          </p:txBody>
        </p:sp>
        <p:sp>
          <p:nvSpPr>
            <p:cNvPr id="13" name="codex-agenda-card-03">
              <a:extLst>
                <a:ext uri="{FF2B5EF4-FFF2-40B4-BE49-F238E27FC236}">
                  <a16:creationId xmlns:a16="http://schemas.microsoft.com/office/drawing/2014/main" id="{E06AF501-5D2B-72C5-5D1A-8E3C1FFBCE59}"/>
                </a:ext>
              </a:extLst>
            </p:cNvPr>
            <p:cNvSpPr/>
            <p:nvPr/>
          </p:nvSpPr>
          <p:spPr>
            <a:xfrm>
              <a:off x="1422399" y="4724399"/>
              <a:ext cx="3940437" cy="1760621"/>
            </a:xfrm>
            <a:prstGeom prst="roundRect">
              <a:avLst>
                <a:gd name="adj" fmla="val 8000"/>
              </a:avLst>
            </a:prstGeom>
            <a:solidFill>
              <a:srgbClr val="FFFFFF"/>
            </a:solidFill>
            <a:ln w="13970">
              <a:solidFill>
                <a:srgbClr val="CED6E5"/>
              </a:solidFill>
            </a:ln>
            <a:effectLst>
              <a:outerShdw blurRad="76200" dist="37027" dir="3542175" rotWithShape="0">
                <a:srgbClr val="DCE0E8">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vi-VN"/>
            </a:p>
          </p:txBody>
        </p:sp>
        <p:sp>
          <p:nvSpPr>
            <p:cNvPr id="14" name="codex-agenda-num-03">
              <a:extLst>
                <a:ext uri="{FF2B5EF4-FFF2-40B4-BE49-F238E27FC236}">
                  <a16:creationId xmlns:a16="http://schemas.microsoft.com/office/drawing/2014/main" id="{97BCE8ED-5CE8-A87E-91B2-D259795D69ED}"/>
                </a:ext>
              </a:extLst>
            </p:cNvPr>
            <p:cNvSpPr txBox="1"/>
            <p:nvPr/>
          </p:nvSpPr>
          <p:spPr>
            <a:xfrm>
              <a:off x="1676400" y="4952999"/>
              <a:ext cx="670714" cy="343684"/>
            </a:xfrm>
            <a:prstGeom prst="rect">
              <a:avLst/>
            </a:prstGeom>
            <a:noFill/>
          </p:spPr>
          <p:txBody>
            <a:bodyPr vert="horz" wrap="square" lIns="50800" tIns="25400" rIns="50800" bIns="25400" rtlCol="0">
              <a:spAutoFit/>
            </a:bodyPr>
            <a:lstStyle/>
            <a:p>
              <a:r>
                <a:rPr lang="vi-VN" sz="1900" b="1">
                  <a:solidFill>
                    <a:srgbClr val="C88639"/>
                  </a:solidFill>
                  <a:latin typeface="Aptos" panose="020B0004020202020204" pitchFamily="34" charset="0"/>
                </a:rPr>
                <a:t>03</a:t>
              </a:r>
            </a:p>
          </p:txBody>
        </p:sp>
        <p:sp>
          <p:nvSpPr>
            <p:cNvPr id="15" name="codex-agenda-title-03">
              <a:extLst>
                <a:ext uri="{FF2B5EF4-FFF2-40B4-BE49-F238E27FC236}">
                  <a16:creationId xmlns:a16="http://schemas.microsoft.com/office/drawing/2014/main" id="{61CA1AD1-857F-CAAA-8B5A-8DB56D137EDE}"/>
                </a:ext>
              </a:extLst>
            </p:cNvPr>
            <p:cNvSpPr txBox="1"/>
            <p:nvPr/>
          </p:nvSpPr>
          <p:spPr>
            <a:xfrm>
              <a:off x="1676399" y="5308599"/>
              <a:ext cx="2794639" cy="389850"/>
            </a:xfrm>
            <a:prstGeom prst="rect">
              <a:avLst/>
            </a:prstGeom>
            <a:noFill/>
          </p:spPr>
          <p:txBody>
            <a:bodyPr vert="horz" wrap="square" lIns="50800" tIns="25400" rIns="50800" bIns="25400" rtlCol="0">
              <a:spAutoFit/>
            </a:bodyPr>
            <a:lstStyle/>
            <a:p>
              <a:r>
                <a:rPr lang="vi-VN" sz="2200" b="1">
                  <a:solidFill>
                    <a:srgbClr val="242C44"/>
                  </a:solidFill>
                  <a:latin typeface="Aptos" panose="020B0004020202020204" pitchFamily="34" charset="0"/>
                </a:rPr>
                <a:t>Thực nghiệm</a:t>
              </a:r>
            </a:p>
          </p:txBody>
        </p:sp>
        <p:sp>
          <p:nvSpPr>
            <p:cNvPr id="16" name="codex-agenda-note-03">
              <a:extLst>
                <a:ext uri="{FF2B5EF4-FFF2-40B4-BE49-F238E27FC236}">
                  <a16:creationId xmlns:a16="http://schemas.microsoft.com/office/drawing/2014/main" id="{A48787D5-D852-9B86-C244-39993179F544}"/>
                </a:ext>
              </a:extLst>
            </p:cNvPr>
            <p:cNvSpPr txBox="1"/>
            <p:nvPr/>
          </p:nvSpPr>
          <p:spPr>
            <a:xfrm>
              <a:off x="1676400" y="5740400"/>
              <a:ext cx="3297670" cy="328295"/>
            </a:xfrm>
            <a:prstGeom prst="rect">
              <a:avLst/>
            </a:prstGeom>
            <a:noFill/>
          </p:spPr>
          <p:txBody>
            <a:bodyPr vert="horz" wrap="square" lIns="50800" tIns="25400" rIns="50800" bIns="25400" rtlCol="0">
              <a:spAutoFit/>
            </a:bodyPr>
            <a:lstStyle/>
            <a:p>
              <a:r>
                <a:rPr lang="vi-VN">
                  <a:solidFill>
                    <a:srgbClr val="60677C"/>
                  </a:solidFill>
                  <a:latin typeface="Aptos" panose="020B0004020202020204" pitchFamily="34" charset="0"/>
                </a:rPr>
                <a:t>Benchmark và các kết quả chính</a:t>
              </a:r>
            </a:p>
          </p:txBody>
        </p:sp>
        <p:sp>
          <p:nvSpPr>
            <p:cNvPr id="17" name="codex-agenda-card-04">
              <a:extLst>
                <a:ext uri="{FF2B5EF4-FFF2-40B4-BE49-F238E27FC236}">
                  <a16:creationId xmlns:a16="http://schemas.microsoft.com/office/drawing/2014/main" id="{4D89A0F3-EA55-58C9-B966-1D4D11EC1C64}"/>
                </a:ext>
              </a:extLst>
            </p:cNvPr>
            <p:cNvSpPr/>
            <p:nvPr/>
          </p:nvSpPr>
          <p:spPr>
            <a:xfrm>
              <a:off x="5867400" y="4724399"/>
              <a:ext cx="3940437" cy="1760621"/>
            </a:xfrm>
            <a:prstGeom prst="roundRect">
              <a:avLst>
                <a:gd name="adj" fmla="val 8000"/>
              </a:avLst>
            </a:prstGeom>
            <a:solidFill>
              <a:srgbClr val="FFFFFF"/>
            </a:solidFill>
            <a:ln w="13970">
              <a:solidFill>
                <a:srgbClr val="CED6E5"/>
              </a:solidFill>
            </a:ln>
            <a:effectLst>
              <a:outerShdw blurRad="76200" dist="37027" dir="3542175" rotWithShape="0">
                <a:srgbClr val="DCE0E8">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vi-VN"/>
            </a:p>
          </p:txBody>
        </p:sp>
        <p:sp>
          <p:nvSpPr>
            <p:cNvPr id="18" name="codex-agenda-num-04">
              <a:extLst>
                <a:ext uri="{FF2B5EF4-FFF2-40B4-BE49-F238E27FC236}">
                  <a16:creationId xmlns:a16="http://schemas.microsoft.com/office/drawing/2014/main" id="{A29ED1E6-0F83-E3AB-F7C4-2A68CBC5CA76}"/>
                </a:ext>
              </a:extLst>
            </p:cNvPr>
            <p:cNvSpPr txBox="1"/>
            <p:nvPr/>
          </p:nvSpPr>
          <p:spPr>
            <a:xfrm>
              <a:off x="6096001" y="4856746"/>
              <a:ext cx="670714" cy="343684"/>
            </a:xfrm>
            <a:prstGeom prst="rect">
              <a:avLst/>
            </a:prstGeom>
            <a:noFill/>
          </p:spPr>
          <p:txBody>
            <a:bodyPr vert="horz" wrap="square" lIns="50800" tIns="25400" rIns="50800" bIns="25400" rtlCol="0">
              <a:spAutoFit/>
            </a:bodyPr>
            <a:lstStyle/>
            <a:p>
              <a:r>
                <a:rPr lang="vi-VN" sz="1900" b="1">
                  <a:solidFill>
                    <a:srgbClr val="C88639"/>
                  </a:solidFill>
                  <a:latin typeface="Aptos" panose="020B0004020202020204" pitchFamily="34" charset="0"/>
                </a:rPr>
                <a:t>04</a:t>
              </a:r>
            </a:p>
          </p:txBody>
        </p:sp>
        <p:sp>
          <p:nvSpPr>
            <p:cNvPr id="19" name="codex-agenda-title-04">
              <a:extLst>
                <a:ext uri="{FF2B5EF4-FFF2-40B4-BE49-F238E27FC236}">
                  <a16:creationId xmlns:a16="http://schemas.microsoft.com/office/drawing/2014/main" id="{6490338F-BA1A-6675-58C0-534468D94F03}"/>
                </a:ext>
              </a:extLst>
            </p:cNvPr>
            <p:cNvSpPr txBox="1"/>
            <p:nvPr/>
          </p:nvSpPr>
          <p:spPr>
            <a:xfrm>
              <a:off x="6096000" y="5212346"/>
              <a:ext cx="2794639" cy="389850"/>
            </a:xfrm>
            <a:prstGeom prst="rect">
              <a:avLst/>
            </a:prstGeom>
            <a:noFill/>
          </p:spPr>
          <p:txBody>
            <a:bodyPr vert="horz" wrap="square" lIns="50800" tIns="25400" rIns="50800" bIns="25400" rtlCol="0">
              <a:spAutoFit/>
            </a:bodyPr>
            <a:lstStyle/>
            <a:p>
              <a:r>
                <a:rPr lang="vi-VN" sz="2200" b="1">
                  <a:solidFill>
                    <a:srgbClr val="242C44"/>
                  </a:solidFill>
                  <a:latin typeface="Aptos" panose="020B0004020202020204" pitchFamily="34" charset="0"/>
                </a:rPr>
                <a:t>Đánh giá</a:t>
              </a:r>
            </a:p>
          </p:txBody>
        </p:sp>
        <p:sp>
          <p:nvSpPr>
            <p:cNvPr id="20" name="codex-agenda-note-04">
              <a:extLst>
                <a:ext uri="{FF2B5EF4-FFF2-40B4-BE49-F238E27FC236}">
                  <a16:creationId xmlns:a16="http://schemas.microsoft.com/office/drawing/2014/main" id="{290ECCF1-FAEC-A955-81CF-ECDAA241977D}"/>
                </a:ext>
              </a:extLst>
            </p:cNvPr>
            <p:cNvSpPr txBox="1"/>
            <p:nvPr/>
          </p:nvSpPr>
          <p:spPr>
            <a:xfrm>
              <a:off x="6096001" y="5644147"/>
              <a:ext cx="3297670" cy="605294"/>
            </a:xfrm>
            <a:prstGeom prst="rect">
              <a:avLst/>
            </a:prstGeom>
            <a:noFill/>
          </p:spPr>
          <p:txBody>
            <a:bodyPr vert="horz" wrap="square" lIns="50800" tIns="25400" rIns="50800" bIns="25400" rtlCol="0">
              <a:spAutoFit/>
            </a:bodyPr>
            <a:lstStyle/>
            <a:p>
              <a:r>
                <a:rPr lang="vi-VN">
                  <a:solidFill>
                    <a:srgbClr val="60677C"/>
                  </a:solidFill>
                  <a:latin typeface="Aptos" panose="020B0004020202020204" pitchFamily="34" charset="0"/>
                </a:rPr>
                <a:t>Kết luận, hạn chế và hướng phát triển</a:t>
              </a:r>
            </a:p>
          </p:txBody>
        </p:sp>
      </p:grpSp>
      <p:pic>
        <p:nvPicPr>
          <p:cNvPr id="27" name="Picture 26" descr="A logo of a school&#10;&#10;AI-generated content may be incorrect.">
            <a:extLst>
              <a:ext uri="{FF2B5EF4-FFF2-40B4-BE49-F238E27FC236}">
                <a16:creationId xmlns:a16="http://schemas.microsoft.com/office/drawing/2014/main" id="{ACEBED79-0C64-3CE2-865D-7659B8A01DCD}"/>
              </a:ext>
            </a:extLst>
          </p:cNvPr>
          <p:cNvPicPr>
            <a:picLocks noChangeAspect="1"/>
          </p:cNvPicPr>
          <p:nvPr/>
        </p:nvPicPr>
        <p:blipFill>
          <a:blip r:embed="rId2"/>
          <a:stretch>
            <a:fillRect/>
          </a:stretch>
        </p:blipFill>
        <p:spPr>
          <a:xfrm>
            <a:off x="5396474" y="84029"/>
            <a:ext cx="1304329" cy="1381269"/>
          </a:xfrm>
          <a:prstGeom prst="rect">
            <a:avLst/>
          </a:prstGeom>
        </p:spPr>
      </p:pic>
    </p:spTree>
    <p:extLst>
      <p:ext uri="{BB962C8B-B14F-4D97-AF65-F5344CB8AC3E}">
        <p14:creationId xmlns:p14="http://schemas.microsoft.com/office/powerpoint/2010/main" val="3478869240"/>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5F1EA"/>
        </a:solidFill>
        <a:effectLst/>
      </p:bgPr>
    </p:bg>
    <p:spTree>
      <p:nvGrpSpPr>
        <p:cNvPr id="1" name=""/>
        <p:cNvGrpSpPr/>
        <p:nvPr/>
      </p:nvGrpSpPr>
      <p:grpSpPr>
        <a:xfrm>
          <a:off x="0" y="0"/>
          <a:ext cx="0" cy="0"/>
          <a:chOff x="0" y="0"/>
          <a:chExt cx="0" cy="0"/>
        </a:xfrm>
      </p:grpSpPr>
      <p:sp>
        <p:nvSpPr>
          <p:cNvPr id="2" name="TextBox 1"/>
          <p:cNvSpPr txBox="1"/>
          <p:nvPr/>
        </p:nvSpPr>
        <p:spPr>
          <a:xfrm>
            <a:off x="1358305" y="228600"/>
            <a:ext cx="8845642" cy="634982"/>
          </a:xfrm>
          <a:prstGeom prst="rect">
            <a:avLst/>
          </a:prstGeom>
          <a:noFill/>
        </p:spPr>
        <p:txBody>
          <a:bodyPr wrap="square" lIns="73152" tIns="73152" rIns="73152" bIns="73152" anchor="t">
            <a:spAutoFit/>
          </a:bodyPr>
          <a:lstStyle/>
          <a:p>
            <a:pPr algn="ctr">
              <a:lnSpc>
                <a:spcPct val="120000"/>
              </a:lnSpc>
            </a:pPr>
            <a:r>
              <a:rPr sz="2800" b="1" dirty="0">
                <a:solidFill>
                  <a:srgbClr val="C88639"/>
                </a:solidFill>
                <a:latin typeface="Aptos" panose="020B0004020202020204" pitchFamily="34" charset="0"/>
              </a:rPr>
              <a:t>BÀI TOÁN</a:t>
            </a:r>
            <a:r>
              <a:rPr lang="en-US" sz="2800" b="1" dirty="0">
                <a:solidFill>
                  <a:srgbClr val="C88639"/>
                </a:solidFill>
                <a:latin typeface="Aptos" panose="020B0004020202020204" pitchFamily="34" charset="0"/>
              </a:rPr>
              <a:t>:</a:t>
            </a:r>
            <a:r>
              <a:rPr lang="en-US" sz="2800" b="1" dirty="0">
                <a:solidFill>
                  <a:srgbClr val="242C44"/>
                </a:solidFill>
                <a:latin typeface="Aptos" panose="020B0004020202020204" pitchFamily="34" charset="0"/>
              </a:rPr>
              <a:t> </a:t>
            </a:r>
            <a:r>
              <a:rPr lang="vi-VN" sz="2800" b="1" dirty="0">
                <a:solidFill>
                  <a:srgbClr val="242C44"/>
                </a:solidFill>
                <a:latin typeface="Aptos" panose="020B0004020202020204" pitchFamily="34" charset="0"/>
                <a:cs typeface="Arial" panose="020B0604020202020204" pitchFamily="34" charset="0"/>
              </a:rPr>
              <a:t>Từ nhu cầu thực tế đến mục tiêu hệ thống</a:t>
            </a:r>
          </a:p>
        </p:txBody>
      </p:sp>
      <p:sp>
        <p:nvSpPr>
          <p:cNvPr id="4" name="Rounded Rectangle 3"/>
          <p:cNvSpPr/>
          <p:nvPr/>
        </p:nvSpPr>
        <p:spPr>
          <a:xfrm>
            <a:off x="1094931" y="1065045"/>
            <a:ext cx="4359099" cy="1831757"/>
          </a:xfrm>
          <a:prstGeom prst="roundRect">
            <a:avLst>
              <a:gd name="adj" fmla="val 8000"/>
            </a:avLst>
          </a:prstGeom>
          <a:solidFill>
            <a:srgbClr val="FFFFFF"/>
          </a:solidFill>
          <a:ln w="15875">
            <a:solidFill>
              <a:srgbClr val="C8D1E5"/>
            </a:solidFill>
          </a:ln>
        </p:spPr>
        <p:style>
          <a:lnRef idx="1">
            <a:schemeClr val="accent1"/>
          </a:lnRef>
          <a:fillRef idx="3">
            <a:schemeClr val="accent1"/>
          </a:fillRef>
          <a:effectRef idx="2">
            <a:schemeClr val="accent1"/>
          </a:effectRef>
          <a:fontRef idx="minor">
            <a:schemeClr val="lt1"/>
          </a:fontRef>
        </p:style>
        <p:txBody>
          <a:bodyPr wrap="square" lIns="164592" tIns="146304" rIns="164592" bIns="128016" rtlCol="0" anchor="ctr"/>
          <a:lstStyle/>
          <a:p>
            <a:pPr algn="ctr">
              <a:lnSpc>
                <a:spcPct val="125000"/>
              </a:lnSpc>
            </a:pPr>
            <a:r>
              <a:rPr sz="1900" b="1" dirty="0">
                <a:solidFill>
                  <a:srgbClr val="242C44"/>
                </a:solidFill>
                <a:latin typeface="Aptos" panose="020B0004020202020204" pitchFamily="34" charset="0"/>
              </a:rPr>
              <a:t>Pipeline </a:t>
            </a:r>
            <a:r>
              <a:rPr sz="1900" b="1" dirty="0" err="1">
                <a:solidFill>
                  <a:srgbClr val="242C44"/>
                </a:solidFill>
                <a:latin typeface="Aptos" panose="020B0004020202020204" pitchFamily="34" charset="0"/>
              </a:rPr>
              <a:t>thủ</a:t>
            </a:r>
            <a:r>
              <a:rPr sz="1900" b="1" dirty="0">
                <a:solidFill>
                  <a:srgbClr val="242C44"/>
                </a:solidFill>
                <a:latin typeface="Aptos" panose="020B0004020202020204" pitchFamily="34" charset="0"/>
              </a:rPr>
              <a:t> </a:t>
            </a:r>
            <a:r>
              <a:rPr sz="1900" b="1" dirty="0" err="1">
                <a:solidFill>
                  <a:srgbClr val="242C44"/>
                </a:solidFill>
                <a:latin typeface="Aptos" panose="020B0004020202020204" pitchFamily="34" charset="0"/>
              </a:rPr>
              <a:t>công</a:t>
            </a:r>
            <a:r>
              <a:rPr sz="1900" b="1" dirty="0">
                <a:solidFill>
                  <a:srgbClr val="242C44"/>
                </a:solidFill>
                <a:latin typeface="Aptos" panose="020B0004020202020204" pitchFamily="34" charset="0"/>
              </a:rPr>
              <a:t> </a:t>
            </a:r>
            <a:r>
              <a:rPr sz="1900" b="1" dirty="0" err="1">
                <a:solidFill>
                  <a:srgbClr val="242C44"/>
                </a:solidFill>
                <a:latin typeface="Aptos" panose="020B0004020202020204" pitchFamily="34" charset="0"/>
              </a:rPr>
              <a:t>tốn</a:t>
            </a:r>
            <a:r>
              <a:rPr sz="1900" b="1" dirty="0">
                <a:solidFill>
                  <a:srgbClr val="242C44"/>
                </a:solidFill>
                <a:latin typeface="Aptos" panose="020B0004020202020204" pitchFamily="34" charset="0"/>
              </a:rPr>
              <a:t> </a:t>
            </a:r>
            <a:r>
              <a:rPr sz="1900" b="1" dirty="0" err="1">
                <a:solidFill>
                  <a:srgbClr val="242C44"/>
                </a:solidFill>
                <a:latin typeface="Aptos" panose="020B0004020202020204" pitchFamily="34" charset="0"/>
              </a:rPr>
              <a:t>thời</a:t>
            </a:r>
            <a:r>
              <a:rPr sz="1900" b="1" dirty="0">
                <a:solidFill>
                  <a:srgbClr val="242C44"/>
                </a:solidFill>
                <a:latin typeface="Aptos" panose="020B0004020202020204" pitchFamily="34" charset="0"/>
              </a:rPr>
              <a:t> </a:t>
            </a:r>
            <a:r>
              <a:rPr sz="1900" b="1" dirty="0" err="1">
                <a:solidFill>
                  <a:srgbClr val="242C44"/>
                </a:solidFill>
                <a:latin typeface="Aptos" panose="020B0004020202020204" pitchFamily="34" charset="0"/>
              </a:rPr>
              <a:t>gian</a:t>
            </a:r>
            <a:endParaRPr sz="1900" b="1" dirty="0">
              <a:solidFill>
                <a:srgbClr val="242C44"/>
              </a:solidFill>
              <a:latin typeface="Aptos" panose="020B0004020202020204" pitchFamily="34" charset="0"/>
            </a:endParaRPr>
          </a:p>
          <a:p>
            <a:pPr algn="ctr">
              <a:lnSpc>
                <a:spcPct val="125000"/>
              </a:lnSpc>
            </a:pPr>
            <a:r>
              <a:rPr sz="2000" b="0" dirty="0">
                <a:solidFill>
                  <a:srgbClr val="565F77"/>
                </a:solidFill>
                <a:latin typeface="Aptos" panose="020B0004020202020204" pitchFamily="34" charset="0"/>
              </a:rPr>
              <a:t>Transcript, </a:t>
            </a:r>
            <a:r>
              <a:rPr sz="2000" b="0" dirty="0" err="1">
                <a:solidFill>
                  <a:srgbClr val="565F77"/>
                </a:solidFill>
                <a:latin typeface="Aptos" panose="020B0004020202020204" pitchFamily="34" charset="0"/>
              </a:rPr>
              <a:t>dịch</a:t>
            </a:r>
            <a:r>
              <a:rPr sz="2000" b="0" dirty="0">
                <a:solidFill>
                  <a:srgbClr val="565F77"/>
                </a:solidFill>
                <a:latin typeface="Aptos" panose="020B0004020202020204" pitchFamily="34" charset="0"/>
              </a:rPr>
              <a:t>, </a:t>
            </a:r>
            <a:r>
              <a:rPr sz="2000" b="0" dirty="0" err="1">
                <a:solidFill>
                  <a:srgbClr val="565F77"/>
                </a:solidFill>
                <a:latin typeface="Aptos" panose="020B0004020202020204" pitchFamily="34" charset="0"/>
              </a:rPr>
              <a:t>căn</a:t>
            </a:r>
            <a:r>
              <a:rPr sz="2000" b="0" dirty="0">
                <a:solidFill>
                  <a:srgbClr val="565F77"/>
                </a:solidFill>
                <a:latin typeface="Aptos" panose="020B0004020202020204" pitchFamily="34" charset="0"/>
              </a:rPr>
              <a:t> </a:t>
            </a:r>
            <a:r>
              <a:rPr sz="2000" b="0" dirty="0" err="1">
                <a:solidFill>
                  <a:srgbClr val="565F77"/>
                </a:solidFill>
                <a:latin typeface="Aptos" panose="020B0004020202020204" pitchFamily="34" charset="0"/>
              </a:rPr>
              <a:t>thời</a:t>
            </a:r>
            <a:r>
              <a:rPr sz="2000" b="0" dirty="0">
                <a:solidFill>
                  <a:srgbClr val="565F77"/>
                </a:solidFill>
                <a:latin typeface="Aptos" panose="020B0004020202020204" pitchFamily="34" charset="0"/>
              </a:rPr>
              <a:t> </a:t>
            </a:r>
            <a:r>
              <a:rPr sz="2000" b="0" dirty="0" err="1">
                <a:solidFill>
                  <a:srgbClr val="565F77"/>
                </a:solidFill>
                <a:latin typeface="Aptos" panose="020B0004020202020204" pitchFamily="34" charset="0"/>
              </a:rPr>
              <a:t>gian</a:t>
            </a:r>
            <a:r>
              <a:rPr sz="2000" b="0" dirty="0">
                <a:solidFill>
                  <a:srgbClr val="565F77"/>
                </a:solidFill>
                <a:latin typeface="Aptos" panose="020B0004020202020204" pitchFamily="34" charset="0"/>
              </a:rPr>
              <a:t> </a:t>
            </a:r>
            <a:r>
              <a:rPr sz="2000" b="0" dirty="0" err="1">
                <a:solidFill>
                  <a:srgbClr val="565F77"/>
                </a:solidFill>
                <a:latin typeface="Aptos" panose="020B0004020202020204" pitchFamily="34" charset="0"/>
              </a:rPr>
              <a:t>và</a:t>
            </a:r>
            <a:r>
              <a:rPr sz="2000" b="0" dirty="0">
                <a:solidFill>
                  <a:srgbClr val="565F77"/>
                </a:solidFill>
                <a:latin typeface="Aptos" panose="020B0004020202020204" pitchFamily="34" charset="0"/>
              </a:rPr>
              <a:t> </a:t>
            </a:r>
            <a:r>
              <a:rPr sz="2000" b="0" dirty="0" err="1">
                <a:solidFill>
                  <a:srgbClr val="565F77"/>
                </a:solidFill>
                <a:latin typeface="Aptos" panose="020B0004020202020204" pitchFamily="34" charset="0"/>
              </a:rPr>
              <a:t>đóng</a:t>
            </a:r>
            <a:r>
              <a:rPr sz="2000" b="0" dirty="0">
                <a:solidFill>
                  <a:srgbClr val="565F77"/>
                </a:solidFill>
                <a:latin typeface="Aptos" panose="020B0004020202020204" pitchFamily="34" charset="0"/>
              </a:rPr>
              <a:t> </a:t>
            </a:r>
            <a:r>
              <a:rPr sz="2000" b="0" dirty="0" err="1">
                <a:solidFill>
                  <a:srgbClr val="565F77"/>
                </a:solidFill>
                <a:latin typeface="Aptos" panose="020B0004020202020204" pitchFamily="34" charset="0"/>
              </a:rPr>
              <a:t>gói</a:t>
            </a:r>
            <a:r>
              <a:rPr sz="2000" b="0" dirty="0">
                <a:solidFill>
                  <a:srgbClr val="565F77"/>
                </a:solidFill>
                <a:latin typeface="Aptos" panose="020B0004020202020204" pitchFamily="34" charset="0"/>
              </a:rPr>
              <a:t> subtitle </a:t>
            </a:r>
            <a:r>
              <a:rPr sz="2000" b="0" dirty="0" err="1">
                <a:solidFill>
                  <a:srgbClr val="565F77"/>
                </a:solidFill>
                <a:latin typeface="Aptos" panose="020B0004020202020204" pitchFamily="34" charset="0"/>
              </a:rPr>
              <a:t>thường</a:t>
            </a:r>
            <a:r>
              <a:rPr sz="2000" b="0" dirty="0">
                <a:solidFill>
                  <a:srgbClr val="565F77"/>
                </a:solidFill>
                <a:latin typeface="Aptos" panose="020B0004020202020204" pitchFamily="34" charset="0"/>
              </a:rPr>
              <a:t> </a:t>
            </a:r>
            <a:r>
              <a:rPr sz="2000" b="0" dirty="0" err="1">
                <a:solidFill>
                  <a:srgbClr val="565F77"/>
                </a:solidFill>
                <a:latin typeface="Aptos" panose="020B0004020202020204" pitchFamily="34" charset="0"/>
              </a:rPr>
              <a:t>phải</a:t>
            </a:r>
            <a:r>
              <a:rPr sz="2000" b="0" dirty="0">
                <a:solidFill>
                  <a:srgbClr val="565F77"/>
                </a:solidFill>
                <a:latin typeface="Aptos" panose="020B0004020202020204" pitchFamily="34" charset="0"/>
              </a:rPr>
              <a:t> </a:t>
            </a:r>
            <a:r>
              <a:rPr sz="2000" b="0" dirty="0" err="1">
                <a:solidFill>
                  <a:srgbClr val="565F77"/>
                </a:solidFill>
                <a:latin typeface="Aptos" panose="020B0004020202020204" pitchFamily="34" charset="0"/>
              </a:rPr>
              <a:t>đi</a:t>
            </a:r>
            <a:r>
              <a:rPr sz="2000" b="0" dirty="0">
                <a:solidFill>
                  <a:srgbClr val="565F77"/>
                </a:solidFill>
                <a:latin typeface="Aptos" panose="020B0004020202020204" pitchFamily="34" charset="0"/>
              </a:rPr>
              <a:t> qua </a:t>
            </a:r>
            <a:r>
              <a:rPr sz="2000" b="0" dirty="0" err="1">
                <a:solidFill>
                  <a:srgbClr val="565F77"/>
                </a:solidFill>
                <a:latin typeface="Aptos" panose="020B0004020202020204" pitchFamily="34" charset="0"/>
              </a:rPr>
              <a:t>nhiều</a:t>
            </a:r>
            <a:r>
              <a:rPr sz="2000" b="0" dirty="0">
                <a:solidFill>
                  <a:srgbClr val="565F77"/>
                </a:solidFill>
                <a:latin typeface="Aptos" panose="020B0004020202020204" pitchFamily="34" charset="0"/>
              </a:rPr>
              <a:t> </a:t>
            </a:r>
            <a:r>
              <a:rPr sz="2000" b="0" dirty="0" err="1">
                <a:solidFill>
                  <a:srgbClr val="565F77"/>
                </a:solidFill>
                <a:latin typeface="Aptos" panose="020B0004020202020204" pitchFamily="34" charset="0"/>
              </a:rPr>
              <a:t>bước</a:t>
            </a:r>
            <a:r>
              <a:rPr sz="2000" b="0" dirty="0">
                <a:solidFill>
                  <a:srgbClr val="565F77"/>
                </a:solidFill>
                <a:latin typeface="Aptos" panose="020B0004020202020204" pitchFamily="34" charset="0"/>
              </a:rPr>
              <a:t> </a:t>
            </a:r>
            <a:r>
              <a:rPr sz="2000" b="0" dirty="0" err="1">
                <a:solidFill>
                  <a:srgbClr val="565F77"/>
                </a:solidFill>
                <a:latin typeface="Aptos" panose="020B0004020202020204" pitchFamily="34" charset="0"/>
              </a:rPr>
              <a:t>rời</a:t>
            </a:r>
            <a:r>
              <a:rPr sz="2000" b="0" dirty="0">
                <a:solidFill>
                  <a:srgbClr val="565F77"/>
                </a:solidFill>
                <a:latin typeface="Aptos" panose="020B0004020202020204" pitchFamily="34" charset="0"/>
              </a:rPr>
              <a:t> </a:t>
            </a:r>
            <a:r>
              <a:rPr sz="2000" b="0" dirty="0" err="1">
                <a:solidFill>
                  <a:srgbClr val="565F77"/>
                </a:solidFill>
                <a:latin typeface="Aptos" panose="020B0004020202020204" pitchFamily="34" charset="0"/>
              </a:rPr>
              <a:t>rạc</a:t>
            </a:r>
            <a:r>
              <a:rPr sz="2000" b="0" dirty="0">
                <a:solidFill>
                  <a:srgbClr val="565F77"/>
                </a:solidFill>
                <a:latin typeface="Aptos" panose="020B0004020202020204" pitchFamily="34" charset="0"/>
              </a:rPr>
              <a:t>.</a:t>
            </a:r>
          </a:p>
        </p:txBody>
      </p:sp>
      <p:cxnSp>
        <p:nvCxnSpPr>
          <p:cNvPr id="3" name="codex-s2-separator">
            <a:extLst>
              <a:ext uri="{FF2B5EF4-FFF2-40B4-BE49-F238E27FC236}">
                <a16:creationId xmlns:a16="http://schemas.microsoft.com/office/drawing/2014/main" id="{664CDF15-48C3-FFC3-4A3B-72E9841DAE76}"/>
              </a:ext>
            </a:extLst>
          </p:cNvPr>
          <p:cNvCxnSpPr>
            <a:cxnSpLocks/>
          </p:cNvCxnSpPr>
          <p:nvPr/>
        </p:nvCxnSpPr>
        <p:spPr>
          <a:xfrm>
            <a:off x="6025529" y="1094996"/>
            <a:ext cx="0" cy="5565686"/>
          </a:xfrm>
          <a:prstGeom prst="line">
            <a:avLst/>
          </a:prstGeom>
          <a:ln w="15875">
            <a:solidFill>
              <a:srgbClr val="E1E5ED"/>
            </a:solidFill>
            <a:prstDash val="dash"/>
          </a:ln>
        </p:spPr>
        <p:style>
          <a:lnRef idx="2">
            <a:schemeClr val="accent1"/>
          </a:lnRef>
          <a:fillRef idx="0">
            <a:schemeClr val="accent1"/>
          </a:fillRef>
          <a:effectRef idx="1">
            <a:schemeClr val="accent1"/>
          </a:effectRef>
          <a:fontRef idx="minor">
            <a:schemeClr val="tx1"/>
          </a:fontRef>
        </p:style>
      </p:cxnSp>
      <p:grpSp>
        <p:nvGrpSpPr>
          <p:cNvPr id="18" name="Group 17">
            <a:extLst>
              <a:ext uri="{FF2B5EF4-FFF2-40B4-BE49-F238E27FC236}">
                <a16:creationId xmlns:a16="http://schemas.microsoft.com/office/drawing/2014/main" id="{AB01288C-3270-2F2E-CF85-0B1C9EE6B52D}"/>
              </a:ext>
            </a:extLst>
          </p:cNvPr>
          <p:cNvGrpSpPr/>
          <p:nvPr/>
        </p:nvGrpSpPr>
        <p:grpSpPr>
          <a:xfrm>
            <a:off x="1787785" y="3098265"/>
            <a:ext cx="2922592" cy="3417546"/>
            <a:chOff x="197544" y="3132376"/>
            <a:chExt cx="2922592" cy="3417546"/>
          </a:xfrm>
        </p:grpSpPr>
        <p:sp>
          <p:nvSpPr>
            <p:cNvPr id="5" name="codex-s2-label">
              <a:extLst>
                <a:ext uri="{FF2B5EF4-FFF2-40B4-BE49-F238E27FC236}">
                  <a16:creationId xmlns:a16="http://schemas.microsoft.com/office/drawing/2014/main" id="{133444F1-7C6D-70DA-69F4-B6D2E5A3C4F5}"/>
                </a:ext>
              </a:extLst>
            </p:cNvPr>
            <p:cNvSpPr txBox="1"/>
            <p:nvPr/>
          </p:nvSpPr>
          <p:spPr>
            <a:xfrm>
              <a:off x="197544" y="3132376"/>
              <a:ext cx="2922592" cy="359073"/>
            </a:xfrm>
            <a:prstGeom prst="rect">
              <a:avLst/>
            </a:prstGeom>
            <a:noFill/>
          </p:spPr>
          <p:txBody>
            <a:bodyPr vert="horz" wrap="square" lIns="50800" tIns="25400" rIns="50800" bIns="25400" rtlCol="0">
              <a:spAutoFit/>
            </a:bodyPr>
            <a:lstStyle/>
            <a:p>
              <a:pPr algn="ctr"/>
              <a:r>
                <a:rPr lang="vi-VN" sz="2000" b="1" dirty="0">
                  <a:solidFill>
                    <a:srgbClr val="C88639"/>
                  </a:solidFill>
                  <a:latin typeface="Aptos" panose="020B0004020202020204" pitchFamily="34" charset="0"/>
                </a:rPr>
                <a:t>QUY TRÌNH THỦ CÔNG</a:t>
              </a:r>
            </a:p>
          </p:txBody>
        </p:sp>
        <p:sp>
          <p:nvSpPr>
            <p:cNvPr id="8" name="codex-s2-step-1">
              <a:extLst>
                <a:ext uri="{FF2B5EF4-FFF2-40B4-BE49-F238E27FC236}">
                  <a16:creationId xmlns:a16="http://schemas.microsoft.com/office/drawing/2014/main" id="{6D09958A-6BB0-12C2-CE72-5A21079A3D24}"/>
                </a:ext>
              </a:extLst>
            </p:cNvPr>
            <p:cNvSpPr/>
            <p:nvPr/>
          </p:nvSpPr>
          <p:spPr>
            <a:xfrm>
              <a:off x="630140" y="3517419"/>
              <a:ext cx="2108200" cy="567635"/>
            </a:xfrm>
            <a:prstGeom prst="roundRect">
              <a:avLst>
                <a:gd name="adj" fmla="val 8000"/>
              </a:avLst>
            </a:prstGeom>
            <a:solidFill>
              <a:srgbClr val="F4F6FA"/>
            </a:solidFill>
            <a:ln w="11430">
              <a:solidFill>
                <a:srgbClr val="CED6E5"/>
              </a:solidFill>
            </a:ln>
            <a:effectLst/>
            <a:extLst>
              <a:ext uri="{AF507438-7753-43E0-B8FC-AC1667EBCBE1}">
                <a14:hiddenEffects xmlns:a14="http://schemas.microsoft.com/office/drawing/2010/main">
                  <a:effectLst>
                    <a:outerShdw blurRad="76200" dist="37027" dir="3542175" rotWithShape="0">
                      <a:srgbClr val="DCE0E8">
                        <a:alpha val="4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rtlCol="0" anchor="ctr"/>
            <a:lstStyle/>
            <a:p>
              <a:pPr algn="ctr"/>
              <a:r>
                <a:rPr lang="vi-VN" sz="2000" b="1" dirty="0">
                  <a:solidFill>
                    <a:srgbClr val="60677C"/>
                  </a:solidFill>
                  <a:latin typeface="Aptos" panose="020B0004020202020204" pitchFamily="34" charset="0"/>
                </a:rPr>
                <a:t>Lấy media</a:t>
              </a:r>
            </a:p>
          </p:txBody>
        </p:sp>
        <p:sp>
          <p:nvSpPr>
            <p:cNvPr id="9" name="codex-s2-arrow-1">
              <a:extLst>
                <a:ext uri="{FF2B5EF4-FFF2-40B4-BE49-F238E27FC236}">
                  <a16:creationId xmlns:a16="http://schemas.microsoft.com/office/drawing/2014/main" id="{FCA325C0-91CC-4D9C-A11F-B0956D5FD1B7}"/>
                </a:ext>
              </a:extLst>
            </p:cNvPr>
            <p:cNvSpPr txBox="1"/>
            <p:nvPr/>
          </p:nvSpPr>
          <p:spPr>
            <a:xfrm>
              <a:off x="1468340" y="4043682"/>
              <a:ext cx="381000" cy="359073"/>
            </a:xfrm>
            <a:prstGeom prst="rect">
              <a:avLst/>
            </a:prstGeom>
            <a:noFill/>
          </p:spPr>
          <p:txBody>
            <a:bodyPr vert="horz" wrap="square" lIns="50800" tIns="25400" rIns="50800" bIns="25400" rtlCol="0">
              <a:spAutoFit/>
            </a:bodyPr>
            <a:lstStyle/>
            <a:p>
              <a:pPr algn="ctr"/>
              <a:r>
                <a:rPr lang="vi-VN" sz="2000" b="1" dirty="0">
                  <a:solidFill>
                    <a:srgbClr val="C88639"/>
                  </a:solidFill>
                  <a:latin typeface="Aptos" panose="020B0004020202020204" pitchFamily="34" charset="0"/>
                </a:rPr>
                <a:t>↓</a:t>
              </a:r>
            </a:p>
          </p:txBody>
        </p:sp>
        <p:sp>
          <p:nvSpPr>
            <p:cNvPr id="10" name="codex-s2-step-2">
              <a:extLst>
                <a:ext uri="{FF2B5EF4-FFF2-40B4-BE49-F238E27FC236}">
                  <a16:creationId xmlns:a16="http://schemas.microsoft.com/office/drawing/2014/main" id="{08756B56-B4BC-F663-88E1-AEF005459478}"/>
                </a:ext>
              </a:extLst>
            </p:cNvPr>
            <p:cNvSpPr/>
            <p:nvPr/>
          </p:nvSpPr>
          <p:spPr>
            <a:xfrm>
              <a:off x="630140" y="4324276"/>
              <a:ext cx="2108200" cy="567635"/>
            </a:xfrm>
            <a:prstGeom prst="roundRect">
              <a:avLst>
                <a:gd name="adj" fmla="val 8000"/>
              </a:avLst>
            </a:prstGeom>
            <a:solidFill>
              <a:srgbClr val="F4F6FA"/>
            </a:solidFill>
            <a:ln w="11430">
              <a:solidFill>
                <a:srgbClr val="CED6E5"/>
              </a:solidFill>
            </a:ln>
            <a:effectLst/>
            <a:extLst>
              <a:ext uri="{AF507438-7753-43E0-B8FC-AC1667EBCBE1}">
                <a14:hiddenEffects xmlns:a14="http://schemas.microsoft.com/office/drawing/2010/main">
                  <a:effectLst>
                    <a:outerShdw blurRad="76200" dist="37027" dir="3542175" rotWithShape="0">
                      <a:srgbClr val="DCE0E8">
                        <a:alpha val="4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rtlCol="0" anchor="ctr"/>
            <a:lstStyle/>
            <a:p>
              <a:pPr algn="ctr"/>
              <a:r>
                <a:rPr lang="vi-VN" sz="2000" b="1">
                  <a:solidFill>
                    <a:srgbClr val="60677C"/>
                  </a:solidFill>
                  <a:latin typeface="Aptos" panose="020B0004020202020204" pitchFamily="34" charset="0"/>
                </a:rPr>
                <a:t>Chép lời</a:t>
              </a:r>
            </a:p>
          </p:txBody>
        </p:sp>
        <p:sp>
          <p:nvSpPr>
            <p:cNvPr id="11" name="codex-s2-arrow-2">
              <a:extLst>
                <a:ext uri="{FF2B5EF4-FFF2-40B4-BE49-F238E27FC236}">
                  <a16:creationId xmlns:a16="http://schemas.microsoft.com/office/drawing/2014/main" id="{782C2DB9-CD84-FA18-6916-A976E5620855}"/>
                </a:ext>
              </a:extLst>
            </p:cNvPr>
            <p:cNvSpPr txBox="1"/>
            <p:nvPr/>
          </p:nvSpPr>
          <p:spPr>
            <a:xfrm>
              <a:off x="1468340" y="4868868"/>
              <a:ext cx="381000" cy="359073"/>
            </a:xfrm>
            <a:prstGeom prst="rect">
              <a:avLst/>
            </a:prstGeom>
            <a:noFill/>
          </p:spPr>
          <p:txBody>
            <a:bodyPr vert="horz" wrap="square" lIns="50800" tIns="25400" rIns="50800" bIns="25400" rtlCol="0">
              <a:spAutoFit/>
            </a:bodyPr>
            <a:lstStyle/>
            <a:p>
              <a:pPr algn="ctr"/>
              <a:r>
                <a:rPr lang="vi-VN" sz="2000" b="1" dirty="0">
                  <a:solidFill>
                    <a:srgbClr val="C88639"/>
                  </a:solidFill>
                  <a:latin typeface="Aptos" panose="020B0004020202020204" pitchFamily="34" charset="0"/>
                </a:rPr>
                <a:t>↓</a:t>
              </a:r>
            </a:p>
          </p:txBody>
        </p:sp>
        <p:sp>
          <p:nvSpPr>
            <p:cNvPr id="12" name="codex-s2-step-3">
              <a:extLst>
                <a:ext uri="{FF2B5EF4-FFF2-40B4-BE49-F238E27FC236}">
                  <a16:creationId xmlns:a16="http://schemas.microsoft.com/office/drawing/2014/main" id="{3DE71321-DE40-BF35-E914-0A6F4FD338E2}"/>
                </a:ext>
              </a:extLst>
            </p:cNvPr>
            <p:cNvSpPr/>
            <p:nvPr/>
          </p:nvSpPr>
          <p:spPr>
            <a:xfrm>
              <a:off x="630140" y="5157169"/>
              <a:ext cx="2108200" cy="567635"/>
            </a:xfrm>
            <a:prstGeom prst="roundRect">
              <a:avLst>
                <a:gd name="adj" fmla="val 8000"/>
              </a:avLst>
            </a:prstGeom>
            <a:solidFill>
              <a:srgbClr val="F4F6FA"/>
            </a:solidFill>
            <a:ln w="11430">
              <a:solidFill>
                <a:srgbClr val="CED6E5"/>
              </a:solidFill>
            </a:ln>
            <a:effectLst/>
            <a:extLst>
              <a:ext uri="{AF507438-7753-43E0-B8FC-AC1667EBCBE1}">
                <a14:hiddenEffects xmlns:a14="http://schemas.microsoft.com/office/drawing/2010/main">
                  <a:effectLst>
                    <a:outerShdw blurRad="76200" dist="37027" dir="3542175" rotWithShape="0">
                      <a:srgbClr val="DCE0E8">
                        <a:alpha val="4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rtlCol="0" anchor="ctr"/>
            <a:lstStyle/>
            <a:p>
              <a:pPr algn="ctr"/>
              <a:r>
                <a:rPr lang="vi-VN" sz="2000" b="1">
                  <a:solidFill>
                    <a:srgbClr val="60677C"/>
                  </a:solidFill>
                  <a:latin typeface="Aptos" panose="020B0004020202020204" pitchFamily="34" charset="0"/>
                </a:rPr>
                <a:t>Dịch</a:t>
              </a:r>
            </a:p>
          </p:txBody>
        </p:sp>
        <p:sp>
          <p:nvSpPr>
            <p:cNvPr id="13" name="codex-s2-arrow-3">
              <a:extLst>
                <a:ext uri="{FF2B5EF4-FFF2-40B4-BE49-F238E27FC236}">
                  <a16:creationId xmlns:a16="http://schemas.microsoft.com/office/drawing/2014/main" id="{70ABFCBF-CB1C-E47D-04E9-AF3A237759C2}"/>
                </a:ext>
              </a:extLst>
            </p:cNvPr>
            <p:cNvSpPr txBox="1"/>
            <p:nvPr/>
          </p:nvSpPr>
          <p:spPr>
            <a:xfrm>
              <a:off x="1468340" y="5694053"/>
              <a:ext cx="381000" cy="359073"/>
            </a:xfrm>
            <a:prstGeom prst="rect">
              <a:avLst/>
            </a:prstGeom>
            <a:noFill/>
          </p:spPr>
          <p:txBody>
            <a:bodyPr vert="horz" wrap="square" lIns="50800" tIns="25400" rIns="50800" bIns="25400" rtlCol="0">
              <a:spAutoFit/>
            </a:bodyPr>
            <a:lstStyle/>
            <a:p>
              <a:pPr algn="ctr"/>
              <a:r>
                <a:rPr lang="vi-VN" sz="2000" b="1" dirty="0">
                  <a:solidFill>
                    <a:srgbClr val="C88639"/>
                  </a:solidFill>
                  <a:latin typeface="Aptos" panose="020B0004020202020204" pitchFamily="34" charset="0"/>
                </a:rPr>
                <a:t>↓</a:t>
              </a:r>
            </a:p>
          </p:txBody>
        </p:sp>
        <p:sp>
          <p:nvSpPr>
            <p:cNvPr id="14" name="codex-s2-step-4">
              <a:extLst>
                <a:ext uri="{FF2B5EF4-FFF2-40B4-BE49-F238E27FC236}">
                  <a16:creationId xmlns:a16="http://schemas.microsoft.com/office/drawing/2014/main" id="{CFAADFDC-9F5B-1D44-F4EC-968180D97C84}"/>
                </a:ext>
              </a:extLst>
            </p:cNvPr>
            <p:cNvSpPr/>
            <p:nvPr/>
          </p:nvSpPr>
          <p:spPr>
            <a:xfrm>
              <a:off x="604740" y="5982287"/>
              <a:ext cx="2108200" cy="567635"/>
            </a:xfrm>
            <a:prstGeom prst="roundRect">
              <a:avLst>
                <a:gd name="adj" fmla="val 8000"/>
              </a:avLst>
            </a:prstGeom>
            <a:solidFill>
              <a:srgbClr val="F4F6FA"/>
            </a:solidFill>
            <a:ln w="11430">
              <a:solidFill>
                <a:srgbClr val="CED6E5"/>
              </a:solidFill>
            </a:ln>
            <a:effectLst/>
            <a:extLst>
              <a:ext uri="{AF507438-7753-43E0-B8FC-AC1667EBCBE1}">
                <a14:hiddenEffects xmlns:a14="http://schemas.microsoft.com/office/drawing/2010/main">
                  <a:effectLst>
                    <a:outerShdw blurRad="76200" dist="37027" dir="3542175" rotWithShape="0">
                      <a:srgbClr val="DCE0E8">
                        <a:alpha val="4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rtlCol="0" anchor="ctr"/>
            <a:lstStyle/>
            <a:p>
              <a:pPr algn="ctr"/>
              <a:r>
                <a:rPr lang="vi-VN" sz="2000" b="1" dirty="0">
                  <a:solidFill>
                    <a:srgbClr val="60677C"/>
                  </a:solidFill>
                  <a:latin typeface="Aptos" panose="020B0004020202020204" pitchFamily="34" charset="0"/>
                </a:rPr>
                <a:t>Căn thời gian</a:t>
              </a:r>
            </a:p>
          </p:txBody>
        </p:sp>
      </p:grpSp>
      <p:sp>
        <p:nvSpPr>
          <p:cNvPr id="16" name="codex-s2-goal-card">
            <a:extLst>
              <a:ext uri="{FF2B5EF4-FFF2-40B4-BE49-F238E27FC236}">
                <a16:creationId xmlns:a16="http://schemas.microsoft.com/office/drawing/2014/main" id="{2884EE46-2760-F197-6D51-241330B25D10}"/>
              </a:ext>
            </a:extLst>
          </p:cNvPr>
          <p:cNvSpPr/>
          <p:nvPr/>
        </p:nvSpPr>
        <p:spPr>
          <a:xfrm>
            <a:off x="6911200" y="1144318"/>
            <a:ext cx="3772421" cy="1831757"/>
          </a:xfrm>
          <a:prstGeom prst="roundRect">
            <a:avLst>
              <a:gd name="adj" fmla="val 8000"/>
            </a:avLst>
          </a:prstGeom>
          <a:solidFill>
            <a:srgbClr val="FFF8EF"/>
          </a:solidFill>
          <a:ln w="14605">
            <a:solidFill>
              <a:srgbClr val="DEB376"/>
            </a:solidFill>
          </a:ln>
          <a:effectLst>
            <a:outerShdw blurRad="76200" dist="37027" dir="3542175" rotWithShape="0">
              <a:srgbClr val="DCE0E8">
                <a:alpha val="45000"/>
              </a:srgbClr>
            </a:outerShdw>
          </a:effectLst>
        </p:spPr>
        <p:style>
          <a:lnRef idx="1">
            <a:schemeClr val="accent1"/>
          </a:lnRef>
          <a:fillRef idx="3">
            <a:schemeClr val="accent1"/>
          </a:fillRef>
          <a:effectRef idx="2">
            <a:schemeClr val="accent1"/>
          </a:effectRef>
          <a:fontRef idx="minor">
            <a:schemeClr val="lt1"/>
          </a:fontRef>
        </p:style>
        <p:txBody>
          <a:bodyPr lIns="152400" tIns="101600" rIns="152400" bIns="101600" rtlCol="0" anchor="ctr"/>
          <a:lstStyle/>
          <a:p>
            <a:pPr algn="ctr"/>
            <a:r>
              <a:rPr lang="vi-VN" sz="2000" b="1" dirty="0">
                <a:solidFill>
                  <a:srgbClr val="C88639"/>
                </a:solidFill>
                <a:latin typeface="Aptos" panose="020B0004020202020204" pitchFamily="34" charset="0"/>
              </a:rPr>
              <a:t>MỤC TIÊU
Tự động hóa quy trình xử lý càng nhiều càng tốt</a:t>
            </a:r>
          </a:p>
        </p:txBody>
      </p:sp>
      <p:sp>
        <p:nvSpPr>
          <p:cNvPr id="17" name="codex-s2-goal-note">
            <a:extLst>
              <a:ext uri="{FF2B5EF4-FFF2-40B4-BE49-F238E27FC236}">
                <a16:creationId xmlns:a16="http://schemas.microsoft.com/office/drawing/2014/main" id="{A5D79E1D-3A93-0ABB-B50D-AF8F9F57C80C}"/>
              </a:ext>
            </a:extLst>
          </p:cNvPr>
          <p:cNvSpPr txBox="1"/>
          <p:nvPr/>
        </p:nvSpPr>
        <p:spPr>
          <a:xfrm>
            <a:off x="6761124" y="5506053"/>
            <a:ext cx="4072571" cy="666849"/>
          </a:xfrm>
          <a:prstGeom prst="rect">
            <a:avLst/>
          </a:prstGeom>
          <a:noFill/>
        </p:spPr>
        <p:txBody>
          <a:bodyPr vert="horz" wrap="square" lIns="50800" tIns="25400" rIns="50800" bIns="25400" rtlCol="0">
            <a:spAutoFit/>
          </a:bodyPr>
          <a:lstStyle/>
          <a:p>
            <a:pPr algn="ctr"/>
            <a:r>
              <a:rPr lang="vi-VN" sz="2000" dirty="0">
                <a:solidFill>
                  <a:srgbClr val="60677C"/>
                </a:solidFill>
                <a:latin typeface="Aptos" panose="020B0004020202020204" pitchFamily="34" charset="0"/>
              </a:rPr>
              <a:t>Giảm thao tác thủ công · Hình thành một pipeline subtitle thống nhất</a:t>
            </a:r>
          </a:p>
        </p:txBody>
      </p:sp>
      <p:pic>
        <p:nvPicPr>
          <p:cNvPr id="1026" name="Picture 2" descr="Automation - Free business icons">
            <a:extLst>
              <a:ext uri="{FF2B5EF4-FFF2-40B4-BE49-F238E27FC236}">
                <a16:creationId xmlns:a16="http://schemas.microsoft.com/office/drawing/2014/main" id="{6782C7D5-4A79-CF8F-3CBB-06150235027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89246" y="3163931"/>
            <a:ext cx="2216326" cy="221632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spd="slow">
    <p:push dir="u"/>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5F1EA"/>
        </a:solidFill>
        <a:effectLst/>
      </p:bgPr>
    </p:bg>
    <p:spTree>
      <p:nvGrpSpPr>
        <p:cNvPr id="1" name=""/>
        <p:cNvGrpSpPr/>
        <p:nvPr/>
      </p:nvGrpSpPr>
      <p:grpSpPr>
        <a:xfrm>
          <a:off x="0" y="0"/>
          <a:ext cx="0" cy="0"/>
          <a:chOff x="0" y="0"/>
          <a:chExt cx="0" cy="0"/>
        </a:xfrm>
      </p:grpSpPr>
      <p:sp>
        <p:nvSpPr>
          <p:cNvPr id="2" name="codex-scope-marker">
            <a:extLst>
              <a:ext uri="{FF2B5EF4-FFF2-40B4-BE49-F238E27FC236}">
                <a16:creationId xmlns:a16="http://schemas.microsoft.com/office/drawing/2014/main" id="{FD046E3D-3743-33D3-CE83-C7745F9C98EE}"/>
              </a:ext>
            </a:extLst>
          </p:cNvPr>
          <p:cNvSpPr txBox="1"/>
          <p:nvPr/>
        </p:nvSpPr>
        <p:spPr>
          <a:xfrm>
            <a:off x="0" y="0"/>
            <a:ext cx="12700" cy="66685"/>
          </a:xfrm>
          <a:prstGeom prst="rect">
            <a:avLst/>
          </a:prstGeom>
          <a:noFill/>
        </p:spPr>
        <p:txBody>
          <a:bodyPr vert="horz" lIns="50800" tIns="25400" rIns="50800" bIns="25400" rtlCol="0">
            <a:spAutoFit/>
          </a:bodyPr>
          <a:lstStyle/>
          <a:p>
            <a:endParaRPr lang="vi-VN" sz="100">
              <a:solidFill>
                <a:srgbClr val="F5F1EA"/>
              </a:solidFill>
              <a:latin typeface="Aptos" panose="020B0004020202020204" pitchFamily="34" charset="0"/>
            </a:endParaRPr>
          </a:p>
        </p:txBody>
      </p:sp>
      <p:sp>
        <p:nvSpPr>
          <p:cNvPr id="21" name="codex-scope-out-title">
            <a:extLst>
              <a:ext uri="{FF2B5EF4-FFF2-40B4-BE49-F238E27FC236}">
                <a16:creationId xmlns:a16="http://schemas.microsoft.com/office/drawing/2014/main" id="{B9E3041E-9821-27BE-E116-1B1CDC86173B}"/>
              </a:ext>
            </a:extLst>
          </p:cNvPr>
          <p:cNvSpPr txBox="1"/>
          <p:nvPr/>
        </p:nvSpPr>
        <p:spPr>
          <a:xfrm>
            <a:off x="4598068" y="5342821"/>
            <a:ext cx="2794000" cy="359073"/>
          </a:xfrm>
          <a:prstGeom prst="rect">
            <a:avLst/>
          </a:prstGeom>
          <a:noFill/>
        </p:spPr>
        <p:txBody>
          <a:bodyPr vert="horz" lIns="50800" tIns="25400" rIns="50800" bIns="25400" rtlCol="0">
            <a:spAutoFit/>
          </a:bodyPr>
          <a:lstStyle/>
          <a:p>
            <a:pPr algn="ctr"/>
            <a:r>
              <a:rPr lang="vi-VN" sz="2000" b="1" dirty="0">
                <a:latin typeface="Aptos" panose="020B0004020202020204" pitchFamily="34" charset="0"/>
              </a:rPr>
              <a:t>NGOÀI PHẠM VI</a:t>
            </a:r>
          </a:p>
        </p:txBody>
      </p:sp>
      <p:sp>
        <p:nvSpPr>
          <p:cNvPr id="22" name="codex-scope-out-1">
            <a:extLst>
              <a:ext uri="{FF2B5EF4-FFF2-40B4-BE49-F238E27FC236}">
                <a16:creationId xmlns:a16="http://schemas.microsoft.com/office/drawing/2014/main" id="{1BAD5488-FDDC-1BFF-87BF-6B4E7B9D5C6C}"/>
              </a:ext>
            </a:extLst>
          </p:cNvPr>
          <p:cNvSpPr/>
          <p:nvPr/>
        </p:nvSpPr>
        <p:spPr>
          <a:xfrm>
            <a:off x="2222500" y="5969000"/>
            <a:ext cx="2032000" cy="431800"/>
          </a:xfrm>
          <a:prstGeom prst="roundRect">
            <a:avLst>
              <a:gd name="adj" fmla="val 8000"/>
            </a:avLst>
          </a:prstGeom>
          <a:solidFill>
            <a:srgbClr val="FCF8F3"/>
          </a:solidFill>
          <a:ln w="12065">
            <a:solidFill>
              <a:srgbClr val="CED6E5"/>
            </a:solidFill>
          </a:ln>
          <a:effectLst/>
          <a:extLs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rtlCol="0" anchor="ctr"/>
          <a:lstStyle/>
          <a:p>
            <a:pPr algn="ctr"/>
            <a:r>
              <a:rPr lang="vi-VN" sz="1600" b="1">
                <a:solidFill>
                  <a:srgbClr val="60677C"/>
                </a:solidFill>
                <a:latin typeface="Aptos" panose="020B0004020202020204" pitchFamily="34" charset="0"/>
              </a:rPr>
              <a:t>training / finetuning</a:t>
            </a:r>
          </a:p>
        </p:txBody>
      </p:sp>
      <p:sp>
        <p:nvSpPr>
          <p:cNvPr id="23" name="codex-scope-out-2">
            <a:extLst>
              <a:ext uri="{FF2B5EF4-FFF2-40B4-BE49-F238E27FC236}">
                <a16:creationId xmlns:a16="http://schemas.microsoft.com/office/drawing/2014/main" id="{D4A35802-2A75-315B-3733-1AFACBC967EA}"/>
              </a:ext>
            </a:extLst>
          </p:cNvPr>
          <p:cNvSpPr/>
          <p:nvPr/>
        </p:nvSpPr>
        <p:spPr>
          <a:xfrm>
            <a:off x="4432300" y="5969000"/>
            <a:ext cx="1676400" cy="431800"/>
          </a:xfrm>
          <a:prstGeom prst="roundRect">
            <a:avLst>
              <a:gd name="adj" fmla="val 8000"/>
            </a:avLst>
          </a:prstGeom>
          <a:solidFill>
            <a:srgbClr val="FCF8F3"/>
          </a:solidFill>
          <a:ln w="12065">
            <a:solidFill>
              <a:srgbClr val="CED6E5"/>
            </a:solidFill>
          </a:ln>
          <a:effectLst/>
          <a:extLs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rtlCol="0" anchor="ctr"/>
          <a:lstStyle/>
          <a:p>
            <a:pPr algn="ctr"/>
            <a:r>
              <a:rPr lang="vi-VN" sz="1600" b="1">
                <a:solidFill>
                  <a:srgbClr val="60677C"/>
                </a:solidFill>
                <a:latin typeface="Aptos" panose="020B0004020202020204" pitchFamily="34" charset="0"/>
              </a:rPr>
              <a:t>live translating</a:t>
            </a:r>
          </a:p>
        </p:txBody>
      </p:sp>
      <p:sp>
        <p:nvSpPr>
          <p:cNvPr id="24" name="codex-scope-out-3">
            <a:extLst>
              <a:ext uri="{FF2B5EF4-FFF2-40B4-BE49-F238E27FC236}">
                <a16:creationId xmlns:a16="http://schemas.microsoft.com/office/drawing/2014/main" id="{249714CC-6E26-DFE5-A409-184BE21B2D9B}"/>
              </a:ext>
            </a:extLst>
          </p:cNvPr>
          <p:cNvSpPr/>
          <p:nvPr/>
        </p:nvSpPr>
        <p:spPr>
          <a:xfrm>
            <a:off x="6286500" y="5969000"/>
            <a:ext cx="1955800" cy="431800"/>
          </a:xfrm>
          <a:prstGeom prst="roundRect">
            <a:avLst>
              <a:gd name="adj" fmla="val 8000"/>
            </a:avLst>
          </a:prstGeom>
          <a:solidFill>
            <a:srgbClr val="FCF8F3"/>
          </a:solidFill>
          <a:ln w="12065">
            <a:solidFill>
              <a:srgbClr val="CED6E5"/>
            </a:solidFill>
          </a:ln>
          <a:effectLst/>
          <a:extLs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rtlCol="0" anchor="ctr"/>
          <a:lstStyle/>
          <a:p>
            <a:pPr algn="ctr"/>
            <a:r>
              <a:rPr lang="vi-VN" sz="1600" b="1" dirty="0">
                <a:solidFill>
                  <a:srgbClr val="60677C"/>
                </a:solidFill>
                <a:latin typeface="Aptos" panose="020B0004020202020204" pitchFamily="34" charset="0"/>
              </a:rPr>
              <a:t>production deploy</a:t>
            </a:r>
          </a:p>
        </p:txBody>
      </p:sp>
      <p:sp>
        <p:nvSpPr>
          <p:cNvPr id="25" name="codex-scope-out-4">
            <a:extLst>
              <a:ext uri="{FF2B5EF4-FFF2-40B4-BE49-F238E27FC236}">
                <a16:creationId xmlns:a16="http://schemas.microsoft.com/office/drawing/2014/main" id="{6CEBE670-650E-1159-FBE0-8E874703D4EA}"/>
              </a:ext>
            </a:extLst>
          </p:cNvPr>
          <p:cNvSpPr/>
          <p:nvPr/>
        </p:nvSpPr>
        <p:spPr>
          <a:xfrm>
            <a:off x="8417177" y="5969000"/>
            <a:ext cx="1727200" cy="431800"/>
          </a:xfrm>
          <a:prstGeom prst="roundRect">
            <a:avLst>
              <a:gd name="adj" fmla="val 8000"/>
            </a:avLst>
          </a:prstGeom>
          <a:solidFill>
            <a:srgbClr val="FCF8F3"/>
          </a:solidFill>
          <a:ln w="12065">
            <a:solidFill>
              <a:srgbClr val="CED6E5"/>
            </a:solidFill>
          </a:ln>
          <a:effectLst/>
          <a:extLs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rtlCol="0" anchor="ctr"/>
          <a:lstStyle/>
          <a:p>
            <a:pPr algn="ctr"/>
            <a:r>
              <a:rPr lang="vi-VN" sz="1600" b="1" dirty="0">
                <a:solidFill>
                  <a:srgbClr val="60677C"/>
                </a:solidFill>
                <a:latin typeface="Aptos" panose="020B0004020202020204" pitchFamily="34" charset="0"/>
              </a:rPr>
              <a:t>auto evaluating</a:t>
            </a:r>
          </a:p>
        </p:txBody>
      </p:sp>
      <p:sp>
        <p:nvSpPr>
          <p:cNvPr id="3" name="codex-scope-kicker">
            <a:extLst>
              <a:ext uri="{FF2B5EF4-FFF2-40B4-BE49-F238E27FC236}">
                <a16:creationId xmlns:a16="http://schemas.microsoft.com/office/drawing/2014/main" id="{32721038-617C-7FC9-E2B8-7975F6E2DD91}"/>
              </a:ext>
            </a:extLst>
          </p:cNvPr>
          <p:cNvSpPr txBox="1"/>
          <p:nvPr/>
        </p:nvSpPr>
        <p:spPr>
          <a:xfrm>
            <a:off x="4974055" y="184233"/>
            <a:ext cx="2042026" cy="420628"/>
          </a:xfrm>
          <a:prstGeom prst="rect">
            <a:avLst/>
          </a:prstGeom>
          <a:noFill/>
        </p:spPr>
        <p:txBody>
          <a:bodyPr vert="horz" wrap="square" lIns="50800" tIns="25400" rIns="50800" bIns="25400" rtlCol="0">
            <a:spAutoFit/>
          </a:bodyPr>
          <a:lstStyle/>
          <a:p>
            <a:pPr algn="ctr"/>
            <a:r>
              <a:rPr lang="en-US" sz="2400" b="1" dirty="0">
                <a:solidFill>
                  <a:srgbClr val="C88639"/>
                </a:solidFill>
                <a:latin typeface="Aptos" panose="020B0004020202020204" pitchFamily="34" charset="0"/>
              </a:rPr>
              <a:t>HỆ THỐNG</a:t>
            </a:r>
            <a:endParaRPr lang="vi-VN" sz="2400" b="1" dirty="0">
              <a:solidFill>
                <a:srgbClr val="C88639"/>
              </a:solidFill>
              <a:latin typeface="Aptos" panose="020B0004020202020204" pitchFamily="34" charset="0"/>
            </a:endParaRPr>
          </a:p>
        </p:txBody>
      </p:sp>
      <p:sp>
        <p:nvSpPr>
          <p:cNvPr id="4" name="codex-scope-title">
            <a:extLst>
              <a:ext uri="{FF2B5EF4-FFF2-40B4-BE49-F238E27FC236}">
                <a16:creationId xmlns:a16="http://schemas.microsoft.com/office/drawing/2014/main" id="{0E1DC11E-05E2-938B-49ED-C9EC0BE903B7}"/>
              </a:ext>
            </a:extLst>
          </p:cNvPr>
          <p:cNvSpPr txBox="1"/>
          <p:nvPr/>
        </p:nvSpPr>
        <p:spPr>
          <a:xfrm>
            <a:off x="4254500" y="640384"/>
            <a:ext cx="3481136" cy="512961"/>
          </a:xfrm>
          <a:prstGeom prst="rect">
            <a:avLst/>
          </a:prstGeom>
          <a:noFill/>
        </p:spPr>
        <p:txBody>
          <a:bodyPr vert="horz" wrap="square" lIns="50800" tIns="25400" rIns="50800" bIns="25400" rtlCol="0">
            <a:spAutoFit/>
          </a:bodyPr>
          <a:lstStyle/>
          <a:p>
            <a:pPr algn="ctr"/>
            <a:r>
              <a:rPr lang="en-US" sz="3000" b="1" dirty="0" err="1">
                <a:solidFill>
                  <a:srgbClr val="242C44"/>
                </a:solidFill>
              </a:rPr>
              <a:t>Phạm</a:t>
            </a:r>
            <a:r>
              <a:rPr lang="en-US" sz="3000" b="1" dirty="0">
                <a:solidFill>
                  <a:srgbClr val="242C44"/>
                </a:solidFill>
              </a:rPr>
              <a:t> vi </a:t>
            </a:r>
            <a:r>
              <a:rPr lang="en-US" sz="3000" b="1" dirty="0" err="1">
                <a:solidFill>
                  <a:srgbClr val="242C44"/>
                </a:solidFill>
              </a:rPr>
              <a:t>hệ</a:t>
            </a:r>
            <a:r>
              <a:rPr lang="en-US" sz="3000" b="1" dirty="0">
                <a:solidFill>
                  <a:srgbClr val="242C44"/>
                </a:solidFill>
              </a:rPr>
              <a:t> </a:t>
            </a:r>
            <a:r>
              <a:rPr lang="en-US" sz="3000" b="1" dirty="0" err="1">
                <a:solidFill>
                  <a:srgbClr val="242C44"/>
                </a:solidFill>
              </a:rPr>
              <a:t>thống</a:t>
            </a:r>
            <a:endParaRPr lang="vi-VN" sz="3000" b="1" dirty="0">
              <a:solidFill>
                <a:srgbClr val="242C44"/>
              </a:solidFill>
            </a:endParaRPr>
          </a:p>
        </p:txBody>
      </p:sp>
      <p:grpSp>
        <p:nvGrpSpPr>
          <p:cNvPr id="27" name="Group 26">
            <a:extLst>
              <a:ext uri="{FF2B5EF4-FFF2-40B4-BE49-F238E27FC236}">
                <a16:creationId xmlns:a16="http://schemas.microsoft.com/office/drawing/2014/main" id="{7B6F8C0F-C860-2788-1317-01436691056D}"/>
              </a:ext>
            </a:extLst>
          </p:cNvPr>
          <p:cNvGrpSpPr/>
          <p:nvPr/>
        </p:nvGrpSpPr>
        <p:grpSpPr>
          <a:xfrm>
            <a:off x="1764632" y="1340306"/>
            <a:ext cx="2260600" cy="990600"/>
            <a:chOff x="1752600" y="2667000"/>
            <a:chExt cx="2260600" cy="990600"/>
          </a:xfrm>
        </p:grpSpPr>
        <p:sp>
          <p:nvSpPr>
            <p:cNvPr id="6" name="codex-scope-card-1">
              <a:extLst>
                <a:ext uri="{FF2B5EF4-FFF2-40B4-BE49-F238E27FC236}">
                  <a16:creationId xmlns:a16="http://schemas.microsoft.com/office/drawing/2014/main" id="{E56B8F9A-B168-92A7-D5BA-0DE7FFF508C9}"/>
                </a:ext>
              </a:extLst>
            </p:cNvPr>
            <p:cNvSpPr/>
            <p:nvPr/>
          </p:nvSpPr>
          <p:spPr>
            <a:xfrm>
              <a:off x="1752600" y="2667000"/>
              <a:ext cx="2260600" cy="990600"/>
            </a:xfrm>
            <a:prstGeom prst="roundRect">
              <a:avLst>
                <a:gd name="adj" fmla="val 8000"/>
              </a:avLst>
            </a:prstGeom>
            <a:solidFill>
              <a:srgbClr val="E9EFFC"/>
            </a:solidFill>
            <a:ln w="15240">
              <a:solidFill>
                <a:srgbClr val="A0B7E5"/>
              </a:solidFill>
            </a:ln>
            <a:effectLst>
              <a:outerShdw blurRad="76200" dist="37027" dir="3542175" rotWithShape="0">
                <a:srgbClr val="DCE0E8">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vi-VN"/>
            </a:p>
          </p:txBody>
        </p:sp>
        <p:sp>
          <p:nvSpPr>
            <p:cNvPr id="7" name="codex-scope-num-1">
              <a:extLst>
                <a:ext uri="{FF2B5EF4-FFF2-40B4-BE49-F238E27FC236}">
                  <a16:creationId xmlns:a16="http://schemas.microsoft.com/office/drawing/2014/main" id="{F271F595-75CB-CC3A-C285-2E0EDB28D84D}"/>
                </a:ext>
              </a:extLst>
            </p:cNvPr>
            <p:cNvSpPr txBox="1"/>
            <p:nvPr/>
          </p:nvSpPr>
          <p:spPr>
            <a:xfrm>
              <a:off x="1955800" y="2727291"/>
              <a:ext cx="829377" cy="359073"/>
            </a:xfrm>
            <a:prstGeom prst="rect">
              <a:avLst/>
            </a:prstGeom>
            <a:noFill/>
          </p:spPr>
          <p:txBody>
            <a:bodyPr vert="horz" wrap="square" lIns="50800" tIns="25400" rIns="50800" bIns="25400" rtlCol="0">
              <a:spAutoFit/>
            </a:bodyPr>
            <a:lstStyle/>
            <a:p>
              <a:r>
                <a:rPr lang="vi-VN" sz="2000" b="1">
                  <a:solidFill>
                    <a:srgbClr val="C88639"/>
                  </a:solidFill>
                  <a:latin typeface="Aptos" panose="020B0004020202020204" pitchFamily="34" charset="0"/>
                </a:rPr>
                <a:t>01</a:t>
              </a:r>
            </a:p>
          </p:txBody>
        </p:sp>
        <p:sp>
          <p:nvSpPr>
            <p:cNvPr id="8" name="codex-scope-title-1">
              <a:extLst>
                <a:ext uri="{FF2B5EF4-FFF2-40B4-BE49-F238E27FC236}">
                  <a16:creationId xmlns:a16="http://schemas.microsoft.com/office/drawing/2014/main" id="{6C6E9A0A-30DB-7870-8247-5A6B8DD3769F}"/>
                </a:ext>
              </a:extLst>
            </p:cNvPr>
            <p:cNvSpPr txBox="1"/>
            <p:nvPr/>
          </p:nvSpPr>
          <p:spPr>
            <a:xfrm>
              <a:off x="1955800" y="3168258"/>
              <a:ext cx="1828800" cy="343684"/>
            </a:xfrm>
            <a:prstGeom prst="rect">
              <a:avLst/>
            </a:prstGeom>
            <a:noFill/>
          </p:spPr>
          <p:txBody>
            <a:bodyPr vert="horz" lIns="50800" tIns="25400" rIns="50800" bIns="25400" rtlCol="0">
              <a:spAutoFit/>
            </a:bodyPr>
            <a:lstStyle/>
            <a:p>
              <a:r>
                <a:rPr lang="vi-VN" sz="1900" b="1" dirty="0">
                  <a:solidFill>
                    <a:srgbClr val="242C44"/>
                  </a:solidFill>
                  <a:latin typeface="Aptos" panose="020B0004020202020204" pitchFamily="34" charset="0"/>
                </a:rPr>
                <a:t>Mobile App</a:t>
              </a:r>
            </a:p>
          </p:txBody>
        </p:sp>
      </p:grpSp>
      <p:grpSp>
        <p:nvGrpSpPr>
          <p:cNvPr id="26" name="Group 25">
            <a:extLst>
              <a:ext uri="{FF2B5EF4-FFF2-40B4-BE49-F238E27FC236}">
                <a16:creationId xmlns:a16="http://schemas.microsoft.com/office/drawing/2014/main" id="{19D363A7-6EA4-D906-CDDB-AFE4A949247A}"/>
              </a:ext>
            </a:extLst>
          </p:cNvPr>
          <p:cNvGrpSpPr/>
          <p:nvPr/>
        </p:nvGrpSpPr>
        <p:grpSpPr>
          <a:xfrm>
            <a:off x="4749132" y="1335642"/>
            <a:ext cx="2413000" cy="990600"/>
            <a:chOff x="4445000" y="2362200"/>
            <a:chExt cx="2413000" cy="990600"/>
          </a:xfrm>
        </p:grpSpPr>
        <p:sp>
          <p:nvSpPr>
            <p:cNvPr id="9" name="codex-scope-card-2">
              <a:extLst>
                <a:ext uri="{FF2B5EF4-FFF2-40B4-BE49-F238E27FC236}">
                  <a16:creationId xmlns:a16="http://schemas.microsoft.com/office/drawing/2014/main" id="{C89EC275-5AB9-F479-49D4-245FD29D844B}"/>
                </a:ext>
              </a:extLst>
            </p:cNvPr>
            <p:cNvSpPr/>
            <p:nvPr/>
          </p:nvSpPr>
          <p:spPr>
            <a:xfrm>
              <a:off x="4445000" y="2362200"/>
              <a:ext cx="2413000" cy="990600"/>
            </a:xfrm>
            <a:prstGeom prst="roundRect">
              <a:avLst>
                <a:gd name="adj" fmla="val 8000"/>
              </a:avLst>
            </a:prstGeom>
            <a:solidFill>
              <a:srgbClr val="F6ECE2"/>
            </a:solidFill>
            <a:ln w="15240">
              <a:solidFill>
                <a:srgbClr val="DDB892"/>
              </a:solidFill>
            </a:ln>
            <a:effectLst>
              <a:outerShdw blurRad="76200" dist="37027" dir="3542175" rotWithShape="0">
                <a:srgbClr val="DCE0E8">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vi-VN"/>
            </a:p>
          </p:txBody>
        </p:sp>
        <p:sp>
          <p:nvSpPr>
            <p:cNvPr id="10" name="codex-scope-num-2">
              <a:extLst>
                <a:ext uri="{FF2B5EF4-FFF2-40B4-BE49-F238E27FC236}">
                  <a16:creationId xmlns:a16="http://schemas.microsoft.com/office/drawing/2014/main" id="{1516D8AA-C306-BCC0-3453-0AF6B747E229}"/>
                </a:ext>
              </a:extLst>
            </p:cNvPr>
            <p:cNvSpPr txBox="1"/>
            <p:nvPr/>
          </p:nvSpPr>
          <p:spPr>
            <a:xfrm>
              <a:off x="4673600" y="2462064"/>
              <a:ext cx="584200" cy="359073"/>
            </a:xfrm>
            <a:prstGeom prst="rect">
              <a:avLst/>
            </a:prstGeom>
            <a:noFill/>
          </p:spPr>
          <p:txBody>
            <a:bodyPr vert="horz" wrap="square" lIns="50800" tIns="25400" rIns="50800" bIns="25400" rtlCol="0">
              <a:spAutoFit/>
            </a:bodyPr>
            <a:lstStyle/>
            <a:p>
              <a:r>
                <a:rPr lang="vi-VN" sz="2000" b="1">
                  <a:solidFill>
                    <a:srgbClr val="C88639"/>
                  </a:solidFill>
                  <a:latin typeface="Aptos" panose="020B0004020202020204" pitchFamily="34" charset="0"/>
                </a:rPr>
                <a:t>02</a:t>
              </a:r>
            </a:p>
          </p:txBody>
        </p:sp>
        <p:sp>
          <p:nvSpPr>
            <p:cNvPr id="11" name="codex-scope-title-2">
              <a:extLst>
                <a:ext uri="{FF2B5EF4-FFF2-40B4-BE49-F238E27FC236}">
                  <a16:creationId xmlns:a16="http://schemas.microsoft.com/office/drawing/2014/main" id="{7A5062DC-C048-A1F5-344B-9BA16D2375B0}"/>
                </a:ext>
              </a:extLst>
            </p:cNvPr>
            <p:cNvSpPr txBox="1"/>
            <p:nvPr/>
          </p:nvSpPr>
          <p:spPr>
            <a:xfrm>
              <a:off x="4659831" y="2876158"/>
              <a:ext cx="1981200" cy="343684"/>
            </a:xfrm>
            <a:prstGeom prst="rect">
              <a:avLst/>
            </a:prstGeom>
            <a:noFill/>
          </p:spPr>
          <p:txBody>
            <a:bodyPr vert="horz" lIns="50800" tIns="25400" rIns="50800" bIns="25400" rtlCol="0">
              <a:spAutoFit/>
            </a:bodyPr>
            <a:lstStyle/>
            <a:p>
              <a:r>
                <a:rPr lang="vi-VN" sz="1900" b="1" dirty="0">
                  <a:solidFill>
                    <a:srgbClr val="242C44"/>
                  </a:solidFill>
                  <a:latin typeface="Aptos" panose="020B0004020202020204" pitchFamily="34" charset="0"/>
                </a:rPr>
                <a:t>Backend API</a:t>
              </a:r>
            </a:p>
          </p:txBody>
        </p:sp>
      </p:grpSp>
      <p:grpSp>
        <p:nvGrpSpPr>
          <p:cNvPr id="28" name="Group 27">
            <a:extLst>
              <a:ext uri="{FF2B5EF4-FFF2-40B4-BE49-F238E27FC236}">
                <a16:creationId xmlns:a16="http://schemas.microsoft.com/office/drawing/2014/main" id="{527B7E91-E02F-5B78-6515-453A077F547F}"/>
              </a:ext>
            </a:extLst>
          </p:cNvPr>
          <p:cNvGrpSpPr/>
          <p:nvPr/>
        </p:nvGrpSpPr>
        <p:grpSpPr>
          <a:xfrm>
            <a:off x="7886032" y="1335642"/>
            <a:ext cx="2514600" cy="990600"/>
            <a:chOff x="7493000" y="2844800"/>
            <a:chExt cx="2514600" cy="990600"/>
          </a:xfrm>
        </p:grpSpPr>
        <p:sp>
          <p:nvSpPr>
            <p:cNvPr id="12" name="codex-scope-card-3">
              <a:extLst>
                <a:ext uri="{FF2B5EF4-FFF2-40B4-BE49-F238E27FC236}">
                  <a16:creationId xmlns:a16="http://schemas.microsoft.com/office/drawing/2014/main" id="{AD311F20-7ECA-EB91-9DE4-6437F7C65C09}"/>
                </a:ext>
              </a:extLst>
            </p:cNvPr>
            <p:cNvSpPr/>
            <p:nvPr/>
          </p:nvSpPr>
          <p:spPr>
            <a:xfrm>
              <a:off x="7493000" y="2844800"/>
              <a:ext cx="2514600" cy="990600"/>
            </a:xfrm>
            <a:prstGeom prst="roundRect">
              <a:avLst>
                <a:gd name="adj" fmla="val 8000"/>
              </a:avLst>
            </a:prstGeom>
            <a:solidFill>
              <a:srgbClr val="EEE9FC"/>
            </a:solidFill>
            <a:ln w="15240">
              <a:solidFill>
                <a:srgbClr val="B5A5E4"/>
              </a:solidFill>
            </a:ln>
            <a:effectLst>
              <a:outerShdw blurRad="76200" dist="37027" dir="3542175" rotWithShape="0">
                <a:srgbClr val="DCE0E8">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vi-VN"/>
            </a:p>
          </p:txBody>
        </p:sp>
        <p:sp>
          <p:nvSpPr>
            <p:cNvPr id="13" name="codex-scope-num-3">
              <a:extLst>
                <a:ext uri="{FF2B5EF4-FFF2-40B4-BE49-F238E27FC236}">
                  <a16:creationId xmlns:a16="http://schemas.microsoft.com/office/drawing/2014/main" id="{61074F78-0CA3-CCE5-903D-EBD36E092DFC}"/>
                </a:ext>
              </a:extLst>
            </p:cNvPr>
            <p:cNvSpPr txBox="1"/>
            <p:nvPr/>
          </p:nvSpPr>
          <p:spPr>
            <a:xfrm>
              <a:off x="7721599" y="2915670"/>
              <a:ext cx="1278021" cy="359073"/>
            </a:xfrm>
            <a:prstGeom prst="rect">
              <a:avLst/>
            </a:prstGeom>
            <a:noFill/>
          </p:spPr>
          <p:txBody>
            <a:bodyPr vert="horz" wrap="square" lIns="50800" tIns="25400" rIns="50800" bIns="25400" rtlCol="0">
              <a:spAutoFit/>
            </a:bodyPr>
            <a:lstStyle/>
            <a:p>
              <a:r>
                <a:rPr lang="vi-VN" sz="2000" b="1">
                  <a:solidFill>
                    <a:srgbClr val="C88639"/>
                  </a:solidFill>
                  <a:latin typeface="Aptos" panose="020B0004020202020204" pitchFamily="34" charset="0"/>
                </a:rPr>
                <a:t>03</a:t>
              </a:r>
            </a:p>
          </p:txBody>
        </p:sp>
        <p:sp>
          <p:nvSpPr>
            <p:cNvPr id="14" name="codex-scope-title-3">
              <a:extLst>
                <a:ext uri="{FF2B5EF4-FFF2-40B4-BE49-F238E27FC236}">
                  <a16:creationId xmlns:a16="http://schemas.microsoft.com/office/drawing/2014/main" id="{3C400DD5-C569-61D6-EE45-D0F096EBBC2D}"/>
                </a:ext>
              </a:extLst>
            </p:cNvPr>
            <p:cNvSpPr txBox="1"/>
            <p:nvPr/>
          </p:nvSpPr>
          <p:spPr>
            <a:xfrm>
              <a:off x="7721600" y="3318920"/>
              <a:ext cx="2082800" cy="343684"/>
            </a:xfrm>
            <a:prstGeom prst="rect">
              <a:avLst/>
            </a:prstGeom>
            <a:noFill/>
          </p:spPr>
          <p:txBody>
            <a:bodyPr vert="horz" lIns="50800" tIns="25400" rIns="50800" bIns="25400" rtlCol="0">
              <a:spAutoFit/>
            </a:bodyPr>
            <a:lstStyle/>
            <a:p>
              <a:r>
                <a:rPr lang="vi-VN" sz="1900" b="1" dirty="0">
                  <a:solidFill>
                    <a:srgbClr val="242C44"/>
                  </a:solidFill>
                  <a:latin typeface="Aptos" panose="020B0004020202020204" pitchFamily="34" charset="0"/>
                </a:rPr>
                <a:t>Backend Worker</a:t>
              </a:r>
            </a:p>
          </p:txBody>
        </p:sp>
      </p:grpSp>
      <p:grpSp>
        <p:nvGrpSpPr>
          <p:cNvPr id="29" name="Group 28">
            <a:extLst>
              <a:ext uri="{FF2B5EF4-FFF2-40B4-BE49-F238E27FC236}">
                <a16:creationId xmlns:a16="http://schemas.microsoft.com/office/drawing/2014/main" id="{A8F167DF-4240-0F21-D979-8ADEF1E30F73}"/>
              </a:ext>
            </a:extLst>
          </p:cNvPr>
          <p:cNvGrpSpPr/>
          <p:nvPr/>
        </p:nvGrpSpPr>
        <p:grpSpPr>
          <a:xfrm>
            <a:off x="1777332" y="2713687"/>
            <a:ext cx="2235200" cy="990600"/>
            <a:chOff x="3556000" y="3937000"/>
            <a:chExt cx="2235200" cy="990600"/>
          </a:xfrm>
        </p:grpSpPr>
        <p:sp>
          <p:nvSpPr>
            <p:cNvPr id="15" name="codex-scope-card-4">
              <a:extLst>
                <a:ext uri="{FF2B5EF4-FFF2-40B4-BE49-F238E27FC236}">
                  <a16:creationId xmlns:a16="http://schemas.microsoft.com/office/drawing/2014/main" id="{A1ED488A-6C89-0C87-C4A3-CD4E64AFFB97}"/>
                </a:ext>
              </a:extLst>
            </p:cNvPr>
            <p:cNvSpPr/>
            <p:nvPr/>
          </p:nvSpPr>
          <p:spPr>
            <a:xfrm>
              <a:off x="3556000" y="3937000"/>
              <a:ext cx="2235200" cy="990600"/>
            </a:xfrm>
            <a:prstGeom prst="roundRect">
              <a:avLst>
                <a:gd name="adj" fmla="val 8000"/>
              </a:avLst>
            </a:prstGeom>
            <a:solidFill>
              <a:srgbClr val="E5F1EF"/>
            </a:solidFill>
            <a:ln w="15240">
              <a:solidFill>
                <a:srgbClr val="97BEB7"/>
              </a:solidFill>
            </a:ln>
            <a:effectLst>
              <a:outerShdw blurRad="76200" dist="37027" dir="3542175" rotWithShape="0">
                <a:srgbClr val="DCE0E8">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vi-VN" dirty="0"/>
            </a:p>
          </p:txBody>
        </p:sp>
        <p:sp>
          <p:nvSpPr>
            <p:cNvPr id="16" name="codex-scope-num-4">
              <a:extLst>
                <a:ext uri="{FF2B5EF4-FFF2-40B4-BE49-F238E27FC236}">
                  <a16:creationId xmlns:a16="http://schemas.microsoft.com/office/drawing/2014/main" id="{1D441714-A0EE-282F-7CAA-3260485A74C1}"/>
                </a:ext>
              </a:extLst>
            </p:cNvPr>
            <p:cNvSpPr txBox="1"/>
            <p:nvPr/>
          </p:nvSpPr>
          <p:spPr>
            <a:xfrm>
              <a:off x="3784600" y="4059722"/>
              <a:ext cx="660400" cy="359073"/>
            </a:xfrm>
            <a:prstGeom prst="rect">
              <a:avLst/>
            </a:prstGeom>
            <a:noFill/>
          </p:spPr>
          <p:txBody>
            <a:bodyPr vert="horz" wrap="square" lIns="50800" tIns="25400" rIns="50800" bIns="25400" rtlCol="0">
              <a:spAutoFit/>
            </a:bodyPr>
            <a:lstStyle/>
            <a:p>
              <a:r>
                <a:rPr lang="vi-VN" sz="2000" b="1">
                  <a:solidFill>
                    <a:srgbClr val="C88639"/>
                  </a:solidFill>
                  <a:latin typeface="Aptos" panose="020B0004020202020204" pitchFamily="34" charset="0"/>
                </a:rPr>
                <a:t>04</a:t>
              </a:r>
            </a:p>
          </p:txBody>
        </p:sp>
        <p:sp>
          <p:nvSpPr>
            <p:cNvPr id="17" name="codex-scope-title-4">
              <a:extLst>
                <a:ext uri="{FF2B5EF4-FFF2-40B4-BE49-F238E27FC236}">
                  <a16:creationId xmlns:a16="http://schemas.microsoft.com/office/drawing/2014/main" id="{273C8336-A9F7-E102-EAD7-7485C37CBA6D}"/>
                </a:ext>
              </a:extLst>
            </p:cNvPr>
            <p:cNvSpPr txBox="1"/>
            <p:nvPr/>
          </p:nvSpPr>
          <p:spPr>
            <a:xfrm>
              <a:off x="3759200" y="4489842"/>
              <a:ext cx="1803400" cy="343684"/>
            </a:xfrm>
            <a:prstGeom prst="rect">
              <a:avLst/>
            </a:prstGeom>
            <a:noFill/>
          </p:spPr>
          <p:txBody>
            <a:bodyPr vert="horz" lIns="50800" tIns="25400" rIns="50800" bIns="25400" rtlCol="0">
              <a:spAutoFit/>
            </a:bodyPr>
            <a:lstStyle/>
            <a:p>
              <a:r>
                <a:rPr lang="vi-VN" sz="1900" b="1" dirty="0">
                  <a:solidFill>
                    <a:srgbClr val="242C44"/>
                  </a:solidFill>
                  <a:latin typeface="Aptos" panose="020B0004020202020204" pitchFamily="34" charset="0"/>
                </a:rPr>
                <a:t>AI Engine</a:t>
              </a:r>
            </a:p>
          </p:txBody>
        </p:sp>
      </p:grpSp>
      <p:grpSp>
        <p:nvGrpSpPr>
          <p:cNvPr id="30" name="Group 29">
            <a:extLst>
              <a:ext uri="{FF2B5EF4-FFF2-40B4-BE49-F238E27FC236}">
                <a16:creationId xmlns:a16="http://schemas.microsoft.com/office/drawing/2014/main" id="{CDEB5E09-8D4F-12DD-061F-202072BA4DF9}"/>
              </a:ext>
            </a:extLst>
          </p:cNvPr>
          <p:cNvGrpSpPr/>
          <p:nvPr/>
        </p:nvGrpSpPr>
        <p:grpSpPr>
          <a:xfrm>
            <a:off x="4749132" y="2700182"/>
            <a:ext cx="2413000" cy="990600"/>
            <a:chOff x="6350000" y="4165600"/>
            <a:chExt cx="2235200" cy="990600"/>
          </a:xfrm>
        </p:grpSpPr>
        <p:sp>
          <p:nvSpPr>
            <p:cNvPr id="18" name="codex-scope-card-5">
              <a:extLst>
                <a:ext uri="{FF2B5EF4-FFF2-40B4-BE49-F238E27FC236}">
                  <a16:creationId xmlns:a16="http://schemas.microsoft.com/office/drawing/2014/main" id="{B10A0FED-61AE-AB0A-4CCD-6C8C9009D7BB}"/>
                </a:ext>
              </a:extLst>
            </p:cNvPr>
            <p:cNvSpPr/>
            <p:nvPr/>
          </p:nvSpPr>
          <p:spPr>
            <a:xfrm>
              <a:off x="6350000" y="4165600"/>
              <a:ext cx="2235200" cy="990600"/>
            </a:xfrm>
            <a:prstGeom prst="roundRect">
              <a:avLst>
                <a:gd name="adj" fmla="val 8000"/>
              </a:avLst>
            </a:prstGeom>
            <a:solidFill>
              <a:srgbClr val="E9EFF5"/>
            </a:solidFill>
            <a:ln w="15240">
              <a:solidFill>
                <a:srgbClr val="ABBACC"/>
              </a:solidFill>
            </a:ln>
            <a:effectLst>
              <a:outerShdw blurRad="76200" dist="37027" dir="3542175" rotWithShape="0">
                <a:srgbClr val="DCE0E8">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vi-VN"/>
            </a:p>
          </p:txBody>
        </p:sp>
        <p:sp>
          <p:nvSpPr>
            <p:cNvPr id="19" name="codex-scope-num-5">
              <a:extLst>
                <a:ext uri="{FF2B5EF4-FFF2-40B4-BE49-F238E27FC236}">
                  <a16:creationId xmlns:a16="http://schemas.microsoft.com/office/drawing/2014/main" id="{9327DDD7-F59C-CAA7-8C9C-3B9DCD49D8E2}"/>
                </a:ext>
              </a:extLst>
            </p:cNvPr>
            <p:cNvSpPr txBox="1"/>
            <p:nvPr/>
          </p:nvSpPr>
          <p:spPr>
            <a:xfrm>
              <a:off x="6578600" y="4252763"/>
              <a:ext cx="635000" cy="359073"/>
            </a:xfrm>
            <a:prstGeom prst="rect">
              <a:avLst/>
            </a:prstGeom>
            <a:noFill/>
          </p:spPr>
          <p:txBody>
            <a:bodyPr vert="horz" wrap="square" lIns="50800" tIns="25400" rIns="50800" bIns="25400" rtlCol="0">
              <a:spAutoFit/>
            </a:bodyPr>
            <a:lstStyle/>
            <a:p>
              <a:r>
                <a:rPr lang="vi-VN" sz="2000" b="1" dirty="0">
                  <a:solidFill>
                    <a:srgbClr val="C88639"/>
                  </a:solidFill>
                  <a:latin typeface="Aptos" panose="020B0004020202020204" pitchFamily="34" charset="0"/>
                </a:rPr>
                <a:t>05</a:t>
              </a:r>
              <a:endParaRPr lang="vi-VN" sz="1100" b="1" dirty="0">
                <a:solidFill>
                  <a:srgbClr val="C88639"/>
                </a:solidFill>
                <a:latin typeface="Aptos" panose="020B0004020202020204" pitchFamily="34" charset="0"/>
              </a:endParaRPr>
            </a:p>
          </p:txBody>
        </p:sp>
        <p:sp>
          <p:nvSpPr>
            <p:cNvPr id="20" name="codex-scope-title-5">
              <a:extLst>
                <a:ext uri="{FF2B5EF4-FFF2-40B4-BE49-F238E27FC236}">
                  <a16:creationId xmlns:a16="http://schemas.microsoft.com/office/drawing/2014/main" id="{5F56F3DA-F012-CC70-150A-3A5B410C6F4E}"/>
                </a:ext>
              </a:extLst>
            </p:cNvPr>
            <p:cNvSpPr txBox="1"/>
            <p:nvPr/>
          </p:nvSpPr>
          <p:spPr>
            <a:xfrm>
              <a:off x="6565900" y="4694039"/>
              <a:ext cx="1803400" cy="343684"/>
            </a:xfrm>
            <a:prstGeom prst="rect">
              <a:avLst/>
            </a:prstGeom>
            <a:noFill/>
          </p:spPr>
          <p:txBody>
            <a:bodyPr vert="horz" lIns="50800" tIns="25400" rIns="50800" bIns="25400" rtlCol="0">
              <a:spAutoFit/>
            </a:bodyPr>
            <a:lstStyle/>
            <a:p>
              <a:r>
                <a:rPr lang="vi-VN" sz="1900" b="1" dirty="0">
                  <a:solidFill>
                    <a:srgbClr val="242C44"/>
                  </a:solidFill>
                  <a:latin typeface="Aptos" panose="020B0004020202020204" pitchFamily="34" charset="0"/>
                </a:rPr>
                <a:t>Data / Infra</a:t>
              </a:r>
            </a:p>
          </p:txBody>
        </p:sp>
      </p:grpSp>
      <p:grpSp>
        <p:nvGrpSpPr>
          <p:cNvPr id="31" name="Group 30">
            <a:extLst>
              <a:ext uri="{FF2B5EF4-FFF2-40B4-BE49-F238E27FC236}">
                <a16:creationId xmlns:a16="http://schemas.microsoft.com/office/drawing/2014/main" id="{53577283-09F8-ED53-149E-E8E4C63417D9}"/>
              </a:ext>
            </a:extLst>
          </p:cNvPr>
          <p:cNvGrpSpPr/>
          <p:nvPr/>
        </p:nvGrpSpPr>
        <p:grpSpPr>
          <a:xfrm>
            <a:off x="1764632" y="4145044"/>
            <a:ext cx="2235200" cy="990600"/>
            <a:chOff x="6350000" y="4165600"/>
            <a:chExt cx="2235200" cy="990600"/>
          </a:xfrm>
        </p:grpSpPr>
        <p:sp>
          <p:nvSpPr>
            <p:cNvPr id="32" name="codex-scope-card-5">
              <a:extLst>
                <a:ext uri="{FF2B5EF4-FFF2-40B4-BE49-F238E27FC236}">
                  <a16:creationId xmlns:a16="http://schemas.microsoft.com/office/drawing/2014/main" id="{B9FA41DF-08A3-4D92-7569-DC33EEAF13CF}"/>
                </a:ext>
              </a:extLst>
            </p:cNvPr>
            <p:cNvSpPr/>
            <p:nvPr/>
          </p:nvSpPr>
          <p:spPr>
            <a:xfrm>
              <a:off x="6350000" y="4165600"/>
              <a:ext cx="2235200" cy="990600"/>
            </a:xfrm>
            <a:prstGeom prst="roundRect">
              <a:avLst>
                <a:gd name="adj" fmla="val 8000"/>
              </a:avLst>
            </a:prstGeom>
            <a:solidFill>
              <a:srgbClr val="E9EFF5"/>
            </a:solidFill>
            <a:ln w="15240">
              <a:solidFill>
                <a:srgbClr val="ABBACC"/>
              </a:solidFill>
            </a:ln>
            <a:effectLst>
              <a:outerShdw blurRad="76200" dist="37027" dir="3542175" rotWithShape="0">
                <a:srgbClr val="DCE0E8">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vi-VN"/>
            </a:p>
          </p:txBody>
        </p:sp>
        <p:sp>
          <p:nvSpPr>
            <p:cNvPr id="33" name="codex-scope-num-5">
              <a:extLst>
                <a:ext uri="{FF2B5EF4-FFF2-40B4-BE49-F238E27FC236}">
                  <a16:creationId xmlns:a16="http://schemas.microsoft.com/office/drawing/2014/main" id="{40807A7F-9166-A80D-2FFF-AC6749E000D3}"/>
                </a:ext>
              </a:extLst>
            </p:cNvPr>
            <p:cNvSpPr txBox="1"/>
            <p:nvPr/>
          </p:nvSpPr>
          <p:spPr>
            <a:xfrm>
              <a:off x="6578600" y="4252763"/>
              <a:ext cx="635000" cy="359073"/>
            </a:xfrm>
            <a:prstGeom prst="rect">
              <a:avLst/>
            </a:prstGeom>
            <a:noFill/>
          </p:spPr>
          <p:txBody>
            <a:bodyPr vert="horz" wrap="square" lIns="50800" tIns="25400" rIns="50800" bIns="25400" rtlCol="0">
              <a:spAutoFit/>
            </a:bodyPr>
            <a:lstStyle/>
            <a:p>
              <a:r>
                <a:rPr lang="vi-VN" sz="2000" b="1" dirty="0">
                  <a:solidFill>
                    <a:srgbClr val="C88639"/>
                  </a:solidFill>
                  <a:latin typeface="Aptos" panose="020B0004020202020204" pitchFamily="34" charset="0"/>
                </a:rPr>
                <a:t>0</a:t>
              </a:r>
              <a:r>
                <a:rPr lang="en-US" sz="2000" b="1" dirty="0">
                  <a:solidFill>
                    <a:srgbClr val="C88639"/>
                  </a:solidFill>
                  <a:latin typeface="Aptos" panose="020B0004020202020204" pitchFamily="34" charset="0"/>
                </a:rPr>
                <a:t>7</a:t>
              </a:r>
              <a:endParaRPr lang="vi-VN" sz="1100" b="1" dirty="0">
                <a:solidFill>
                  <a:srgbClr val="C88639"/>
                </a:solidFill>
                <a:latin typeface="Aptos" panose="020B0004020202020204" pitchFamily="34" charset="0"/>
              </a:endParaRPr>
            </a:p>
          </p:txBody>
        </p:sp>
        <p:sp>
          <p:nvSpPr>
            <p:cNvPr id="34" name="codex-scope-title-5">
              <a:extLst>
                <a:ext uri="{FF2B5EF4-FFF2-40B4-BE49-F238E27FC236}">
                  <a16:creationId xmlns:a16="http://schemas.microsoft.com/office/drawing/2014/main" id="{9B05C17A-AB53-9888-9691-101C50E13F15}"/>
                </a:ext>
              </a:extLst>
            </p:cNvPr>
            <p:cNvSpPr txBox="1"/>
            <p:nvPr/>
          </p:nvSpPr>
          <p:spPr>
            <a:xfrm>
              <a:off x="6565900" y="4694039"/>
              <a:ext cx="1803400" cy="343684"/>
            </a:xfrm>
            <a:prstGeom prst="rect">
              <a:avLst/>
            </a:prstGeom>
            <a:noFill/>
          </p:spPr>
          <p:txBody>
            <a:bodyPr vert="horz" lIns="50800" tIns="25400" rIns="50800" bIns="25400" rtlCol="0">
              <a:spAutoFit/>
            </a:bodyPr>
            <a:lstStyle/>
            <a:p>
              <a:r>
                <a:rPr lang="en-US" sz="1900" b="1" dirty="0">
                  <a:solidFill>
                    <a:srgbClr val="242C44"/>
                  </a:solidFill>
                  <a:latin typeface="Aptos" panose="020B0004020202020204" pitchFamily="34" charset="0"/>
                </a:rPr>
                <a:t>Web Client</a:t>
              </a:r>
              <a:endParaRPr lang="vi-VN" sz="1900" b="1" dirty="0">
                <a:solidFill>
                  <a:srgbClr val="242C44"/>
                </a:solidFill>
                <a:latin typeface="Aptos" panose="020B0004020202020204" pitchFamily="34" charset="0"/>
              </a:endParaRPr>
            </a:p>
          </p:txBody>
        </p:sp>
      </p:grpSp>
      <p:grpSp>
        <p:nvGrpSpPr>
          <p:cNvPr id="35" name="Group 34">
            <a:extLst>
              <a:ext uri="{FF2B5EF4-FFF2-40B4-BE49-F238E27FC236}">
                <a16:creationId xmlns:a16="http://schemas.microsoft.com/office/drawing/2014/main" id="{E4A75E79-E671-E7D9-DADF-CD419ABC11B0}"/>
              </a:ext>
            </a:extLst>
          </p:cNvPr>
          <p:cNvGrpSpPr/>
          <p:nvPr/>
        </p:nvGrpSpPr>
        <p:grpSpPr>
          <a:xfrm>
            <a:off x="7872664" y="2700182"/>
            <a:ext cx="2514600" cy="990600"/>
            <a:chOff x="6350000" y="4165600"/>
            <a:chExt cx="2235200" cy="990600"/>
          </a:xfrm>
        </p:grpSpPr>
        <p:sp>
          <p:nvSpPr>
            <p:cNvPr id="36" name="codex-scope-card-5">
              <a:extLst>
                <a:ext uri="{FF2B5EF4-FFF2-40B4-BE49-F238E27FC236}">
                  <a16:creationId xmlns:a16="http://schemas.microsoft.com/office/drawing/2014/main" id="{5A8416DC-19A6-697A-62F2-6AD589E34D45}"/>
                </a:ext>
              </a:extLst>
            </p:cNvPr>
            <p:cNvSpPr/>
            <p:nvPr/>
          </p:nvSpPr>
          <p:spPr>
            <a:xfrm>
              <a:off x="6350000" y="4165600"/>
              <a:ext cx="2235200" cy="990600"/>
            </a:xfrm>
            <a:prstGeom prst="roundRect">
              <a:avLst>
                <a:gd name="adj" fmla="val 8000"/>
              </a:avLst>
            </a:prstGeom>
            <a:solidFill>
              <a:srgbClr val="E9EFF5"/>
            </a:solidFill>
            <a:ln w="15240">
              <a:solidFill>
                <a:srgbClr val="ABBACC"/>
              </a:solidFill>
            </a:ln>
            <a:effectLst>
              <a:outerShdw blurRad="76200" dist="37027" dir="3542175" rotWithShape="0">
                <a:srgbClr val="DCE0E8">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vi-VN"/>
            </a:p>
          </p:txBody>
        </p:sp>
        <p:sp>
          <p:nvSpPr>
            <p:cNvPr id="37" name="codex-scope-num-5">
              <a:extLst>
                <a:ext uri="{FF2B5EF4-FFF2-40B4-BE49-F238E27FC236}">
                  <a16:creationId xmlns:a16="http://schemas.microsoft.com/office/drawing/2014/main" id="{6B978571-857A-1263-AE92-C3BFD299CF25}"/>
                </a:ext>
              </a:extLst>
            </p:cNvPr>
            <p:cNvSpPr txBox="1"/>
            <p:nvPr/>
          </p:nvSpPr>
          <p:spPr>
            <a:xfrm>
              <a:off x="6578600" y="4252763"/>
              <a:ext cx="635000" cy="359073"/>
            </a:xfrm>
            <a:prstGeom prst="rect">
              <a:avLst/>
            </a:prstGeom>
            <a:noFill/>
          </p:spPr>
          <p:txBody>
            <a:bodyPr vert="horz" wrap="square" lIns="50800" tIns="25400" rIns="50800" bIns="25400" rtlCol="0">
              <a:spAutoFit/>
            </a:bodyPr>
            <a:lstStyle/>
            <a:p>
              <a:r>
                <a:rPr lang="vi-VN" sz="2000" b="1" dirty="0">
                  <a:solidFill>
                    <a:srgbClr val="C88639"/>
                  </a:solidFill>
                  <a:latin typeface="Aptos" panose="020B0004020202020204" pitchFamily="34" charset="0"/>
                </a:rPr>
                <a:t>0</a:t>
              </a:r>
              <a:r>
                <a:rPr lang="en-US" sz="2000" b="1" dirty="0">
                  <a:solidFill>
                    <a:srgbClr val="C88639"/>
                  </a:solidFill>
                  <a:latin typeface="Aptos" panose="020B0004020202020204" pitchFamily="34" charset="0"/>
                </a:rPr>
                <a:t>6</a:t>
              </a:r>
              <a:endParaRPr lang="vi-VN" sz="1100" b="1" dirty="0">
                <a:solidFill>
                  <a:srgbClr val="C88639"/>
                </a:solidFill>
                <a:latin typeface="Aptos" panose="020B0004020202020204" pitchFamily="34" charset="0"/>
              </a:endParaRPr>
            </a:p>
          </p:txBody>
        </p:sp>
        <p:sp>
          <p:nvSpPr>
            <p:cNvPr id="38" name="codex-scope-title-5">
              <a:extLst>
                <a:ext uri="{FF2B5EF4-FFF2-40B4-BE49-F238E27FC236}">
                  <a16:creationId xmlns:a16="http://schemas.microsoft.com/office/drawing/2014/main" id="{E0AFCEC7-BCDF-BB10-0673-F77163AD364A}"/>
                </a:ext>
              </a:extLst>
            </p:cNvPr>
            <p:cNvSpPr txBox="1"/>
            <p:nvPr/>
          </p:nvSpPr>
          <p:spPr>
            <a:xfrm>
              <a:off x="6565900" y="4694039"/>
              <a:ext cx="1803400" cy="343684"/>
            </a:xfrm>
            <a:prstGeom prst="rect">
              <a:avLst/>
            </a:prstGeom>
            <a:noFill/>
          </p:spPr>
          <p:txBody>
            <a:bodyPr vert="horz" lIns="50800" tIns="25400" rIns="50800" bIns="25400" rtlCol="0">
              <a:spAutoFit/>
            </a:bodyPr>
            <a:lstStyle/>
            <a:p>
              <a:r>
                <a:rPr lang="vi-VN" sz="1900" b="1" dirty="0">
                  <a:solidFill>
                    <a:srgbClr val="242C44"/>
                  </a:solidFill>
                  <a:latin typeface="Aptos" panose="020B0004020202020204" pitchFamily="34" charset="0"/>
                </a:rPr>
                <a:t>Da</a:t>
              </a:r>
              <a:r>
                <a:rPr lang="en-US" sz="1900" b="1" dirty="0" err="1">
                  <a:solidFill>
                    <a:srgbClr val="242C44"/>
                  </a:solidFill>
                  <a:latin typeface="Aptos" panose="020B0004020202020204" pitchFamily="34" charset="0"/>
                </a:rPr>
                <a:t>shboard</a:t>
              </a:r>
              <a:endParaRPr lang="vi-VN" sz="1900" b="1" dirty="0">
                <a:solidFill>
                  <a:srgbClr val="242C44"/>
                </a:solidFill>
                <a:latin typeface="Aptos" panose="020B0004020202020204" pitchFamily="34" charset="0"/>
              </a:endParaRPr>
            </a:p>
          </p:txBody>
        </p:sp>
      </p:grpSp>
    </p:spTree>
    <p:extLst>
      <p:ext uri="{BB962C8B-B14F-4D97-AF65-F5344CB8AC3E}">
        <p14:creationId xmlns:p14="http://schemas.microsoft.com/office/powerpoint/2010/main" val="19668987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5F1EA"/>
        </a:solidFill>
        <a:effectLst/>
      </p:bgPr>
    </p:bg>
    <p:spTree>
      <p:nvGrpSpPr>
        <p:cNvPr id="1" name=""/>
        <p:cNvGrpSpPr/>
        <p:nvPr/>
      </p:nvGrpSpPr>
      <p:grpSpPr>
        <a:xfrm>
          <a:off x="0" y="0"/>
          <a:ext cx="0" cy="0"/>
          <a:chOff x="0" y="0"/>
          <a:chExt cx="0" cy="0"/>
        </a:xfrm>
      </p:grpSpPr>
      <p:sp>
        <p:nvSpPr>
          <p:cNvPr id="2" name="codex-architecture-marker">
            <a:extLst>
              <a:ext uri="{FF2B5EF4-FFF2-40B4-BE49-F238E27FC236}">
                <a16:creationId xmlns:a16="http://schemas.microsoft.com/office/drawing/2014/main" id="{8808222F-C3FD-D6B9-C2B3-B489A8CC3740}"/>
              </a:ext>
            </a:extLst>
          </p:cNvPr>
          <p:cNvSpPr txBox="1"/>
          <p:nvPr/>
        </p:nvSpPr>
        <p:spPr>
          <a:xfrm>
            <a:off x="0" y="0"/>
            <a:ext cx="12700" cy="66685"/>
          </a:xfrm>
          <a:prstGeom prst="rect">
            <a:avLst/>
          </a:prstGeom>
          <a:noFill/>
        </p:spPr>
        <p:txBody>
          <a:bodyPr vert="horz" lIns="50800" tIns="25400" rIns="50800" bIns="25400" rtlCol="0">
            <a:spAutoFit/>
          </a:bodyPr>
          <a:lstStyle/>
          <a:p>
            <a:endParaRPr lang="vi-VN" sz="100">
              <a:solidFill>
                <a:srgbClr val="F5F1EA"/>
              </a:solidFill>
              <a:latin typeface="Aptos" panose="020B0004020202020204" pitchFamily="34" charset="0"/>
            </a:endParaRPr>
          </a:p>
        </p:txBody>
      </p:sp>
      <p:sp>
        <p:nvSpPr>
          <p:cNvPr id="3" name="codex-arch-kicker">
            <a:extLst>
              <a:ext uri="{FF2B5EF4-FFF2-40B4-BE49-F238E27FC236}">
                <a16:creationId xmlns:a16="http://schemas.microsoft.com/office/drawing/2014/main" id="{034DD1F0-9FAF-E3B9-8F9D-884150B507A4}"/>
              </a:ext>
            </a:extLst>
          </p:cNvPr>
          <p:cNvSpPr txBox="1"/>
          <p:nvPr/>
        </p:nvSpPr>
        <p:spPr>
          <a:xfrm>
            <a:off x="4343400" y="739291"/>
            <a:ext cx="3302000" cy="359073"/>
          </a:xfrm>
          <a:prstGeom prst="rect">
            <a:avLst/>
          </a:prstGeom>
          <a:noFill/>
        </p:spPr>
        <p:txBody>
          <a:bodyPr vert="horz" lIns="50800" tIns="25400" rIns="50800" bIns="25400" rtlCol="0">
            <a:spAutoFit/>
          </a:bodyPr>
          <a:lstStyle/>
          <a:p>
            <a:pPr algn="ctr"/>
            <a:r>
              <a:rPr lang="vi-VN" sz="2000" b="1" dirty="0">
                <a:latin typeface="Aptos" panose="020B0004020202020204" pitchFamily="34" charset="0"/>
              </a:rPr>
              <a:t>KIẾN TRÚC TỔNG THỂ</a:t>
            </a:r>
          </a:p>
        </p:txBody>
      </p:sp>
      <p:sp>
        <p:nvSpPr>
          <p:cNvPr id="5" name="codex-arch-label-82">
            <a:extLst>
              <a:ext uri="{FF2B5EF4-FFF2-40B4-BE49-F238E27FC236}">
                <a16:creationId xmlns:a16="http://schemas.microsoft.com/office/drawing/2014/main" id="{777C28B7-B33D-91E9-FE65-C1B5C7DE29C2}"/>
              </a:ext>
            </a:extLst>
          </p:cNvPr>
          <p:cNvSpPr txBox="1"/>
          <p:nvPr/>
        </p:nvSpPr>
        <p:spPr>
          <a:xfrm>
            <a:off x="1041400" y="1222997"/>
            <a:ext cx="2159000" cy="328295"/>
          </a:xfrm>
          <a:prstGeom prst="rect">
            <a:avLst/>
          </a:prstGeom>
          <a:noFill/>
        </p:spPr>
        <p:txBody>
          <a:bodyPr vert="horz" lIns="50800" tIns="25400" rIns="50800" bIns="25400" rtlCol="0">
            <a:spAutoFit/>
          </a:bodyPr>
          <a:lstStyle/>
          <a:p>
            <a:r>
              <a:rPr lang="vi-VN" dirty="0">
                <a:solidFill>
                  <a:srgbClr val="60677C"/>
                </a:solidFill>
                <a:latin typeface="Aptos" panose="020B0004020202020204" pitchFamily="34" charset="0"/>
              </a:rPr>
              <a:t>User-facing surfaces</a:t>
            </a:r>
          </a:p>
        </p:txBody>
      </p:sp>
      <p:sp>
        <p:nvSpPr>
          <p:cNvPr id="6" name="codex-arch-card-82-174">
            <a:extLst>
              <a:ext uri="{FF2B5EF4-FFF2-40B4-BE49-F238E27FC236}">
                <a16:creationId xmlns:a16="http://schemas.microsoft.com/office/drawing/2014/main" id="{1598F366-939C-4710-54A9-7112698099C6}"/>
              </a:ext>
            </a:extLst>
          </p:cNvPr>
          <p:cNvSpPr/>
          <p:nvPr/>
        </p:nvSpPr>
        <p:spPr>
          <a:xfrm>
            <a:off x="1041400" y="1952924"/>
            <a:ext cx="2159000" cy="584200"/>
          </a:xfrm>
          <a:prstGeom prst="roundRect">
            <a:avLst>
              <a:gd name="adj" fmla="val 8000"/>
            </a:avLst>
          </a:prstGeom>
          <a:solidFill>
            <a:srgbClr val="E9EFFC"/>
          </a:solidFill>
          <a:ln w="13970">
            <a:solidFill>
              <a:srgbClr val="A0B7E5"/>
            </a:solidFill>
          </a:ln>
          <a:effectLst>
            <a:outerShdw blurRad="76200" dist="37027" dir="3542175" rotWithShape="0">
              <a:srgbClr val="DCE0E8">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vi-VN" b="1" dirty="0">
                <a:solidFill>
                  <a:srgbClr val="242C44"/>
                </a:solidFill>
                <a:latin typeface="Aptos" panose="020B0004020202020204" pitchFamily="34" charset="0"/>
              </a:rPr>
              <a:t>Mobile</a:t>
            </a:r>
            <a:r>
              <a:rPr lang="vi-VN" sz="2000" b="1" dirty="0">
                <a:solidFill>
                  <a:srgbClr val="242C44"/>
                </a:solidFill>
                <a:latin typeface="Aptos" panose="020B0004020202020204" pitchFamily="34" charset="0"/>
              </a:rPr>
              <a:t> App</a:t>
            </a:r>
          </a:p>
        </p:txBody>
      </p:sp>
      <p:sp>
        <p:nvSpPr>
          <p:cNvPr id="7" name="codex-arch-card-82-232">
            <a:extLst>
              <a:ext uri="{FF2B5EF4-FFF2-40B4-BE49-F238E27FC236}">
                <a16:creationId xmlns:a16="http://schemas.microsoft.com/office/drawing/2014/main" id="{10FFA92A-ACA8-A7A9-C7A4-C54F2B8A98B3}"/>
              </a:ext>
            </a:extLst>
          </p:cNvPr>
          <p:cNvSpPr/>
          <p:nvPr/>
        </p:nvSpPr>
        <p:spPr>
          <a:xfrm>
            <a:off x="1041400" y="2689524"/>
            <a:ext cx="2159000" cy="584200"/>
          </a:xfrm>
          <a:prstGeom prst="roundRect">
            <a:avLst>
              <a:gd name="adj" fmla="val 8000"/>
            </a:avLst>
          </a:prstGeom>
          <a:solidFill>
            <a:srgbClr val="E9EFFC"/>
          </a:solidFill>
          <a:ln w="13970">
            <a:solidFill>
              <a:srgbClr val="A0B7E5"/>
            </a:solidFill>
          </a:ln>
          <a:effectLst>
            <a:outerShdw blurRad="76200" dist="37027" dir="3542175" rotWithShape="0">
              <a:srgbClr val="DCE0E8">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vi-VN" b="1">
                <a:solidFill>
                  <a:srgbClr val="242C44"/>
                </a:solidFill>
                <a:latin typeface="Aptos" panose="020B0004020202020204" pitchFamily="34" charset="0"/>
              </a:rPr>
              <a:t>Client-web</a:t>
            </a:r>
          </a:p>
        </p:txBody>
      </p:sp>
      <p:sp>
        <p:nvSpPr>
          <p:cNvPr id="8" name="codex-arch-card-82-290">
            <a:extLst>
              <a:ext uri="{FF2B5EF4-FFF2-40B4-BE49-F238E27FC236}">
                <a16:creationId xmlns:a16="http://schemas.microsoft.com/office/drawing/2014/main" id="{484D36D2-C52E-7581-1B87-DF169C9E625F}"/>
              </a:ext>
            </a:extLst>
          </p:cNvPr>
          <p:cNvSpPr/>
          <p:nvPr/>
        </p:nvSpPr>
        <p:spPr>
          <a:xfrm>
            <a:off x="1041400" y="3426124"/>
            <a:ext cx="2159000" cy="584200"/>
          </a:xfrm>
          <a:prstGeom prst="roundRect">
            <a:avLst>
              <a:gd name="adj" fmla="val 8000"/>
            </a:avLst>
          </a:prstGeom>
          <a:solidFill>
            <a:srgbClr val="E9EFFC"/>
          </a:solidFill>
          <a:ln w="13970">
            <a:solidFill>
              <a:srgbClr val="A0B7E5"/>
            </a:solidFill>
          </a:ln>
          <a:effectLst>
            <a:outerShdw blurRad="76200" dist="37027" dir="3542175" rotWithShape="0">
              <a:srgbClr val="DCE0E8">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vi-VN" b="1" dirty="0">
                <a:solidFill>
                  <a:srgbClr val="242C44"/>
                </a:solidFill>
                <a:latin typeface="Aptos" panose="020B0004020202020204" pitchFamily="34" charset="0"/>
              </a:rPr>
              <a:t>Dashboard</a:t>
            </a:r>
            <a:endParaRPr lang="vi-VN" sz="1500" b="1" dirty="0">
              <a:solidFill>
                <a:srgbClr val="242C44"/>
              </a:solidFill>
              <a:latin typeface="Aptos" panose="020B0004020202020204" pitchFamily="34" charset="0"/>
            </a:endParaRPr>
          </a:p>
        </p:txBody>
      </p:sp>
      <p:sp>
        <p:nvSpPr>
          <p:cNvPr id="9" name="codex-arch-label-302">
            <a:extLst>
              <a:ext uri="{FF2B5EF4-FFF2-40B4-BE49-F238E27FC236}">
                <a16:creationId xmlns:a16="http://schemas.microsoft.com/office/drawing/2014/main" id="{46024EC2-EE95-5F0B-29A3-E72A7EE5C420}"/>
              </a:ext>
            </a:extLst>
          </p:cNvPr>
          <p:cNvSpPr txBox="1"/>
          <p:nvPr/>
        </p:nvSpPr>
        <p:spPr>
          <a:xfrm>
            <a:off x="3835400" y="1222997"/>
            <a:ext cx="2159000" cy="328295"/>
          </a:xfrm>
          <a:prstGeom prst="rect">
            <a:avLst/>
          </a:prstGeom>
          <a:noFill/>
        </p:spPr>
        <p:txBody>
          <a:bodyPr vert="horz" lIns="50800" tIns="25400" rIns="50800" bIns="25400" rtlCol="0">
            <a:spAutoFit/>
          </a:bodyPr>
          <a:lstStyle/>
          <a:p>
            <a:r>
              <a:rPr lang="vi-VN" dirty="0">
                <a:solidFill>
                  <a:srgbClr val="60677C"/>
                </a:solidFill>
                <a:latin typeface="Aptos" panose="020B0004020202020204" pitchFamily="34" charset="0"/>
              </a:rPr>
              <a:t>Entry + orchestration</a:t>
            </a:r>
          </a:p>
        </p:txBody>
      </p:sp>
      <p:sp>
        <p:nvSpPr>
          <p:cNvPr id="10" name="codex-arch-card-302-174">
            <a:extLst>
              <a:ext uri="{FF2B5EF4-FFF2-40B4-BE49-F238E27FC236}">
                <a16:creationId xmlns:a16="http://schemas.microsoft.com/office/drawing/2014/main" id="{2619F787-CCFE-5723-7C21-DA7F11547452}"/>
              </a:ext>
            </a:extLst>
          </p:cNvPr>
          <p:cNvSpPr/>
          <p:nvPr/>
        </p:nvSpPr>
        <p:spPr>
          <a:xfrm>
            <a:off x="3835400" y="1952924"/>
            <a:ext cx="2159000" cy="584200"/>
          </a:xfrm>
          <a:prstGeom prst="roundRect">
            <a:avLst>
              <a:gd name="adj" fmla="val 8000"/>
            </a:avLst>
          </a:prstGeom>
          <a:solidFill>
            <a:srgbClr val="F6ECE2"/>
          </a:solidFill>
          <a:ln w="13970">
            <a:solidFill>
              <a:srgbClr val="DDB892"/>
            </a:solidFill>
          </a:ln>
          <a:effectLst>
            <a:outerShdw blurRad="76200" dist="37027" dir="3542175" rotWithShape="0">
              <a:srgbClr val="DCE0E8">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vi-VN" b="1" dirty="0">
                <a:solidFill>
                  <a:srgbClr val="242C44"/>
                </a:solidFill>
                <a:latin typeface="Aptos" panose="020B0004020202020204" pitchFamily="34" charset="0"/>
              </a:rPr>
              <a:t>Backend</a:t>
            </a:r>
            <a:r>
              <a:rPr lang="vi-VN" sz="1500" b="1" dirty="0">
                <a:solidFill>
                  <a:srgbClr val="242C44"/>
                </a:solidFill>
                <a:latin typeface="Aptos" panose="020B0004020202020204" pitchFamily="34" charset="0"/>
              </a:rPr>
              <a:t> API</a:t>
            </a:r>
          </a:p>
        </p:txBody>
      </p:sp>
      <p:sp>
        <p:nvSpPr>
          <p:cNvPr id="11" name="codex-arch-card-302-232">
            <a:extLst>
              <a:ext uri="{FF2B5EF4-FFF2-40B4-BE49-F238E27FC236}">
                <a16:creationId xmlns:a16="http://schemas.microsoft.com/office/drawing/2014/main" id="{7A4F9FF8-B747-96AC-2620-7B807224B02C}"/>
              </a:ext>
            </a:extLst>
          </p:cNvPr>
          <p:cNvSpPr/>
          <p:nvPr/>
        </p:nvSpPr>
        <p:spPr>
          <a:xfrm>
            <a:off x="3835400" y="2689524"/>
            <a:ext cx="2159000" cy="584200"/>
          </a:xfrm>
          <a:prstGeom prst="roundRect">
            <a:avLst>
              <a:gd name="adj" fmla="val 8000"/>
            </a:avLst>
          </a:prstGeom>
          <a:solidFill>
            <a:srgbClr val="F6ECE2"/>
          </a:solidFill>
          <a:ln w="13970">
            <a:solidFill>
              <a:srgbClr val="DDB892"/>
            </a:solidFill>
          </a:ln>
          <a:effectLst>
            <a:outerShdw blurRad="76200" dist="37027" dir="3542175" rotWithShape="0">
              <a:srgbClr val="DCE0E8">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vi-VN" b="1">
                <a:solidFill>
                  <a:srgbClr val="242C44"/>
                </a:solidFill>
                <a:latin typeface="Aptos" panose="020B0004020202020204" pitchFamily="34" charset="0"/>
              </a:rPr>
              <a:t>Socket mirror</a:t>
            </a:r>
          </a:p>
        </p:txBody>
      </p:sp>
      <p:sp>
        <p:nvSpPr>
          <p:cNvPr id="12" name="codex-arch-card-302-290">
            <a:extLst>
              <a:ext uri="{FF2B5EF4-FFF2-40B4-BE49-F238E27FC236}">
                <a16:creationId xmlns:a16="http://schemas.microsoft.com/office/drawing/2014/main" id="{935A01D0-28E1-2DDB-6AA5-B27175067B28}"/>
              </a:ext>
            </a:extLst>
          </p:cNvPr>
          <p:cNvSpPr/>
          <p:nvPr/>
        </p:nvSpPr>
        <p:spPr>
          <a:xfrm>
            <a:off x="3835400" y="3426124"/>
            <a:ext cx="2159000" cy="736600"/>
          </a:xfrm>
          <a:prstGeom prst="roundRect">
            <a:avLst>
              <a:gd name="adj" fmla="val 8000"/>
            </a:avLst>
          </a:prstGeom>
          <a:solidFill>
            <a:srgbClr val="F6ECE2"/>
          </a:solidFill>
          <a:ln w="13970">
            <a:solidFill>
              <a:srgbClr val="DDB892"/>
            </a:solidFill>
          </a:ln>
          <a:effectLst>
            <a:outerShdw blurRad="76200" dist="37027" dir="3542175" rotWithShape="0">
              <a:srgbClr val="DCE0E8">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vi-VN" b="1" dirty="0">
                <a:solidFill>
                  <a:srgbClr val="242C44"/>
                </a:solidFill>
                <a:latin typeface="Aptos" panose="020B0004020202020204" pitchFamily="34" charset="0"/>
              </a:rPr>
              <a:t>Auth · quota · media APIs</a:t>
            </a:r>
          </a:p>
        </p:txBody>
      </p:sp>
      <p:sp>
        <p:nvSpPr>
          <p:cNvPr id="13" name="codex-arch-label-522">
            <a:extLst>
              <a:ext uri="{FF2B5EF4-FFF2-40B4-BE49-F238E27FC236}">
                <a16:creationId xmlns:a16="http://schemas.microsoft.com/office/drawing/2014/main" id="{45B4387A-664E-F229-6828-D25B8356CB5D}"/>
              </a:ext>
            </a:extLst>
          </p:cNvPr>
          <p:cNvSpPr txBox="1"/>
          <p:nvPr/>
        </p:nvSpPr>
        <p:spPr>
          <a:xfrm>
            <a:off x="6629400" y="1222997"/>
            <a:ext cx="2260600" cy="605294"/>
          </a:xfrm>
          <a:prstGeom prst="rect">
            <a:avLst/>
          </a:prstGeom>
          <a:noFill/>
        </p:spPr>
        <p:txBody>
          <a:bodyPr vert="horz" wrap="square" lIns="50800" tIns="25400" rIns="50800" bIns="25400" rtlCol="0">
            <a:spAutoFit/>
          </a:bodyPr>
          <a:lstStyle/>
          <a:p>
            <a:r>
              <a:rPr lang="vi-VN" dirty="0">
                <a:solidFill>
                  <a:srgbClr val="60677C"/>
                </a:solidFill>
                <a:latin typeface="Aptos" panose="020B0004020202020204" pitchFamily="34" charset="0"/>
              </a:rPr>
              <a:t>Async processing path</a:t>
            </a:r>
          </a:p>
        </p:txBody>
      </p:sp>
      <p:sp>
        <p:nvSpPr>
          <p:cNvPr id="14" name="codex-arch-card-522-174">
            <a:extLst>
              <a:ext uri="{FF2B5EF4-FFF2-40B4-BE49-F238E27FC236}">
                <a16:creationId xmlns:a16="http://schemas.microsoft.com/office/drawing/2014/main" id="{879BEAFD-078F-1F4B-EF8D-548ED8A35633}"/>
              </a:ext>
            </a:extLst>
          </p:cNvPr>
          <p:cNvSpPr/>
          <p:nvPr/>
        </p:nvSpPr>
        <p:spPr>
          <a:xfrm>
            <a:off x="6629400" y="1952924"/>
            <a:ext cx="2159000" cy="584200"/>
          </a:xfrm>
          <a:prstGeom prst="roundRect">
            <a:avLst>
              <a:gd name="adj" fmla="val 8000"/>
            </a:avLst>
          </a:prstGeom>
          <a:solidFill>
            <a:srgbClr val="EEE9FC"/>
          </a:solidFill>
          <a:ln w="13970">
            <a:solidFill>
              <a:srgbClr val="B5A5E4"/>
            </a:solidFill>
          </a:ln>
          <a:effectLst>
            <a:outerShdw blurRad="76200" dist="37027" dir="3542175" rotWithShape="0">
              <a:srgbClr val="DCE0E8">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vi-VN" b="1">
                <a:solidFill>
                  <a:srgbClr val="242C44"/>
                </a:solidFill>
                <a:latin typeface="Aptos" panose="020B0004020202020204" pitchFamily="34" charset="0"/>
              </a:rPr>
              <a:t>BullMQ transcription</a:t>
            </a:r>
          </a:p>
        </p:txBody>
      </p:sp>
      <p:sp>
        <p:nvSpPr>
          <p:cNvPr id="15" name="codex-arch-card-522-232">
            <a:extLst>
              <a:ext uri="{FF2B5EF4-FFF2-40B4-BE49-F238E27FC236}">
                <a16:creationId xmlns:a16="http://schemas.microsoft.com/office/drawing/2014/main" id="{374B2E5D-CC0A-2FAD-6D69-D8716616B8A1}"/>
              </a:ext>
            </a:extLst>
          </p:cNvPr>
          <p:cNvSpPr/>
          <p:nvPr/>
        </p:nvSpPr>
        <p:spPr>
          <a:xfrm>
            <a:off x="6629400" y="2689524"/>
            <a:ext cx="2159000" cy="584200"/>
          </a:xfrm>
          <a:prstGeom prst="roundRect">
            <a:avLst>
              <a:gd name="adj" fmla="val 8000"/>
            </a:avLst>
          </a:prstGeom>
          <a:solidFill>
            <a:srgbClr val="EEE9FC"/>
          </a:solidFill>
          <a:ln w="13970">
            <a:solidFill>
              <a:srgbClr val="B5A5E4"/>
            </a:solidFill>
          </a:ln>
          <a:effectLst>
            <a:outerShdw blurRad="76200" dist="37027" dir="3542175" rotWithShape="0">
              <a:srgbClr val="DCE0E8">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vi-VN" b="1">
                <a:solidFill>
                  <a:srgbClr val="242C44"/>
                </a:solidFill>
                <a:latin typeface="Aptos" panose="020B0004020202020204" pitchFamily="34" charset="0"/>
              </a:rPr>
              <a:t>Backend Worker</a:t>
            </a:r>
          </a:p>
        </p:txBody>
      </p:sp>
      <p:sp>
        <p:nvSpPr>
          <p:cNvPr id="16" name="codex-arch-card-522-290">
            <a:extLst>
              <a:ext uri="{FF2B5EF4-FFF2-40B4-BE49-F238E27FC236}">
                <a16:creationId xmlns:a16="http://schemas.microsoft.com/office/drawing/2014/main" id="{71D0111C-DDD9-10F4-8713-6EAD4600F3AA}"/>
              </a:ext>
            </a:extLst>
          </p:cNvPr>
          <p:cNvSpPr/>
          <p:nvPr/>
        </p:nvSpPr>
        <p:spPr>
          <a:xfrm>
            <a:off x="6629400" y="3426124"/>
            <a:ext cx="2159000" cy="584200"/>
          </a:xfrm>
          <a:prstGeom prst="roundRect">
            <a:avLst>
              <a:gd name="adj" fmla="val 8000"/>
            </a:avLst>
          </a:prstGeom>
          <a:solidFill>
            <a:srgbClr val="EEE9FC"/>
          </a:solidFill>
          <a:ln w="13970">
            <a:solidFill>
              <a:srgbClr val="B5A5E4"/>
            </a:solidFill>
          </a:ln>
          <a:effectLst>
            <a:outerShdw blurRad="76200" dist="37027" dir="3542175" rotWithShape="0">
              <a:srgbClr val="DCE0E8">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vi-VN" b="1">
                <a:solidFill>
                  <a:srgbClr val="242C44"/>
                </a:solidFill>
                <a:latin typeface="Aptos" panose="020B0004020202020204" pitchFamily="34" charset="0"/>
              </a:rPr>
              <a:t>BullMQ ai-processing</a:t>
            </a:r>
          </a:p>
        </p:txBody>
      </p:sp>
      <p:sp>
        <p:nvSpPr>
          <p:cNvPr id="17" name="codex-arch-card-522-348">
            <a:extLst>
              <a:ext uri="{FF2B5EF4-FFF2-40B4-BE49-F238E27FC236}">
                <a16:creationId xmlns:a16="http://schemas.microsoft.com/office/drawing/2014/main" id="{8DE7AE28-69B0-E3BC-D0B8-9541DE9F9071}"/>
              </a:ext>
            </a:extLst>
          </p:cNvPr>
          <p:cNvSpPr/>
          <p:nvPr/>
        </p:nvSpPr>
        <p:spPr>
          <a:xfrm>
            <a:off x="6629400" y="4162724"/>
            <a:ext cx="2159000" cy="584200"/>
          </a:xfrm>
          <a:prstGeom prst="roundRect">
            <a:avLst>
              <a:gd name="adj" fmla="val 8000"/>
            </a:avLst>
          </a:prstGeom>
          <a:solidFill>
            <a:srgbClr val="EEE9FC"/>
          </a:solidFill>
          <a:ln w="13970">
            <a:solidFill>
              <a:srgbClr val="B5A5E4"/>
            </a:solidFill>
          </a:ln>
          <a:effectLst>
            <a:outerShdw blurRad="76200" dist="37027" dir="3542175" rotWithShape="0">
              <a:srgbClr val="DCE0E8">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vi-VN" b="1">
                <a:solidFill>
                  <a:srgbClr val="242C44"/>
                </a:solidFill>
                <a:latin typeface="Aptos" panose="020B0004020202020204" pitchFamily="34" charset="0"/>
              </a:rPr>
              <a:t>AI Engine</a:t>
            </a:r>
          </a:p>
        </p:txBody>
      </p:sp>
      <p:sp>
        <p:nvSpPr>
          <p:cNvPr id="18" name="codex-arch-label-742">
            <a:extLst>
              <a:ext uri="{FF2B5EF4-FFF2-40B4-BE49-F238E27FC236}">
                <a16:creationId xmlns:a16="http://schemas.microsoft.com/office/drawing/2014/main" id="{AEA918B2-2CE5-2566-A137-FF187539AE5D}"/>
              </a:ext>
            </a:extLst>
          </p:cNvPr>
          <p:cNvSpPr txBox="1"/>
          <p:nvPr/>
        </p:nvSpPr>
        <p:spPr>
          <a:xfrm>
            <a:off x="9423400" y="1222997"/>
            <a:ext cx="2159000" cy="605294"/>
          </a:xfrm>
          <a:prstGeom prst="rect">
            <a:avLst/>
          </a:prstGeom>
          <a:noFill/>
        </p:spPr>
        <p:txBody>
          <a:bodyPr vert="horz" lIns="50800" tIns="25400" rIns="50800" bIns="25400" rtlCol="0">
            <a:spAutoFit/>
          </a:bodyPr>
          <a:lstStyle/>
          <a:p>
            <a:r>
              <a:rPr lang="vi-VN" dirty="0">
                <a:solidFill>
                  <a:srgbClr val="60677C"/>
                </a:solidFill>
                <a:latin typeface="Aptos" panose="020B0004020202020204" pitchFamily="34" charset="0"/>
              </a:rPr>
              <a:t>Persistent infrastructure</a:t>
            </a:r>
          </a:p>
        </p:txBody>
      </p:sp>
      <p:sp>
        <p:nvSpPr>
          <p:cNvPr id="19" name="codex-arch-card-742-174">
            <a:extLst>
              <a:ext uri="{FF2B5EF4-FFF2-40B4-BE49-F238E27FC236}">
                <a16:creationId xmlns:a16="http://schemas.microsoft.com/office/drawing/2014/main" id="{894F53AA-238C-25E8-D74D-42D863E95322}"/>
              </a:ext>
            </a:extLst>
          </p:cNvPr>
          <p:cNvSpPr/>
          <p:nvPr/>
        </p:nvSpPr>
        <p:spPr>
          <a:xfrm>
            <a:off x="9423400" y="1952924"/>
            <a:ext cx="2159000" cy="584200"/>
          </a:xfrm>
          <a:prstGeom prst="roundRect">
            <a:avLst>
              <a:gd name="adj" fmla="val 8000"/>
            </a:avLst>
          </a:prstGeom>
          <a:solidFill>
            <a:srgbClr val="E9EFF5"/>
          </a:solidFill>
          <a:ln w="13970">
            <a:solidFill>
              <a:srgbClr val="ABBACC"/>
            </a:solidFill>
          </a:ln>
          <a:effectLst>
            <a:outerShdw blurRad="76200" dist="37027" dir="3542175" rotWithShape="0">
              <a:srgbClr val="DCE0E8">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vi-VN" b="1">
                <a:solidFill>
                  <a:srgbClr val="242C44"/>
                </a:solidFill>
                <a:latin typeface="Aptos" panose="020B0004020202020204" pitchFamily="34" charset="0"/>
              </a:rPr>
              <a:t>PostgreSQL</a:t>
            </a:r>
          </a:p>
        </p:txBody>
      </p:sp>
      <p:sp>
        <p:nvSpPr>
          <p:cNvPr id="20" name="codex-arch-card-742-232">
            <a:extLst>
              <a:ext uri="{FF2B5EF4-FFF2-40B4-BE49-F238E27FC236}">
                <a16:creationId xmlns:a16="http://schemas.microsoft.com/office/drawing/2014/main" id="{3857EE62-4733-5937-5C72-CBA5BE4AA8F5}"/>
              </a:ext>
            </a:extLst>
          </p:cNvPr>
          <p:cNvSpPr/>
          <p:nvPr/>
        </p:nvSpPr>
        <p:spPr>
          <a:xfrm>
            <a:off x="9423400" y="2689524"/>
            <a:ext cx="2159000" cy="584200"/>
          </a:xfrm>
          <a:prstGeom prst="roundRect">
            <a:avLst>
              <a:gd name="adj" fmla="val 8000"/>
            </a:avLst>
          </a:prstGeom>
          <a:solidFill>
            <a:srgbClr val="E9EFF5"/>
          </a:solidFill>
          <a:ln w="13970">
            <a:solidFill>
              <a:srgbClr val="ABBACC"/>
            </a:solidFill>
          </a:ln>
          <a:effectLst>
            <a:outerShdw blurRad="76200" dist="37027" dir="3542175" rotWithShape="0">
              <a:srgbClr val="DCE0E8">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vi-VN" b="1">
                <a:solidFill>
                  <a:srgbClr val="242C44"/>
                </a:solidFill>
                <a:latin typeface="Aptos" panose="020B0004020202020204" pitchFamily="34" charset="0"/>
              </a:rPr>
              <a:t>Redis / Pub-Sub</a:t>
            </a:r>
          </a:p>
        </p:txBody>
      </p:sp>
      <p:sp>
        <p:nvSpPr>
          <p:cNvPr id="21" name="codex-arch-card-742-290">
            <a:extLst>
              <a:ext uri="{FF2B5EF4-FFF2-40B4-BE49-F238E27FC236}">
                <a16:creationId xmlns:a16="http://schemas.microsoft.com/office/drawing/2014/main" id="{2A200F81-2EC0-5399-51EE-BD7539097D11}"/>
              </a:ext>
            </a:extLst>
          </p:cNvPr>
          <p:cNvSpPr/>
          <p:nvPr/>
        </p:nvSpPr>
        <p:spPr>
          <a:xfrm>
            <a:off x="9423400" y="3426124"/>
            <a:ext cx="2159000" cy="584200"/>
          </a:xfrm>
          <a:prstGeom prst="roundRect">
            <a:avLst>
              <a:gd name="adj" fmla="val 8000"/>
            </a:avLst>
          </a:prstGeom>
          <a:solidFill>
            <a:srgbClr val="E9EFF5"/>
          </a:solidFill>
          <a:ln w="13970">
            <a:solidFill>
              <a:srgbClr val="ABBACC"/>
            </a:solidFill>
          </a:ln>
          <a:effectLst>
            <a:outerShdw blurRad="76200" dist="37027" dir="3542175" rotWithShape="0">
              <a:srgbClr val="DCE0E8">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vi-VN" b="1">
                <a:solidFill>
                  <a:srgbClr val="242C44"/>
                </a:solidFill>
                <a:latin typeface="Aptos" panose="020B0004020202020204" pitchFamily="34" charset="0"/>
              </a:rPr>
              <a:t>MinIO raw + processed</a:t>
            </a:r>
          </a:p>
        </p:txBody>
      </p:sp>
      <p:grpSp>
        <p:nvGrpSpPr>
          <p:cNvPr id="4" name="Group 3">
            <a:extLst>
              <a:ext uri="{FF2B5EF4-FFF2-40B4-BE49-F238E27FC236}">
                <a16:creationId xmlns:a16="http://schemas.microsoft.com/office/drawing/2014/main" id="{6A797762-0C30-242C-2C3C-76982EEA09EE}"/>
              </a:ext>
            </a:extLst>
          </p:cNvPr>
          <p:cNvGrpSpPr/>
          <p:nvPr/>
        </p:nvGrpSpPr>
        <p:grpSpPr>
          <a:xfrm>
            <a:off x="8219975" y="5579658"/>
            <a:ext cx="3362425" cy="950046"/>
            <a:chOff x="8219975" y="5635003"/>
            <a:chExt cx="3362425" cy="950046"/>
          </a:xfrm>
        </p:grpSpPr>
        <p:sp>
          <p:nvSpPr>
            <p:cNvPr id="31" name="codex-arch-foot-514">
              <a:extLst>
                <a:ext uri="{FF2B5EF4-FFF2-40B4-BE49-F238E27FC236}">
                  <a16:creationId xmlns:a16="http://schemas.microsoft.com/office/drawing/2014/main" id="{16F3DFF9-E552-36BD-2BF2-C2C83AE5B1C6}"/>
                </a:ext>
              </a:extLst>
            </p:cNvPr>
            <p:cNvSpPr/>
            <p:nvPr/>
          </p:nvSpPr>
          <p:spPr>
            <a:xfrm>
              <a:off x="8219975" y="5635003"/>
              <a:ext cx="3362425" cy="950046"/>
            </a:xfrm>
            <a:prstGeom prst="roundRect">
              <a:avLst>
                <a:gd name="adj" fmla="val 8000"/>
              </a:avLst>
            </a:prstGeom>
            <a:solidFill>
              <a:srgbClr val="FFFFFF"/>
            </a:solidFill>
            <a:ln w="12700">
              <a:solidFill>
                <a:srgbClr val="CED6E5"/>
              </a:solidFill>
            </a:ln>
            <a:effectLst/>
            <a:extLs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vi-VN" sz="3600"/>
            </a:p>
          </p:txBody>
        </p:sp>
        <p:sp>
          <p:nvSpPr>
            <p:cNvPr id="32" name="codex-arch-foot-title-514">
              <a:extLst>
                <a:ext uri="{FF2B5EF4-FFF2-40B4-BE49-F238E27FC236}">
                  <a16:creationId xmlns:a16="http://schemas.microsoft.com/office/drawing/2014/main" id="{BEE14D8A-00CA-C196-75EF-0953FC086CD4}"/>
                </a:ext>
              </a:extLst>
            </p:cNvPr>
            <p:cNvSpPr txBox="1"/>
            <p:nvPr/>
          </p:nvSpPr>
          <p:spPr>
            <a:xfrm>
              <a:off x="8473305" y="5712398"/>
              <a:ext cx="2855763" cy="359073"/>
            </a:xfrm>
            <a:prstGeom prst="rect">
              <a:avLst/>
            </a:prstGeom>
            <a:noFill/>
          </p:spPr>
          <p:txBody>
            <a:bodyPr vert="horz" wrap="square" lIns="50800" tIns="25400" rIns="50800" bIns="25400" rtlCol="0">
              <a:spAutoFit/>
            </a:bodyPr>
            <a:lstStyle/>
            <a:p>
              <a:pPr algn="ctr"/>
              <a:r>
                <a:rPr lang="vi-VN" sz="2000" b="1" dirty="0">
                  <a:solidFill>
                    <a:srgbClr val="242C44"/>
                  </a:solidFill>
                  <a:latin typeface="Aptos" panose="020B0004020202020204" pitchFamily="34" charset="0"/>
                </a:rPr>
                <a:t>State bền + realtime</a:t>
              </a:r>
            </a:p>
          </p:txBody>
        </p:sp>
        <p:sp>
          <p:nvSpPr>
            <p:cNvPr id="33" name="codex-arch-foot-body-514">
              <a:extLst>
                <a:ext uri="{FF2B5EF4-FFF2-40B4-BE49-F238E27FC236}">
                  <a16:creationId xmlns:a16="http://schemas.microsoft.com/office/drawing/2014/main" id="{DC98273F-DCE7-B828-5DF1-AEB9B76AC83A}"/>
                </a:ext>
              </a:extLst>
            </p:cNvPr>
            <p:cNvSpPr txBox="1"/>
            <p:nvPr/>
          </p:nvSpPr>
          <p:spPr>
            <a:xfrm>
              <a:off x="8346975" y="5985965"/>
              <a:ext cx="3164839" cy="543739"/>
            </a:xfrm>
            <a:prstGeom prst="rect">
              <a:avLst/>
            </a:prstGeom>
            <a:noFill/>
          </p:spPr>
          <p:txBody>
            <a:bodyPr vert="horz" wrap="square" lIns="50800" tIns="25400" rIns="50800" bIns="25400" rtlCol="0">
              <a:spAutoFit/>
            </a:bodyPr>
            <a:lstStyle/>
            <a:p>
              <a:pPr algn="ctr"/>
              <a:r>
                <a:rPr lang="vi-VN" sz="1600" dirty="0">
                  <a:solidFill>
                    <a:srgbClr val="60677C"/>
                  </a:solidFill>
                  <a:latin typeface="Aptos" panose="020B0004020202020204" pitchFamily="34" charset="0"/>
                </a:rPr>
                <a:t>Status lưu trong database, socket chỉ là kênh đồng bộ tiến dần.</a:t>
              </a:r>
            </a:p>
          </p:txBody>
        </p:sp>
      </p:grpSp>
      <p:sp>
        <p:nvSpPr>
          <p:cNvPr id="34" name="codex-scope-kicker">
            <a:extLst>
              <a:ext uri="{FF2B5EF4-FFF2-40B4-BE49-F238E27FC236}">
                <a16:creationId xmlns:a16="http://schemas.microsoft.com/office/drawing/2014/main" id="{70BA0A62-FD1C-35EC-1B73-778A528BE806}"/>
              </a:ext>
            </a:extLst>
          </p:cNvPr>
          <p:cNvSpPr txBox="1"/>
          <p:nvPr/>
        </p:nvSpPr>
        <p:spPr>
          <a:xfrm>
            <a:off x="4974055" y="184233"/>
            <a:ext cx="2042026" cy="420628"/>
          </a:xfrm>
          <a:prstGeom prst="rect">
            <a:avLst/>
          </a:prstGeom>
          <a:noFill/>
        </p:spPr>
        <p:txBody>
          <a:bodyPr vert="horz" wrap="square" lIns="50800" tIns="25400" rIns="50800" bIns="25400" rtlCol="0">
            <a:spAutoFit/>
          </a:bodyPr>
          <a:lstStyle/>
          <a:p>
            <a:pPr algn="ctr"/>
            <a:r>
              <a:rPr lang="en-US" sz="2400" b="1">
                <a:solidFill>
                  <a:srgbClr val="C88639"/>
                </a:solidFill>
                <a:latin typeface="Aptos" panose="020B0004020202020204" pitchFamily="34" charset="0"/>
              </a:rPr>
              <a:t>HỆ THỐNG</a:t>
            </a:r>
            <a:endParaRPr lang="vi-VN" sz="2400" b="1" dirty="0">
              <a:solidFill>
                <a:srgbClr val="C88639"/>
              </a:solidFill>
              <a:latin typeface="Aptos" panose="020B0004020202020204" pitchFamily="34" charset="0"/>
            </a:endParaRPr>
          </a:p>
        </p:txBody>
      </p:sp>
      <p:pic>
        <p:nvPicPr>
          <p:cNvPr id="40" name="Graphic 39" descr="Transfer with solid fill">
            <a:extLst>
              <a:ext uri="{FF2B5EF4-FFF2-40B4-BE49-F238E27FC236}">
                <a16:creationId xmlns:a16="http://schemas.microsoft.com/office/drawing/2014/main" id="{C4A0E7F8-FB3F-73BA-E6B1-D68DB27CFAE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798715" y="2949171"/>
            <a:ext cx="624685" cy="624685"/>
          </a:xfrm>
          <a:prstGeom prst="rect">
            <a:avLst/>
          </a:prstGeom>
        </p:spPr>
      </p:pic>
      <p:pic>
        <p:nvPicPr>
          <p:cNvPr id="42" name="Graphic 41" descr="Line arrow: Straight with solid fill">
            <a:extLst>
              <a:ext uri="{FF2B5EF4-FFF2-40B4-BE49-F238E27FC236}">
                <a16:creationId xmlns:a16="http://schemas.microsoft.com/office/drawing/2014/main" id="{C3DDAAE1-0F7E-8244-79EF-BA7EDDBCA42E}"/>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rot="10800000">
            <a:off x="3251198" y="2659378"/>
            <a:ext cx="584202" cy="584202"/>
          </a:xfrm>
          <a:prstGeom prst="rect">
            <a:avLst/>
          </a:prstGeom>
        </p:spPr>
      </p:pic>
      <p:pic>
        <p:nvPicPr>
          <p:cNvPr id="43" name="Graphic 42" descr="Line arrow: Straight with solid fill">
            <a:extLst>
              <a:ext uri="{FF2B5EF4-FFF2-40B4-BE49-F238E27FC236}">
                <a16:creationId xmlns:a16="http://schemas.microsoft.com/office/drawing/2014/main" id="{67D0FEC6-CBD7-9487-D7FA-F25CE946D699}"/>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rot="10800000">
            <a:off x="6031987" y="2659379"/>
            <a:ext cx="584202" cy="584202"/>
          </a:xfrm>
          <a:prstGeom prst="rect">
            <a:avLst/>
          </a:prstGeom>
        </p:spPr>
      </p:pic>
      <p:grpSp>
        <p:nvGrpSpPr>
          <p:cNvPr id="22" name="Group 21">
            <a:extLst>
              <a:ext uri="{FF2B5EF4-FFF2-40B4-BE49-F238E27FC236}">
                <a16:creationId xmlns:a16="http://schemas.microsoft.com/office/drawing/2014/main" id="{A17A3F29-B97F-7503-B091-AAC45A9F990B}"/>
              </a:ext>
            </a:extLst>
          </p:cNvPr>
          <p:cNvGrpSpPr/>
          <p:nvPr/>
        </p:nvGrpSpPr>
        <p:grpSpPr>
          <a:xfrm>
            <a:off x="4630687" y="5579658"/>
            <a:ext cx="3362425" cy="950046"/>
            <a:chOff x="8219975" y="5635003"/>
            <a:chExt cx="3362425" cy="950046"/>
          </a:xfrm>
        </p:grpSpPr>
        <p:sp>
          <p:nvSpPr>
            <p:cNvPr id="23" name="codex-arch-foot-514">
              <a:extLst>
                <a:ext uri="{FF2B5EF4-FFF2-40B4-BE49-F238E27FC236}">
                  <a16:creationId xmlns:a16="http://schemas.microsoft.com/office/drawing/2014/main" id="{ACB8F45E-CE7F-506A-C5E0-A1D469E2B5FD}"/>
                </a:ext>
              </a:extLst>
            </p:cNvPr>
            <p:cNvSpPr/>
            <p:nvPr/>
          </p:nvSpPr>
          <p:spPr>
            <a:xfrm>
              <a:off x="8219975" y="5635003"/>
              <a:ext cx="3362425" cy="950046"/>
            </a:xfrm>
            <a:prstGeom prst="roundRect">
              <a:avLst>
                <a:gd name="adj" fmla="val 8000"/>
              </a:avLst>
            </a:prstGeom>
            <a:solidFill>
              <a:srgbClr val="FFFFFF"/>
            </a:solidFill>
            <a:ln w="12700">
              <a:solidFill>
                <a:srgbClr val="CED6E5"/>
              </a:solidFill>
            </a:ln>
            <a:effectLst/>
            <a:extLs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vi-VN" sz="3600"/>
            </a:p>
          </p:txBody>
        </p:sp>
        <p:sp>
          <p:nvSpPr>
            <p:cNvPr id="24" name="codex-arch-foot-title-514">
              <a:extLst>
                <a:ext uri="{FF2B5EF4-FFF2-40B4-BE49-F238E27FC236}">
                  <a16:creationId xmlns:a16="http://schemas.microsoft.com/office/drawing/2014/main" id="{A7F37894-8B43-A499-5C6E-3123B4EA92EE}"/>
                </a:ext>
              </a:extLst>
            </p:cNvPr>
            <p:cNvSpPr txBox="1"/>
            <p:nvPr/>
          </p:nvSpPr>
          <p:spPr>
            <a:xfrm>
              <a:off x="8473305" y="5712398"/>
              <a:ext cx="2855763" cy="359073"/>
            </a:xfrm>
            <a:prstGeom prst="rect">
              <a:avLst/>
            </a:prstGeom>
            <a:noFill/>
          </p:spPr>
          <p:txBody>
            <a:bodyPr vert="horz" wrap="square" lIns="50800" tIns="25400" rIns="50800" bIns="25400" rtlCol="0">
              <a:spAutoFit/>
            </a:bodyPr>
            <a:lstStyle/>
            <a:p>
              <a:pPr algn="ctr"/>
              <a:r>
                <a:rPr lang="vi-VN" sz="2000" b="1" dirty="0">
                  <a:solidFill>
                    <a:srgbClr val="242C44"/>
                  </a:solidFill>
                  <a:latin typeface="Aptos" panose="020B0004020202020204" pitchFamily="34" charset="0"/>
                </a:rPr>
                <a:t>Queue-driven runtime</a:t>
              </a:r>
            </a:p>
          </p:txBody>
        </p:sp>
        <p:sp>
          <p:nvSpPr>
            <p:cNvPr id="35" name="codex-arch-foot-body-514">
              <a:extLst>
                <a:ext uri="{FF2B5EF4-FFF2-40B4-BE49-F238E27FC236}">
                  <a16:creationId xmlns:a16="http://schemas.microsoft.com/office/drawing/2014/main" id="{5FE2E193-D30D-E182-D558-7095FD5BDCEA}"/>
                </a:ext>
              </a:extLst>
            </p:cNvPr>
            <p:cNvSpPr txBox="1"/>
            <p:nvPr/>
          </p:nvSpPr>
          <p:spPr>
            <a:xfrm>
              <a:off x="8346975" y="5985965"/>
              <a:ext cx="3164839" cy="543739"/>
            </a:xfrm>
            <a:prstGeom prst="rect">
              <a:avLst/>
            </a:prstGeom>
            <a:noFill/>
          </p:spPr>
          <p:txBody>
            <a:bodyPr vert="horz" wrap="square" lIns="50800" tIns="25400" rIns="50800" bIns="25400" rtlCol="0">
              <a:spAutoFit/>
            </a:bodyPr>
            <a:lstStyle/>
            <a:p>
              <a:pPr algn="ctr"/>
              <a:r>
                <a:rPr lang="vi-VN" sz="1600" dirty="0">
                  <a:solidFill>
                    <a:srgbClr val="60677C"/>
                  </a:solidFill>
                  <a:latin typeface="Aptos" panose="020B0004020202020204" pitchFamily="34" charset="0"/>
                </a:rPr>
                <a:t>Media nặng được xử lý bất đồng bộ, không chặn HTTP path.</a:t>
              </a:r>
            </a:p>
          </p:txBody>
        </p:sp>
      </p:grpSp>
      <p:grpSp>
        <p:nvGrpSpPr>
          <p:cNvPr id="36" name="Group 35">
            <a:extLst>
              <a:ext uri="{FF2B5EF4-FFF2-40B4-BE49-F238E27FC236}">
                <a16:creationId xmlns:a16="http://schemas.microsoft.com/office/drawing/2014/main" id="{70C28144-0E30-8D10-CD20-5E47CD95BFC7}"/>
              </a:ext>
            </a:extLst>
          </p:cNvPr>
          <p:cNvGrpSpPr/>
          <p:nvPr/>
        </p:nvGrpSpPr>
        <p:grpSpPr>
          <a:xfrm>
            <a:off x="1041400" y="5579658"/>
            <a:ext cx="3362425" cy="950046"/>
            <a:chOff x="8219975" y="5635003"/>
            <a:chExt cx="3362425" cy="950046"/>
          </a:xfrm>
        </p:grpSpPr>
        <p:sp>
          <p:nvSpPr>
            <p:cNvPr id="37" name="codex-arch-foot-514">
              <a:extLst>
                <a:ext uri="{FF2B5EF4-FFF2-40B4-BE49-F238E27FC236}">
                  <a16:creationId xmlns:a16="http://schemas.microsoft.com/office/drawing/2014/main" id="{D40ECD19-B0D6-C552-5F5D-C7EA23CCF343}"/>
                </a:ext>
              </a:extLst>
            </p:cNvPr>
            <p:cNvSpPr/>
            <p:nvPr/>
          </p:nvSpPr>
          <p:spPr>
            <a:xfrm>
              <a:off x="8219975" y="5635003"/>
              <a:ext cx="3362425" cy="950046"/>
            </a:xfrm>
            <a:prstGeom prst="roundRect">
              <a:avLst>
                <a:gd name="adj" fmla="val 8000"/>
              </a:avLst>
            </a:prstGeom>
            <a:solidFill>
              <a:srgbClr val="FFFFFF"/>
            </a:solidFill>
            <a:ln w="12700">
              <a:solidFill>
                <a:srgbClr val="CED6E5"/>
              </a:solidFill>
            </a:ln>
            <a:effectLst/>
            <a:extLs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vi-VN" sz="3600"/>
            </a:p>
          </p:txBody>
        </p:sp>
        <p:sp>
          <p:nvSpPr>
            <p:cNvPr id="38" name="codex-arch-foot-title-514">
              <a:extLst>
                <a:ext uri="{FF2B5EF4-FFF2-40B4-BE49-F238E27FC236}">
                  <a16:creationId xmlns:a16="http://schemas.microsoft.com/office/drawing/2014/main" id="{41EE8744-A7A5-9A84-84F1-B21CBD9332DB}"/>
                </a:ext>
              </a:extLst>
            </p:cNvPr>
            <p:cNvSpPr txBox="1"/>
            <p:nvPr/>
          </p:nvSpPr>
          <p:spPr>
            <a:xfrm>
              <a:off x="8473305" y="5712398"/>
              <a:ext cx="2855763" cy="359073"/>
            </a:xfrm>
            <a:prstGeom prst="rect">
              <a:avLst/>
            </a:prstGeom>
            <a:noFill/>
          </p:spPr>
          <p:txBody>
            <a:bodyPr vert="horz" wrap="square" lIns="50800" tIns="25400" rIns="50800" bIns="25400" rtlCol="0">
              <a:spAutoFit/>
            </a:bodyPr>
            <a:lstStyle/>
            <a:p>
              <a:pPr algn="ctr"/>
              <a:r>
                <a:rPr lang="vi-VN" sz="2000" b="1" dirty="0">
                  <a:solidFill>
                    <a:srgbClr val="242C44"/>
                  </a:solidFill>
                  <a:latin typeface="Aptos" panose="020B0004020202020204" pitchFamily="34" charset="0"/>
                </a:rPr>
                <a:t>Tách lớp rõ ràng</a:t>
              </a:r>
            </a:p>
          </p:txBody>
        </p:sp>
        <p:sp>
          <p:nvSpPr>
            <p:cNvPr id="39" name="codex-arch-foot-body-514">
              <a:extLst>
                <a:ext uri="{FF2B5EF4-FFF2-40B4-BE49-F238E27FC236}">
                  <a16:creationId xmlns:a16="http://schemas.microsoft.com/office/drawing/2014/main" id="{8AAEEDFD-B70C-79C7-02BD-74F99F4DB033}"/>
                </a:ext>
              </a:extLst>
            </p:cNvPr>
            <p:cNvSpPr txBox="1"/>
            <p:nvPr/>
          </p:nvSpPr>
          <p:spPr>
            <a:xfrm>
              <a:off x="8346975" y="5985965"/>
              <a:ext cx="3164839" cy="543739"/>
            </a:xfrm>
            <a:prstGeom prst="rect">
              <a:avLst/>
            </a:prstGeom>
            <a:noFill/>
          </p:spPr>
          <p:txBody>
            <a:bodyPr vert="horz" wrap="square" lIns="50800" tIns="25400" rIns="50800" bIns="25400" rtlCol="0">
              <a:spAutoFit/>
            </a:bodyPr>
            <a:lstStyle/>
            <a:p>
              <a:pPr algn="ctr"/>
              <a:r>
                <a:rPr lang="vi-VN" sz="1600" dirty="0">
                  <a:solidFill>
                    <a:srgbClr val="60677C"/>
                  </a:solidFill>
                  <a:latin typeface="Aptos" panose="020B0004020202020204" pitchFamily="34" charset="0"/>
                </a:rPr>
                <a:t>Client không chạm trực tiếp AI Engine hay hạ tầng nội bộ.</a:t>
              </a:r>
            </a:p>
          </p:txBody>
        </p:sp>
      </p:grpSp>
    </p:spTree>
    <p:extLst>
      <p:ext uri="{BB962C8B-B14F-4D97-AF65-F5344CB8AC3E}">
        <p14:creationId xmlns:p14="http://schemas.microsoft.com/office/powerpoint/2010/main" val="3655738402"/>
      </p:ext>
    </p:extLst>
  </p:cSld>
  <p:clrMapOvr>
    <a:masterClrMapping/>
  </p:clrMapOvr>
  <p:transition spd="slow"/>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5F1EA"/>
        </a:solidFill>
        <a:effectLst/>
      </p:bgPr>
    </p:bg>
    <p:spTree>
      <p:nvGrpSpPr>
        <p:cNvPr id="1" name=""/>
        <p:cNvGrpSpPr/>
        <p:nvPr/>
      </p:nvGrpSpPr>
      <p:grpSpPr>
        <a:xfrm>
          <a:off x="0" y="0"/>
          <a:ext cx="0" cy="0"/>
          <a:chOff x="0" y="0"/>
          <a:chExt cx="0" cy="0"/>
        </a:xfrm>
      </p:grpSpPr>
      <p:sp>
        <p:nvSpPr>
          <p:cNvPr id="2" name="codex-seq-marker">
            <a:extLst>
              <a:ext uri="{FF2B5EF4-FFF2-40B4-BE49-F238E27FC236}">
                <a16:creationId xmlns:a16="http://schemas.microsoft.com/office/drawing/2014/main" id="{4EC10A14-EC3A-F255-FB2C-AB862AD07E4F}"/>
              </a:ext>
            </a:extLst>
          </p:cNvPr>
          <p:cNvSpPr txBox="1"/>
          <p:nvPr/>
        </p:nvSpPr>
        <p:spPr>
          <a:xfrm>
            <a:off x="0" y="0"/>
            <a:ext cx="12700" cy="41037"/>
          </a:xfrm>
          <a:prstGeom prst="rect">
            <a:avLst/>
          </a:prstGeom>
          <a:noFill/>
        </p:spPr>
        <p:txBody>
          <a:bodyPr vert="horz" lIns="25400" tIns="12700" rIns="25400" bIns="12700" rtlCol="0">
            <a:spAutoFit/>
          </a:bodyPr>
          <a:lstStyle/>
          <a:p>
            <a:endParaRPr lang="vi-VN" sz="100">
              <a:solidFill>
                <a:srgbClr val="F5F1EA"/>
              </a:solidFill>
              <a:latin typeface="Aptos" panose="020B0004020202020204" pitchFamily="34" charset="0"/>
            </a:endParaRPr>
          </a:p>
        </p:txBody>
      </p:sp>
      <p:sp>
        <p:nvSpPr>
          <p:cNvPr id="3" name="codex-seq-kicker">
            <a:extLst>
              <a:ext uri="{FF2B5EF4-FFF2-40B4-BE49-F238E27FC236}">
                <a16:creationId xmlns:a16="http://schemas.microsoft.com/office/drawing/2014/main" id="{AE771151-AC58-4F64-4B76-EC22D2E915EC}"/>
              </a:ext>
            </a:extLst>
          </p:cNvPr>
          <p:cNvSpPr txBox="1"/>
          <p:nvPr/>
        </p:nvSpPr>
        <p:spPr>
          <a:xfrm>
            <a:off x="5334000" y="203200"/>
            <a:ext cx="2032000" cy="348813"/>
          </a:xfrm>
          <a:prstGeom prst="rect">
            <a:avLst/>
          </a:prstGeom>
          <a:noFill/>
        </p:spPr>
        <p:txBody>
          <a:bodyPr vert="horz" lIns="25400" tIns="12700" rIns="25400" bIns="12700" rtlCol="0">
            <a:spAutoFit/>
          </a:bodyPr>
          <a:lstStyle/>
          <a:p>
            <a:pPr algn="ctr"/>
            <a:r>
              <a:rPr lang="vi-VN" sz="2100" b="1">
                <a:solidFill>
                  <a:srgbClr val="C88639"/>
                </a:solidFill>
                <a:latin typeface="Aptos" panose="020B0004020202020204" pitchFamily="34" charset="0"/>
              </a:rPr>
              <a:t>HỆ THỐNG</a:t>
            </a:r>
          </a:p>
        </p:txBody>
      </p:sp>
      <p:sp>
        <p:nvSpPr>
          <p:cNvPr id="4" name="codex-seq-title">
            <a:extLst>
              <a:ext uri="{FF2B5EF4-FFF2-40B4-BE49-F238E27FC236}">
                <a16:creationId xmlns:a16="http://schemas.microsoft.com/office/drawing/2014/main" id="{DA96D225-17C8-49EA-AC01-6692E162F863}"/>
              </a:ext>
            </a:extLst>
          </p:cNvPr>
          <p:cNvSpPr txBox="1"/>
          <p:nvPr/>
        </p:nvSpPr>
        <p:spPr>
          <a:xfrm>
            <a:off x="3657600" y="633283"/>
            <a:ext cx="5384800" cy="394980"/>
          </a:xfrm>
          <a:prstGeom prst="rect">
            <a:avLst/>
          </a:prstGeom>
          <a:noFill/>
        </p:spPr>
        <p:txBody>
          <a:bodyPr vert="horz" lIns="25400" tIns="12700" rIns="25400" bIns="12700" rtlCol="0">
            <a:spAutoFit/>
          </a:bodyPr>
          <a:lstStyle/>
          <a:p>
            <a:pPr algn="ctr"/>
            <a:r>
              <a:rPr lang="vi-VN" sz="2400" b="1">
                <a:solidFill>
                  <a:srgbClr val="000000"/>
                </a:solidFill>
                <a:latin typeface="Aptos" panose="020B0004020202020204" pitchFamily="34" charset="0"/>
              </a:rPr>
              <a:t>END-TO-END FLOW</a:t>
            </a:r>
          </a:p>
        </p:txBody>
      </p:sp>
      <p:sp>
        <p:nvSpPr>
          <p:cNvPr id="6" name="codex-seq-p-U">
            <a:extLst>
              <a:ext uri="{FF2B5EF4-FFF2-40B4-BE49-F238E27FC236}">
                <a16:creationId xmlns:a16="http://schemas.microsoft.com/office/drawing/2014/main" id="{8FEC1956-E404-D5C2-9FB6-718672F2F1BB}"/>
              </a:ext>
            </a:extLst>
          </p:cNvPr>
          <p:cNvSpPr/>
          <p:nvPr/>
        </p:nvSpPr>
        <p:spPr>
          <a:xfrm>
            <a:off x="353193" y="1193800"/>
            <a:ext cx="1270000" cy="406400"/>
          </a:xfrm>
          <a:prstGeom prst="roundRect">
            <a:avLst>
              <a:gd name="adj" fmla="val 8000"/>
            </a:avLst>
          </a:prstGeom>
          <a:solidFill>
            <a:srgbClr val="FFF8EF"/>
          </a:solidFill>
          <a:ln w="12700">
            <a:solidFill>
              <a:srgbClr val="DEB376"/>
            </a:solidFill>
          </a:ln>
          <a:effectLst/>
          <a:extLs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rtlCol="0" anchor="ctr"/>
          <a:lstStyle/>
          <a:p>
            <a:pPr algn="ctr"/>
            <a:r>
              <a:rPr lang="vi-VN" sz="1600" b="1" dirty="0">
                <a:solidFill>
                  <a:srgbClr val="242C44"/>
                </a:solidFill>
                <a:latin typeface="Aptos" panose="020B0004020202020204" pitchFamily="34" charset="0"/>
              </a:rPr>
              <a:t>Người dùng</a:t>
            </a:r>
          </a:p>
        </p:txBody>
      </p:sp>
      <p:cxnSp>
        <p:nvCxnSpPr>
          <p:cNvPr id="7" name="codex-seq-life-U">
            <a:extLst>
              <a:ext uri="{FF2B5EF4-FFF2-40B4-BE49-F238E27FC236}">
                <a16:creationId xmlns:a16="http://schemas.microsoft.com/office/drawing/2014/main" id="{DB3FEB46-2124-7BF5-26E8-9413D50E9694}"/>
              </a:ext>
            </a:extLst>
          </p:cNvPr>
          <p:cNvCxnSpPr/>
          <p:nvPr/>
        </p:nvCxnSpPr>
        <p:spPr>
          <a:xfrm>
            <a:off x="988193" y="1619890"/>
            <a:ext cx="0" cy="4622800"/>
          </a:xfrm>
          <a:prstGeom prst="line">
            <a:avLst/>
          </a:prstGeom>
          <a:ln w="12700">
            <a:solidFill>
              <a:srgbClr val="CED6E5"/>
            </a:solidFill>
            <a:prstDash val="dash"/>
          </a:ln>
        </p:spPr>
        <p:style>
          <a:lnRef idx="2">
            <a:schemeClr val="accent1"/>
          </a:lnRef>
          <a:fillRef idx="0">
            <a:schemeClr val="accent1"/>
          </a:fillRef>
          <a:effectRef idx="1">
            <a:schemeClr val="accent1"/>
          </a:effectRef>
          <a:fontRef idx="minor">
            <a:schemeClr val="tx1"/>
          </a:fontRef>
        </p:style>
      </p:cxnSp>
      <p:sp>
        <p:nvSpPr>
          <p:cNvPr id="8" name="codex-seq-p-M">
            <a:extLst>
              <a:ext uri="{FF2B5EF4-FFF2-40B4-BE49-F238E27FC236}">
                <a16:creationId xmlns:a16="http://schemas.microsoft.com/office/drawing/2014/main" id="{DA07635A-3BDA-806F-53B9-3506BC167DD0}"/>
              </a:ext>
            </a:extLst>
          </p:cNvPr>
          <p:cNvSpPr/>
          <p:nvPr/>
        </p:nvSpPr>
        <p:spPr>
          <a:xfrm>
            <a:off x="1828800" y="1193800"/>
            <a:ext cx="1244600" cy="406400"/>
          </a:xfrm>
          <a:prstGeom prst="roundRect">
            <a:avLst>
              <a:gd name="adj" fmla="val 8000"/>
            </a:avLst>
          </a:prstGeom>
          <a:solidFill>
            <a:srgbClr val="E9EFFC"/>
          </a:solidFill>
          <a:ln w="12700">
            <a:solidFill>
              <a:srgbClr val="A0B7E5"/>
            </a:solidFill>
          </a:ln>
          <a:effectLst/>
          <a:extLs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rtlCol="0" anchor="ctr"/>
          <a:lstStyle/>
          <a:p>
            <a:pPr algn="ctr"/>
            <a:r>
              <a:rPr lang="vi-VN" sz="1600" b="1">
                <a:solidFill>
                  <a:srgbClr val="242C44"/>
                </a:solidFill>
                <a:latin typeface="Aptos" panose="020B0004020202020204" pitchFamily="34" charset="0"/>
              </a:rPr>
              <a:t>Mobile App</a:t>
            </a:r>
          </a:p>
        </p:txBody>
      </p:sp>
      <p:cxnSp>
        <p:nvCxnSpPr>
          <p:cNvPr id="9" name="codex-seq-life-M">
            <a:extLst>
              <a:ext uri="{FF2B5EF4-FFF2-40B4-BE49-F238E27FC236}">
                <a16:creationId xmlns:a16="http://schemas.microsoft.com/office/drawing/2014/main" id="{399E0E94-AC77-5289-6FAB-8F2A96F46FBA}"/>
              </a:ext>
            </a:extLst>
          </p:cNvPr>
          <p:cNvCxnSpPr/>
          <p:nvPr/>
        </p:nvCxnSpPr>
        <p:spPr>
          <a:xfrm>
            <a:off x="2540000" y="1625600"/>
            <a:ext cx="0" cy="4622800"/>
          </a:xfrm>
          <a:prstGeom prst="line">
            <a:avLst/>
          </a:prstGeom>
          <a:ln w="12700">
            <a:solidFill>
              <a:srgbClr val="CED6E5"/>
            </a:solidFill>
            <a:prstDash val="dash"/>
          </a:ln>
        </p:spPr>
        <p:style>
          <a:lnRef idx="2">
            <a:schemeClr val="accent1"/>
          </a:lnRef>
          <a:fillRef idx="0">
            <a:schemeClr val="accent1"/>
          </a:fillRef>
          <a:effectRef idx="1">
            <a:schemeClr val="accent1"/>
          </a:effectRef>
          <a:fontRef idx="minor">
            <a:schemeClr val="tx1"/>
          </a:fontRef>
        </p:style>
      </p:cxnSp>
      <p:sp>
        <p:nvSpPr>
          <p:cNvPr id="10" name="codex-seq-p-API">
            <a:extLst>
              <a:ext uri="{FF2B5EF4-FFF2-40B4-BE49-F238E27FC236}">
                <a16:creationId xmlns:a16="http://schemas.microsoft.com/office/drawing/2014/main" id="{EF2A5D50-7794-C813-DEAF-E13DD5111C9C}"/>
              </a:ext>
            </a:extLst>
          </p:cNvPr>
          <p:cNvSpPr/>
          <p:nvPr/>
        </p:nvSpPr>
        <p:spPr>
          <a:xfrm>
            <a:off x="3225800" y="1193800"/>
            <a:ext cx="1066800" cy="406400"/>
          </a:xfrm>
          <a:prstGeom prst="roundRect">
            <a:avLst>
              <a:gd name="adj" fmla="val 8000"/>
            </a:avLst>
          </a:prstGeom>
          <a:solidFill>
            <a:srgbClr val="F6ECE2"/>
          </a:solidFill>
          <a:ln w="12700">
            <a:solidFill>
              <a:srgbClr val="DDB892"/>
            </a:solidFill>
          </a:ln>
          <a:effectLst/>
          <a:extLs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rtlCol="0" anchor="ctr"/>
          <a:lstStyle/>
          <a:p>
            <a:pPr algn="ctr"/>
            <a:r>
              <a:rPr lang="vi-VN" sz="1400" b="1" dirty="0">
                <a:solidFill>
                  <a:srgbClr val="242C44"/>
                </a:solidFill>
                <a:latin typeface="Aptos" panose="020B0004020202020204" pitchFamily="34" charset="0"/>
              </a:rPr>
              <a:t>Backend API</a:t>
            </a:r>
          </a:p>
        </p:txBody>
      </p:sp>
      <p:cxnSp>
        <p:nvCxnSpPr>
          <p:cNvPr id="11" name="codex-seq-life-API">
            <a:extLst>
              <a:ext uri="{FF2B5EF4-FFF2-40B4-BE49-F238E27FC236}">
                <a16:creationId xmlns:a16="http://schemas.microsoft.com/office/drawing/2014/main" id="{BBEE4EB1-28CE-53CE-1738-E3CA53C4DD54}"/>
              </a:ext>
            </a:extLst>
          </p:cNvPr>
          <p:cNvCxnSpPr/>
          <p:nvPr/>
        </p:nvCxnSpPr>
        <p:spPr>
          <a:xfrm>
            <a:off x="3759200" y="1625600"/>
            <a:ext cx="0" cy="4622800"/>
          </a:xfrm>
          <a:prstGeom prst="line">
            <a:avLst/>
          </a:prstGeom>
          <a:ln w="12700">
            <a:solidFill>
              <a:srgbClr val="CED6E5"/>
            </a:solidFill>
            <a:prstDash val="dash"/>
          </a:ln>
        </p:spPr>
        <p:style>
          <a:lnRef idx="2">
            <a:schemeClr val="accent1"/>
          </a:lnRef>
          <a:fillRef idx="0">
            <a:schemeClr val="accent1"/>
          </a:fillRef>
          <a:effectRef idx="1">
            <a:schemeClr val="accent1"/>
          </a:effectRef>
          <a:fontRef idx="minor">
            <a:schemeClr val="tx1"/>
          </a:fontRef>
        </p:style>
      </p:cxnSp>
      <p:sp>
        <p:nvSpPr>
          <p:cNvPr id="12" name="codex-seq-p-W">
            <a:extLst>
              <a:ext uri="{FF2B5EF4-FFF2-40B4-BE49-F238E27FC236}">
                <a16:creationId xmlns:a16="http://schemas.microsoft.com/office/drawing/2014/main" id="{9BB012D9-0FC3-5192-C34A-730C1437FC02}"/>
              </a:ext>
            </a:extLst>
          </p:cNvPr>
          <p:cNvSpPr/>
          <p:nvPr/>
        </p:nvSpPr>
        <p:spPr>
          <a:xfrm>
            <a:off x="4445000" y="1193800"/>
            <a:ext cx="1066800" cy="406400"/>
          </a:xfrm>
          <a:prstGeom prst="roundRect">
            <a:avLst>
              <a:gd name="adj" fmla="val 8000"/>
            </a:avLst>
          </a:prstGeom>
          <a:solidFill>
            <a:srgbClr val="EEE9FC"/>
          </a:solidFill>
          <a:ln w="12700">
            <a:solidFill>
              <a:srgbClr val="B5A5E4"/>
            </a:solidFill>
          </a:ln>
          <a:effectLst/>
          <a:extLs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rtlCol="0" anchor="ctr"/>
          <a:lstStyle/>
          <a:p>
            <a:pPr algn="ctr"/>
            <a:r>
              <a:rPr lang="vi-VN" sz="1400" b="1" dirty="0">
                <a:solidFill>
                  <a:srgbClr val="242C44"/>
                </a:solidFill>
                <a:latin typeface="Aptos" panose="020B0004020202020204" pitchFamily="34" charset="0"/>
              </a:rPr>
              <a:t>Backend Worker</a:t>
            </a:r>
          </a:p>
        </p:txBody>
      </p:sp>
      <p:cxnSp>
        <p:nvCxnSpPr>
          <p:cNvPr id="13" name="codex-seq-life-W">
            <a:extLst>
              <a:ext uri="{FF2B5EF4-FFF2-40B4-BE49-F238E27FC236}">
                <a16:creationId xmlns:a16="http://schemas.microsoft.com/office/drawing/2014/main" id="{86205316-43C7-91F1-F31D-32A635E13CFF}"/>
              </a:ext>
            </a:extLst>
          </p:cNvPr>
          <p:cNvCxnSpPr/>
          <p:nvPr/>
        </p:nvCxnSpPr>
        <p:spPr>
          <a:xfrm>
            <a:off x="4978400" y="1625600"/>
            <a:ext cx="0" cy="4622800"/>
          </a:xfrm>
          <a:prstGeom prst="line">
            <a:avLst/>
          </a:prstGeom>
          <a:ln w="12700">
            <a:solidFill>
              <a:srgbClr val="CED6E5"/>
            </a:solidFill>
            <a:prstDash val="dash"/>
          </a:ln>
        </p:spPr>
        <p:style>
          <a:lnRef idx="2">
            <a:schemeClr val="accent1"/>
          </a:lnRef>
          <a:fillRef idx="0">
            <a:schemeClr val="accent1"/>
          </a:fillRef>
          <a:effectRef idx="1">
            <a:schemeClr val="accent1"/>
          </a:effectRef>
          <a:fontRef idx="minor">
            <a:schemeClr val="tx1"/>
          </a:fontRef>
        </p:style>
      </p:cxnSp>
      <p:sp>
        <p:nvSpPr>
          <p:cNvPr id="14" name="codex-seq-p-AI">
            <a:extLst>
              <a:ext uri="{FF2B5EF4-FFF2-40B4-BE49-F238E27FC236}">
                <a16:creationId xmlns:a16="http://schemas.microsoft.com/office/drawing/2014/main" id="{58448157-FEFB-C32F-EF12-CBCA019B6D2E}"/>
              </a:ext>
            </a:extLst>
          </p:cNvPr>
          <p:cNvSpPr/>
          <p:nvPr/>
        </p:nvSpPr>
        <p:spPr>
          <a:xfrm>
            <a:off x="5664200" y="1193800"/>
            <a:ext cx="1066800" cy="406400"/>
          </a:xfrm>
          <a:prstGeom prst="roundRect">
            <a:avLst>
              <a:gd name="adj" fmla="val 8000"/>
            </a:avLst>
          </a:prstGeom>
          <a:solidFill>
            <a:srgbClr val="E5F1EF"/>
          </a:solidFill>
          <a:ln w="12700">
            <a:solidFill>
              <a:srgbClr val="97BEB7"/>
            </a:solidFill>
          </a:ln>
          <a:effectLst/>
          <a:extLs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rtlCol="0" anchor="ctr"/>
          <a:lstStyle/>
          <a:p>
            <a:pPr algn="ctr"/>
            <a:r>
              <a:rPr lang="vi-VN" sz="1600" b="1" dirty="0">
                <a:solidFill>
                  <a:srgbClr val="242C44"/>
                </a:solidFill>
                <a:latin typeface="Aptos" panose="020B0004020202020204" pitchFamily="34" charset="0"/>
              </a:rPr>
              <a:t>AI Engine</a:t>
            </a:r>
          </a:p>
        </p:txBody>
      </p:sp>
      <p:cxnSp>
        <p:nvCxnSpPr>
          <p:cNvPr id="15" name="codex-seq-life-AI">
            <a:extLst>
              <a:ext uri="{FF2B5EF4-FFF2-40B4-BE49-F238E27FC236}">
                <a16:creationId xmlns:a16="http://schemas.microsoft.com/office/drawing/2014/main" id="{40AB7737-481E-5E93-0563-5E28FDEAEC25}"/>
              </a:ext>
            </a:extLst>
          </p:cNvPr>
          <p:cNvCxnSpPr/>
          <p:nvPr/>
        </p:nvCxnSpPr>
        <p:spPr>
          <a:xfrm>
            <a:off x="6197600" y="1625600"/>
            <a:ext cx="0" cy="4622800"/>
          </a:xfrm>
          <a:prstGeom prst="line">
            <a:avLst/>
          </a:prstGeom>
          <a:ln w="12700">
            <a:solidFill>
              <a:srgbClr val="CED6E5"/>
            </a:solidFill>
            <a:prstDash val="dash"/>
          </a:ln>
        </p:spPr>
        <p:style>
          <a:lnRef idx="2">
            <a:schemeClr val="accent1"/>
          </a:lnRef>
          <a:fillRef idx="0">
            <a:schemeClr val="accent1"/>
          </a:fillRef>
          <a:effectRef idx="1">
            <a:schemeClr val="accent1"/>
          </a:effectRef>
          <a:fontRef idx="minor">
            <a:schemeClr val="tx1"/>
          </a:fontRef>
        </p:style>
      </p:cxnSp>
      <p:sp>
        <p:nvSpPr>
          <p:cNvPr id="16" name="codex-seq-p-DB">
            <a:extLst>
              <a:ext uri="{FF2B5EF4-FFF2-40B4-BE49-F238E27FC236}">
                <a16:creationId xmlns:a16="http://schemas.microsoft.com/office/drawing/2014/main" id="{6EB6EEC7-F1AE-1146-5113-8C3EC3C6490E}"/>
              </a:ext>
            </a:extLst>
          </p:cNvPr>
          <p:cNvSpPr/>
          <p:nvPr/>
        </p:nvSpPr>
        <p:spPr>
          <a:xfrm>
            <a:off x="6825647" y="1193800"/>
            <a:ext cx="1169737" cy="406400"/>
          </a:xfrm>
          <a:prstGeom prst="roundRect">
            <a:avLst>
              <a:gd name="adj" fmla="val 8000"/>
            </a:avLst>
          </a:prstGeom>
          <a:solidFill>
            <a:srgbClr val="E9EFF5"/>
          </a:solidFill>
          <a:ln w="12700">
            <a:solidFill>
              <a:srgbClr val="ABBACC"/>
            </a:solidFill>
          </a:ln>
          <a:effectLst/>
          <a:extLs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rtlCol="0" anchor="ctr"/>
          <a:lstStyle/>
          <a:p>
            <a:pPr algn="ctr"/>
            <a:r>
              <a:rPr lang="vi-VN" sz="1400" b="1" dirty="0">
                <a:solidFill>
                  <a:srgbClr val="242C44"/>
                </a:solidFill>
                <a:latin typeface="Aptos" panose="020B0004020202020204" pitchFamily="34" charset="0"/>
              </a:rPr>
              <a:t>PostgreSQL</a:t>
            </a:r>
          </a:p>
        </p:txBody>
      </p:sp>
      <p:cxnSp>
        <p:nvCxnSpPr>
          <p:cNvPr id="17" name="codex-seq-life-DB">
            <a:extLst>
              <a:ext uri="{FF2B5EF4-FFF2-40B4-BE49-F238E27FC236}">
                <a16:creationId xmlns:a16="http://schemas.microsoft.com/office/drawing/2014/main" id="{F0E21B1E-6F85-DBD6-94BA-B6CD8250708C}"/>
              </a:ext>
            </a:extLst>
          </p:cNvPr>
          <p:cNvCxnSpPr/>
          <p:nvPr/>
        </p:nvCxnSpPr>
        <p:spPr>
          <a:xfrm>
            <a:off x="7416800" y="1625600"/>
            <a:ext cx="0" cy="4622800"/>
          </a:xfrm>
          <a:prstGeom prst="line">
            <a:avLst/>
          </a:prstGeom>
          <a:ln w="12700">
            <a:solidFill>
              <a:srgbClr val="CED6E5"/>
            </a:solidFill>
            <a:prstDash val="dash"/>
          </a:ln>
        </p:spPr>
        <p:style>
          <a:lnRef idx="2">
            <a:schemeClr val="accent1"/>
          </a:lnRef>
          <a:fillRef idx="0">
            <a:schemeClr val="accent1"/>
          </a:fillRef>
          <a:effectRef idx="1">
            <a:schemeClr val="accent1"/>
          </a:effectRef>
          <a:fontRef idx="minor">
            <a:schemeClr val="tx1"/>
          </a:fontRef>
        </p:style>
      </p:cxnSp>
      <p:sp>
        <p:nvSpPr>
          <p:cNvPr id="18" name="codex-seq-p-O">
            <a:extLst>
              <a:ext uri="{FF2B5EF4-FFF2-40B4-BE49-F238E27FC236}">
                <a16:creationId xmlns:a16="http://schemas.microsoft.com/office/drawing/2014/main" id="{178A9967-67EB-4245-CD9D-4933B1AAC520}"/>
              </a:ext>
            </a:extLst>
          </p:cNvPr>
          <p:cNvSpPr/>
          <p:nvPr/>
        </p:nvSpPr>
        <p:spPr>
          <a:xfrm>
            <a:off x="8102600" y="1193800"/>
            <a:ext cx="1066800" cy="406400"/>
          </a:xfrm>
          <a:prstGeom prst="roundRect">
            <a:avLst>
              <a:gd name="adj" fmla="val 8000"/>
            </a:avLst>
          </a:prstGeom>
          <a:solidFill>
            <a:srgbClr val="E9EFF5"/>
          </a:solidFill>
          <a:ln w="12700">
            <a:solidFill>
              <a:srgbClr val="ABBACC"/>
            </a:solidFill>
          </a:ln>
          <a:effectLst/>
          <a:extLs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rtlCol="0" anchor="ctr"/>
          <a:lstStyle/>
          <a:p>
            <a:pPr algn="ctr"/>
            <a:r>
              <a:rPr lang="vi-VN" sz="1600" b="1">
                <a:solidFill>
                  <a:srgbClr val="242C44"/>
                </a:solidFill>
                <a:latin typeface="Aptos" panose="020B0004020202020204" pitchFamily="34" charset="0"/>
              </a:rPr>
              <a:t>MinIO</a:t>
            </a:r>
          </a:p>
        </p:txBody>
      </p:sp>
      <p:cxnSp>
        <p:nvCxnSpPr>
          <p:cNvPr id="19" name="codex-seq-life-O">
            <a:extLst>
              <a:ext uri="{FF2B5EF4-FFF2-40B4-BE49-F238E27FC236}">
                <a16:creationId xmlns:a16="http://schemas.microsoft.com/office/drawing/2014/main" id="{E6FA083C-9EB1-BD0B-7206-9ED87AB3C4CA}"/>
              </a:ext>
            </a:extLst>
          </p:cNvPr>
          <p:cNvCxnSpPr/>
          <p:nvPr/>
        </p:nvCxnSpPr>
        <p:spPr>
          <a:xfrm>
            <a:off x="8636000" y="1625600"/>
            <a:ext cx="0" cy="4622800"/>
          </a:xfrm>
          <a:prstGeom prst="line">
            <a:avLst/>
          </a:prstGeom>
          <a:ln w="12700">
            <a:solidFill>
              <a:srgbClr val="CED6E5"/>
            </a:solidFill>
            <a:prstDash val="dash"/>
          </a:ln>
        </p:spPr>
        <p:style>
          <a:lnRef idx="2">
            <a:schemeClr val="accent1"/>
          </a:lnRef>
          <a:fillRef idx="0">
            <a:schemeClr val="accent1"/>
          </a:fillRef>
          <a:effectRef idx="1">
            <a:schemeClr val="accent1"/>
          </a:effectRef>
          <a:fontRef idx="minor">
            <a:schemeClr val="tx1"/>
          </a:fontRef>
        </p:style>
      </p:cxnSp>
      <p:sp>
        <p:nvSpPr>
          <p:cNvPr id="20" name="codex-seq-p-R">
            <a:extLst>
              <a:ext uri="{FF2B5EF4-FFF2-40B4-BE49-F238E27FC236}">
                <a16:creationId xmlns:a16="http://schemas.microsoft.com/office/drawing/2014/main" id="{06D97C48-1D1B-6B7F-C697-F656B7BFFB89}"/>
              </a:ext>
            </a:extLst>
          </p:cNvPr>
          <p:cNvSpPr/>
          <p:nvPr/>
        </p:nvSpPr>
        <p:spPr>
          <a:xfrm>
            <a:off x="9321800" y="1193800"/>
            <a:ext cx="1342992" cy="406400"/>
          </a:xfrm>
          <a:prstGeom prst="roundRect">
            <a:avLst>
              <a:gd name="adj" fmla="val 8000"/>
            </a:avLst>
          </a:prstGeom>
          <a:solidFill>
            <a:srgbClr val="EEE9FC"/>
          </a:solidFill>
          <a:ln w="12700">
            <a:solidFill>
              <a:srgbClr val="B5A5E4"/>
            </a:solidFill>
          </a:ln>
          <a:effectLst/>
          <a:extLs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rtlCol="0" anchor="ctr"/>
          <a:lstStyle/>
          <a:p>
            <a:pPr algn="ctr"/>
            <a:r>
              <a:rPr lang="vi-VN" sz="1400" b="1" dirty="0">
                <a:solidFill>
                  <a:srgbClr val="242C44"/>
                </a:solidFill>
                <a:latin typeface="Aptos" panose="020B0004020202020204" pitchFamily="34" charset="0"/>
              </a:rPr>
              <a:t>Redis/BullMQ</a:t>
            </a:r>
          </a:p>
        </p:txBody>
      </p:sp>
      <p:cxnSp>
        <p:nvCxnSpPr>
          <p:cNvPr id="21" name="codex-seq-life-R">
            <a:extLst>
              <a:ext uri="{FF2B5EF4-FFF2-40B4-BE49-F238E27FC236}">
                <a16:creationId xmlns:a16="http://schemas.microsoft.com/office/drawing/2014/main" id="{2DDEDFEB-EC5A-7D73-B13B-16D8440228A3}"/>
              </a:ext>
            </a:extLst>
          </p:cNvPr>
          <p:cNvCxnSpPr/>
          <p:nvPr/>
        </p:nvCxnSpPr>
        <p:spPr>
          <a:xfrm>
            <a:off x="10028454" y="1600200"/>
            <a:ext cx="0" cy="4622800"/>
          </a:xfrm>
          <a:prstGeom prst="line">
            <a:avLst/>
          </a:prstGeom>
          <a:ln w="12700">
            <a:solidFill>
              <a:srgbClr val="CED6E5"/>
            </a:solidFill>
            <a:prstDash val="dash"/>
          </a:ln>
        </p:spPr>
        <p:style>
          <a:lnRef idx="2">
            <a:schemeClr val="accent1"/>
          </a:lnRef>
          <a:fillRef idx="0">
            <a:schemeClr val="accent1"/>
          </a:fillRef>
          <a:effectRef idx="1">
            <a:schemeClr val="accent1"/>
          </a:effectRef>
          <a:fontRef idx="minor">
            <a:schemeClr val="tx1"/>
          </a:fontRef>
        </p:style>
      </p:cxnSp>
      <p:sp>
        <p:nvSpPr>
          <p:cNvPr id="22" name="codex-seq-p-S">
            <a:extLst>
              <a:ext uri="{FF2B5EF4-FFF2-40B4-BE49-F238E27FC236}">
                <a16:creationId xmlns:a16="http://schemas.microsoft.com/office/drawing/2014/main" id="{F8F2E128-CAF0-C0A2-6623-7BCFF6002D44}"/>
              </a:ext>
            </a:extLst>
          </p:cNvPr>
          <p:cNvSpPr/>
          <p:nvPr/>
        </p:nvSpPr>
        <p:spPr>
          <a:xfrm>
            <a:off x="10772007" y="1185512"/>
            <a:ext cx="1066800" cy="406400"/>
          </a:xfrm>
          <a:prstGeom prst="roundRect">
            <a:avLst>
              <a:gd name="adj" fmla="val 8000"/>
            </a:avLst>
          </a:prstGeom>
          <a:solidFill>
            <a:srgbClr val="E9EFFC"/>
          </a:solidFill>
          <a:ln w="12700">
            <a:solidFill>
              <a:srgbClr val="A0B7E5"/>
            </a:solidFill>
          </a:ln>
          <a:effectLst/>
          <a:extLs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rtlCol="0" anchor="ctr"/>
          <a:lstStyle/>
          <a:p>
            <a:pPr algn="ctr"/>
            <a:r>
              <a:rPr lang="vi-VN" sz="1600" b="1" dirty="0">
                <a:solidFill>
                  <a:srgbClr val="242C44"/>
                </a:solidFill>
                <a:latin typeface="Aptos" panose="020B0004020202020204" pitchFamily="34" charset="0"/>
              </a:rPr>
              <a:t>Socket</a:t>
            </a:r>
          </a:p>
        </p:txBody>
      </p:sp>
      <p:cxnSp>
        <p:nvCxnSpPr>
          <p:cNvPr id="23" name="codex-seq-life-S">
            <a:extLst>
              <a:ext uri="{FF2B5EF4-FFF2-40B4-BE49-F238E27FC236}">
                <a16:creationId xmlns:a16="http://schemas.microsoft.com/office/drawing/2014/main" id="{DA46597D-F27D-AE23-E288-3909D608F032}"/>
              </a:ext>
            </a:extLst>
          </p:cNvPr>
          <p:cNvCxnSpPr/>
          <p:nvPr/>
        </p:nvCxnSpPr>
        <p:spPr>
          <a:xfrm>
            <a:off x="11305407" y="1617312"/>
            <a:ext cx="0" cy="4622800"/>
          </a:xfrm>
          <a:prstGeom prst="line">
            <a:avLst/>
          </a:prstGeom>
          <a:ln w="12700">
            <a:solidFill>
              <a:srgbClr val="CED6E5"/>
            </a:solidFill>
            <a:prstDash val="dash"/>
          </a:ln>
        </p:spPr>
        <p:style>
          <a:lnRef idx="2">
            <a:schemeClr val="accent1"/>
          </a:lnRef>
          <a:fillRef idx="0">
            <a:schemeClr val="accent1"/>
          </a:fillRef>
          <a:effectRef idx="1">
            <a:schemeClr val="accent1"/>
          </a:effectRef>
          <a:fontRef idx="minor">
            <a:schemeClr val="tx1"/>
          </a:fontRef>
        </p:style>
      </p:cxnSp>
      <p:cxnSp>
        <p:nvCxnSpPr>
          <p:cNvPr id="24" name="codex-seq-msg-line-1">
            <a:extLst>
              <a:ext uri="{FF2B5EF4-FFF2-40B4-BE49-F238E27FC236}">
                <a16:creationId xmlns:a16="http://schemas.microsoft.com/office/drawing/2014/main" id="{241FBEBF-7EF5-D162-17B5-56FB0CA46CB9}"/>
              </a:ext>
            </a:extLst>
          </p:cNvPr>
          <p:cNvCxnSpPr>
            <a:cxnSpLocks/>
          </p:cNvCxnSpPr>
          <p:nvPr/>
        </p:nvCxnSpPr>
        <p:spPr>
          <a:xfrm>
            <a:off x="988193" y="1993900"/>
            <a:ext cx="1551807" cy="0"/>
          </a:xfrm>
          <a:prstGeom prst="line">
            <a:avLst/>
          </a:prstGeom>
          <a:ln w="17780">
            <a:solidFill>
              <a:srgbClr val="C88639"/>
            </a:solidFill>
            <a:tailEnd type="arrow"/>
          </a:ln>
        </p:spPr>
        <p:style>
          <a:lnRef idx="2">
            <a:schemeClr val="accent1"/>
          </a:lnRef>
          <a:fillRef idx="0">
            <a:schemeClr val="accent1"/>
          </a:fillRef>
          <a:effectRef idx="1">
            <a:schemeClr val="accent1"/>
          </a:effectRef>
          <a:fontRef idx="minor">
            <a:schemeClr val="tx1"/>
          </a:fontRef>
        </p:style>
      </p:cxnSp>
      <p:sp>
        <p:nvSpPr>
          <p:cNvPr id="25" name="codex-seq-msg-text-1">
            <a:extLst>
              <a:ext uri="{FF2B5EF4-FFF2-40B4-BE49-F238E27FC236}">
                <a16:creationId xmlns:a16="http://schemas.microsoft.com/office/drawing/2014/main" id="{D44231DF-4650-1A2D-8D2B-55789F58EF3F}"/>
              </a:ext>
            </a:extLst>
          </p:cNvPr>
          <p:cNvSpPr txBox="1"/>
          <p:nvPr/>
        </p:nvSpPr>
        <p:spPr>
          <a:xfrm>
            <a:off x="1026160" y="2075810"/>
            <a:ext cx="1450207" cy="394980"/>
          </a:xfrm>
          <a:prstGeom prst="rect">
            <a:avLst/>
          </a:prstGeom>
          <a:noFill/>
        </p:spPr>
        <p:txBody>
          <a:bodyPr vert="horz" wrap="square" lIns="25400" tIns="12700" rIns="25400" bIns="12700" rtlCol="0">
            <a:spAutoFit/>
          </a:bodyPr>
          <a:lstStyle/>
          <a:p>
            <a:pPr algn="ctr"/>
            <a:r>
              <a:rPr lang="vi-VN" sz="1200" dirty="0">
                <a:solidFill>
                  <a:srgbClr val="60677C"/>
                </a:solidFill>
                <a:latin typeface="Aptos" panose="020B0004020202020204" pitchFamily="34" charset="0"/>
              </a:rPr>
              <a:t>Chọn file hoặc nhập YouTube URL</a:t>
            </a:r>
          </a:p>
        </p:txBody>
      </p:sp>
      <p:cxnSp>
        <p:nvCxnSpPr>
          <p:cNvPr id="26" name="codex-seq-msg-line-2">
            <a:extLst>
              <a:ext uri="{FF2B5EF4-FFF2-40B4-BE49-F238E27FC236}">
                <a16:creationId xmlns:a16="http://schemas.microsoft.com/office/drawing/2014/main" id="{F8E01E13-8DEC-83BA-76A2-9B7B6DE7AF87}"/>
              </a:ext>
            </a:extLst>
          </p:cNvPr>
          <p:cNvCxnSpPr/>
          <p:nvPr/>
        </p:nvCxnSpPr>
        <p:spPr>
          <a:xfrm>
            <a:off x="2540000" y="2273300"/>
            <a:ext cx="1219200" cy="0"/>
          </a:xfrm>
          <a:prstGeom prst="line">
            <a:avLst/>
          </a:prstGeom>
          <a:ln w="17780">
            <a:solidFill>
              <a:srgbClr val="C88639"/>
            </a:solidFill>
            <a:tailEnd type="arrow"/>
          </a:ln>
        </p:spPr>
        <p:style>
          <a:lnRef idx="2">
            <a:schemeClr val="accent1"/>
          </a:lnRef>
          <a:fillRef idx="0">
            <a:schemeClr val="accent1"/>
          </a:fillRef>
          <a:effectRef idx="1">
            <a:schemeClr val="accent1"/>
          </a:effectRef>
          <a:fontRef idx="minor">
            <a:schemeClr val="tx1"/>
          </a:fontRef>
        </p:style>
      </p:cxnSp>
      <p:sp>
        <p:nvSpPr>
          <p:cNvPr id="27" name="codex-seq-msg-text-2">
            <a:extLst>
              <a:ext uri="{FF2B5EF4-FFF2-40B4-BE49-F238E27FC236}">
                <a16:creationId xmlns:a16="http://schemas.microsoft.com/office/drawing/2014/main" id="{E90D0DC1-F37A-4BB3-DC40-A62ABCA584DB}"/>
              </a:ext>
            </a:extLst>
          </p:cNvPr>
          <p:cNvSpPr txBox="1"/>
          <p:nvPr/>
        </p:nvSpPr>
        <p:spPr>
          <a:xfrm>
            <a:off x="2564063" y="2379971"/>
            <a:ext cx="1117600" cy="579646"/>
          </a:xfrm>
          <a:prstGeom prst="rect">
            <a:avLst/>
          </a:prstGeom>
          <a:noFill/>
        </p:spPr>
        <p:txBody>
          <a:bodyPr vert="horz" lIns="25400" tIns="12700" rIns="25400" bIns="12700" rtlCol="0">
            <a:spAutoFit/>
          </a:bodyPr>
          <a:lstStyle/>
          <a:p>
            <a:pPr algn="ctr"/>
            <a:r>
              <a:rPr lang="en-US" sz="1200" dirty="0">
                <a:solidFill>
                  <a:srgbClr val="60677C"/>
                </a:solidFill>
                <a:latin typeface="Aptos" panose="020B0004020202020204" pitchFamily="34" charset="0"/>
              </a:rPr>
              <a:t>Xin </a:t>
            </a:r>
            <a:r>
              <a:rPr lang="en-US" sz="1200" dirty="0" err="1">
                <a:solidFill>
                  <a:srgbClr val="60677C"/>
                </a:solidFill>
                <a:latin typeface="Aptos" panose="020B0004020202020204" pitchFamily="34" charset="0"/>
              </a:rPr>
              <a:t>presigned</a:t>
            </a:r>
            <a:r>
              <a:rPr lang="en-US" sz="1200" dirty="0">
                <a:solidFill>
                  <a:srgbClr val="60677C"/>
                </a:solidFill>
                <a:latin typeface="Aptos" panose="020B0004020202020204" pitchFamily="34" charset="0"/>
              </a:rPr>
              <a:t> URL </a:t>
            </a:r>
            <a:r>
              <a:rPr lang="en-US" sz="1200" dirty="0" err="1">
                <a:solidFill>
                  <a:srgbClr val="60677C"/>
                </a:solidFill>
                <a:latin typeface="Aptos" panose="020B0004020202020204" pitchFamily="34" charset="0"/>
              </a:rPr>
              <a:t>hoặc</a:t>
            </a:r>
            <a:r>
              <a:rPr lang="en-US" sz="1200" dirty="0">
                <a:solidFill>
                  <a:srgbClr val="60677C"/>
                </a:solidFill>
                <a:latin typeface="Aptos" panose="020B0004020202020204" pitchFamily="34" charset="0"/>
              </a:rPr>
              <a:t> submit YouTube</a:t>
            </a:r>
            <a:endParaRPr lang="vi-VN" sz="1200" dirty="0">
              <a:solidFill>
                <a:srgbClr val="60677C"/>
              </a:solidFill>
              <a:latin typeface="Aptos" panose="020B0004020202020204" pitchFamily="34" charset="0"/>
            </a:endParaRPr>
          </a:p>
        </p:txBody>
      </p:sp>
      <p:cxnSp>
        <p:nvCxnSpPr>
          <p:cNvPr id="28" name="codex-seq-msg-line-3">
            <a:extLst>
              <a:ext uri="{FF2B5EF4-FFF2-40B4-BE49-F238E27FC236}">
                <a16:creationId xmlns:a16="http://schemas.microsoft.com/office/drawing/2014/main" id="{0F9B7DD8-49DB-B988-19C4-6394A2D4DC57}"/>
              </a:ext>
            </a:extLst>
          </p:cNvPr>
          <p:cNvCxnSpPr/>
          <p:nvPr/>
        </p:nvCxnSpPr>
        <p:spPr>
          <a:xfrm>
            <a:off x="3759200" y="2552700"/>
            <a:ext cx="3657600" cy="0"/>
          </a:xfrm>
          <a:prstGeom prst="line">
            <a:avLst/>
          </a:prstGeom>
          <a:ln w="17780">
            <a:solidFill>
              <a:srgbClr val="C88639"/>
            </a:solidFill>
            <a:tailEnd type="arrow"/>
          </a:ln>
        </p:spPr>
        <p:style>
          <a:lnRef idx="2">
            <a:schemeClr val="accent1"/>
          </a:lnRef>
          <a:fillRef idx="0">
            <a:schemeClr val="accent1"/>
          </a:fillRef>
          <a:effectRef idx="1">
            <a:schemeClr val="accent1"/>
          </a:effectRef>
          <a:fontRef idx="minor">
            <a:schemeClr val="tx1"/>
          </a:fontRef>
        </p:style>
      </p:cxnSp>
      <p:sp>
        <p:nvSpPr>
          <p:cNvPr id="29" name="codex-seq-msg-text-3">
            <a:extLst>
              <a:ext uri="{FF2B5EF4-FFF2-40B4-BE49-F238E27FC236}">
                <a16:creationId xmlns:a16="http://schemas.microsoft.com/office/drawing/2014/main" id="{43B403FC-3F88-10C7-3DA1-C5E71C6BB56D}"/>
              </a:ext>
            </a:extLst>
          </p:cNvPr>
          <p:cNvSpPr txBox="1"/>
          <p:nvPr/>
        </p:nvSpPr>
        <p:spPr>
          <a:xfrm>
            <a:off x="3816953" y="2310637"/>
            <a:ext cx="3556000" cy="210314"/>
          </a:xfrm>
          <a:prstGeom prst="rect">
            <a:avLst/>
          </a:prstGeom>
          <a:noFill/>
        </p:spPr>
        <p:txBody>
          <a:bodyPr vert="horz" lIns="25400" tIns="12700" rIns="25400" bIns="12700" rtlCol="0">
            <a:spAutoFit/>
          </a:bodyPr>
          <a:lstStyle/>
          <a:p>
            <a:pPr algn="ctr"/>
            <a:r>
              <a:rPr lang="vi-VN" sz="1200" dirty="0">
                <a:solidFill>
                  <a:srgbClr val="60677C"/>
                </a:solidFill>
                <a:latin typeface="Aptos" panose="020B0004020202020204" pitchFamily="34" charset="0"/>
              </a:rPr>
              <a:t>Tạo hoặc chuẩn bị MediaItem</a:t>
            </a:r>
          </a:p>
        </p:txBody>
      </p:sp>
      <p:cxnSp>
        <p:nvCxnSpPr>
          <p:cNvPr id="30" name="codex-seq-msg-line-4">
            <a:extLst>
              <a:ext uri="{FF2B5EF4-FFF2-40B4-BE49-F238E27FC236}">
                <a16:creationId xmlns:a16="http://schemas.microsoft.com/office/drawing/2014/main" id="{733E9A18-7158-AF7E-4376-3D2832658177}"/>
              </a:ext>
            </a:extLst>
          </p:cNvPr>
          <p:cNvCxnSpPr>
            <a:cxnSpLocks/>
          </p:cNvCxnSpPr>
          <p:nvPr/>
        </p:nvCxnSpPr>
        <p:spPr>
          <a:xfrm>
            <a:off x="3759200" y="2832100"/>
            <a:ext cx="6269254" cy="0"/>
          </a:xfrm>
          <a:prstGeom prst="line">
            <a:avLst/>
          </a:prstGeom>
          <a:ln w="17780">
            <a:solidFill>
              <a:srgbClr val="C88639"/>
            </a:solidFill>
            <a:tailEnd type="arrow"/>
          </a:ln>
        </p:spPr>
        <p:style>
          <a:lnRef idx="2">
            <a:schemeClr val="accent1"/>
          </a:lnRef>
          <a:fillRef idx="0">
            <a:schemeClr val="accent1"/>
          </a:fillRef>
          <a:effectRef idx="1">
            <a:schemeClr val="accent1"/>
          </a:effectRef>
          <a:fontRef idx="minor">
            <a:schemeClr val="tx1"/>
          </a:fontRef>
        </p:style>
      </p:cxnSp>
      <p:sp>
        <p:nvSpPr>
          <p:cNvPr id="31" name="codex-seq-msg-text-4">
            <a:extLst>
              <a:ext uri="{FF2B5EF4-FFF2-40B4-BE49-F238E27FC236}">
                <a16:creationId xmlns:a16="http://schemas.microsoft.com/office/drawing/2014/main" id="{FFF13ED8-3203-9804-D1F2-4597E2E8F162}"/>
              </a:ext>
            </a:extLst>
          </p:cNvPr>
          <p:cNvSpPr txBox="1"/>
          <p:nvPr/>
        </p:nvSpPr>
        <p:spPr>
          <a:xfrm>
            <a:off x="3963136" y="2621786"/>
            <a:ext cx="5994400" cy="210314"/>
          </a:xfrm>
          <a:prstGeom prst="rect">
            <a:avLst/>
          </a:prstGeom>
          <a:noFill/>
        </p:spPr>
        <p:txBody>
          <a:bodyPr vert="horz" lIns="25400" tIns="12700" rIns="25400" bIns="12700" rtlCol="0">
            <a:spAutoFit/>
          </a:bodyPr>
          <a:lstStyle/>
          <a:p>
            <a:pPr algn="ctr"/>
            <a:r>
              <a:rPr lang="vi-VN" sz="1200">
                <a:solidFill>
                  <a:srgbClr val="60677C"/>
                </a:solidFill>
                <a:latin typeface="Aptos" panose="020B0004020202020204" pitchFamily="34" charset="0"/>
              </a:rPr>
              <a:t>Enqueue transcription job</a:t>
            </a:r>
          </a:p>
        </p:txBody>
      </p:sp>
      <p:cxnSp>
        <p:nvCxnSpPr>
          <p:cNvPr id="32" name="codex-seq-msg-line-5">
            <a:extLst>
              <a:ext uri="{FF2B5EF4-FFF2-40B4-BE49-F238E27FC236}">
                <a16:creationId xmlns:a16="http://schemas.microsoft.com/office/drawing/2014/main" id="{3572E62E-8F6D-A1B8-9490-CBE119C79D56}"/>
              </a:ext>
            </a:extLst>
          </p:cNvPr>
          <p:cNvCxnSpPr/>
          <p:nvPr/>
        </p:nvCxnSpPr>
        <p:spPr>
          <a:xfrm>
            <a:off x="4978400" y="3111500"/>
            <a:ext cx="2438400" cy="0"/>
          </a:xfrm>
          <a:prstGeom prst="line">
            <a:avLst/>
          </a:prstGeom>
          <a:ln w="17780">
            <a:solidFill>
              <a:srgbClr val="C88639"/>
            </a:solidFill>
            <a:tailEnd type="arrow"/>
          </a:ln>
        </p:spPr>
        <p:style>
          <a:lnRef idx="2">
            <a:schemeClr val="accent1"/>
          </a:lnRef>
          <a:fillRef idx="0">
            <a:schemeClr val="accent1"/>
          </a:fillRef>
          <a:effectRef idx="1">
            <a:schemeClr val="accent1"/>
          </a:effectRef>
          <a:fontRef idx="minor">
            <a:schemeClr val="tx1"/>
          </a:fontRef>
        </p:style>
      </p:cxnSp>
      <p:sp>
        <p:nvSpPr>
          <p:cNvPr id="33" name="codex-seq-msg-text-5">
            <a:extLst>
              <a:ext uri="{FF2B5EF4-FFF2-40B4-BE49-F238E27FC236}">
                <a16:creationId xmlns:a16="http://schemas.microsoft.com/office/drawing/2014/main" id="{E5DF1762-6AE6-9A80-BA43-04FA420D2631}"/>
              </a:ext>
            </a:extLst>
          </p:cNvPr>
          <p:cNvSpPr txBox="1"/>
          <p:nvPr/>
        </p:nvSpPr>
        <p:spPr>
          <a:xfrm>
            <a:off x="5022248" y="2913886"/>
            <a:ext cx="2336800" cy="210314"/>
          </a:xfrm>
          <a:prstGeom prst="rect">
            <a:avLst/>
          </a:prstGeom>
          <a:noFill/>
        </p:spPr>
        <p:txBody>
          <a:bodyPr vert="horz" lIns="25400" tIns="12700" rIns="25400" bIns="12700" rtlCol="0">
            <a:spAutoFit/>
          </a:bodyPr>
          <a:lstStyle/>
          <a:p>
            <a:pPr algn="ctr"/>
            <a:r>
              <a:rPr lang="vi-VN" sz="1200" dirty="0">
                <a:solidFill>
                  <a:srgbClr val="60677C"/>
                </a:solidFill>
                <a:latin typeface="Aptos" panose="020B0004020202020204" pitchFamily="34" charset="0"/>
              </a:rPr>
              <a:t>Status = VALIDATING</a:t>
            </a:r>
          </a:p>
        </p:txBody>
      </p:sp>
      <p:cxnSp>
        <p:nvCxnSpPr>
          <p:cNvPr id="34" name="codex-seq-msg-line-6">
            <a:extLst>
              <a:ext uri="{FF2B5EF4-FFF2-40B4-BE49-F238E27FC236}">
                <a16:creationId xmlns:a16="http://schemas.microsoft.com/office/drawing/2014/main" id="{A67916F0-14F3-BAC6-3687-6E89FECF89FE}"/>
              </a:ext>
            </a:extLst>
          </p:cNvPr>
          <p:cNvCxnSpPr/>
          <p:nvPr/>
        </p:nvCxnSpPr>
        <p:spPr>
          <a:xfrm>
            <a:off x="4978400" y="3390900"/>
            <a:ext cx="3657600" cy="0"/>
          </a:xfrm>
          <a:prstGeom prst="line">
            <a:avLst/>
          </a:prstGeom>
          <a:ln w="17780">
            <a:solidFill>
              <a:srgbClr val="C88639"/>
            </a:solidFill>
            <a:tailEnd type="arrow"/>
          </a:ln>
        </p:spPr>
        <p:style>
          <a:lnRef idx="2">
            <a:schemeClr val="accent1"/>
          </a:lnRef>
          <a:fillRef idx="0">
            <a:schemeClr val="accent1"/>
          </a:fillRef>
          <a:effectRef idx="1">
            <a:schemeClr val="accent1"/>
          </a:effectRef>
          <a:fontRef idx="minor">
            <a:schemeClr val="tx1"/>
          </a:fontRef>
        </p:style>
      </p:cxnSp>
      <p:sp>
        <p:nvSpPr>
          <p:cNvPr id="35" name="codex-seq-msg-text-6">
            <a:extLst>
              <a:ext uri="{FF2B5EF4-FFF2-40B4-BE49-F238E27FC236}">
                <a16:creationId xmlns:a16="http://schemas.microsoft.com/office/drawing/2014/main" id="{BAF2DCB4-24D3-2775-3F9D-61159F09043A}"/>
              </a:ext>
            </a:extLst>
          </p:cNvPr>
          <p:cNvSpPr txBox="1"/>
          <p:nvPr/>
        </p:nvSpPr>
        <p:spPr>
          <a:xfrm>
            <a:off x="5022248" y="3187700"/>
            <a:ext cx="3556000" cy="210314"/>
          </a:xfrm>
          <a:prstGeom prst="rect">
            <a:avLst/>
          </a:prstGeom>
          <a:noFill/>
        </p:spPr>
        <p:txBody>
          <a:bodyPr vert="horz" lIns="25400" tIns="12700" rIns="25400" bIns="12700" rtlCol="0">
            <a:spAutoFit/>
          </a:bodyPr>
          <a:lstStyle/>
          <a:p>
            <a:pPr algn="ctr"/>
            <a:r>
              <a:rPr lang="en-US" sz="1200" dirty="0">
                <a:solidFill>
                  <a:srgbClr val="60677C"/>
                </a:solidFill>
                <a:latin typeface="Aptos" panose="020B0004020202020204" pitchFamily="34" charset="0"/>
              </a:rPr>
              <a:t>Verify upload </a:t>
            </a:r>
            <a:r>
              <a:rPr lang="en-US" sz="1200" dirty="0" err="1">
                <a:solidFill>
                  <a:srgbClr val="60677C"/>
                </a:solidFill>
                <a:latin typeface="Aptos" panose="020B0004020202020204" pitchFamily="34" charset="0"/>
              </a:rPr>
              <a:t>hoặc</a:t>
            </a:r>
            <a:r>
              <a:rPr lang="en-US" sz="1200" dirty="0">
                <a:solidFill>
                  <a:srgbClr val="60677C"/>
                </a:solidFill>
                <a:latin typeface="Aptos" panose="020B0004020202020204" pitchFamily="34" charset="0"/>
              </a:rPr>
              <a:t> ingest audio YouTube</a:t>
            </a:r>
            <a:endParaRPr lang="vi-VN" sz="1200" dirty="0">
              <a:solidFill>
                <a:srgbClr val="60677C"/>
              </a:solidFill>
              <a:latin typeface="Aptos" panose="020B0004020202020204" pitchFamily="34" charset="0"/>
            </a:endParaRPr>
          </a:p>
        </p:txBody>
      </p:sp>
      <p:cxnSp>
        <p:nvCxnSpPr>
          <p:cNvPr id="36" name="codex-seq-msg-line-7">
            <a:extLst>
              <a:ext uri="{FF2B5EF4-FFF2-40B4-BE49-F238E27FC236}">
                <a16:creationId xmlns:a16="http://schemas.microsoft.com/office/drawing/2014/main" id="{58E915C2-0B0F-1319-75D3-CBFC5D1CD3A8}"/>
              </a:ext>
            </a:extLst>
          </p:cNvPr>
          <p:cNvCxnSpPr/>
          <p:nvPr/>
        </p:nvCxnSpPr>
        <p:spPr>
          <a:xfrm>
            <a:off x="4978400" y="3670300"/>
            <a:ext cx="2438400" cy="0"/>
          </a:xfrm>
          <a:prstGeom prst="line">
            <a:avLst/>
          </a:prstGeom>
          <a:ln w="17780">
            <a:solidFill>
              <a:srgbClr val="C88639"/>
            </a:solidFill>
            <a:tailEnd type="arrow"/>
          </a:ln>
        </p:spPr>
        <p:style>
          <a:lnRef idx="2">
            <a:schemeClr val="accent1"/>
          </a:lnRef>
          <a:fillRef idx="0">
            <a:schemeClr val="accent1"/>
          </a:fillRef>
          <a:effectRef idx="1">
            <a:schemeClr val="accent1"/>
          </a:effectRef>
          <a:fontRef idx="minor">
            <a:schemeClr val="tx1"/>
          </a:fontRef>
        </p:style>
      </p:cxnSp>
      <p:sp>
        <p:nvSpPr>
          <p:cNvPr id="37" name="codex-seq-msg-text-7">
            <a:extLst>
              <a:ext uri="{FF2B5EF4-FFF2-40B4-BE49-F238E27FC236}">
                <a16:creationId xmlns:a16="http://schemas.microsoft.com/office/drawing/2014/main" id="{E85A5466-426A-F120-2FAA-85DFB376DD6E}"/>
              </a:ext>
            </a:extLst>
          </p:cNvPr>
          <p:cNvSpPr txBox="1"/>
          <p:nvPr/>
        </p:nvSpPr>
        <p:spPr>
          <a:xfrm>
            <a:off x="5029200" y="3478273"/>
            <a:ext cx="2336800" cy="210314"/>
          </a:xfrm>
          <a:prstGeom prst="rect">
            <a:avLst/>
          </a:prstGeom>
          <a:noFill/>
        </p:spPr>
        <p:txBody>
          <a:bodyPr vert="horz" lIns="25400" tIns="12700" rIns="25400" bIns="12700" rtlCol="0">
            <a:spAutoFit/>
          </a:bodyPr>
          <a:lstStyle/>
          <a:p>
            <a:pPr algn="ctr"/>
            <a:r>
              <a:rPr lang="en-US" sz="1200" dirty="0" err="1">
                <a:solidFill>
                  <a:srgbClr val="60677C"/>
                </a:solidFill>
                <a:latin typeface="Aptos" panose="020B0004020202020204" pitchFamily="34" charset="0"/>
              </a:rPr>
              <a:t>Lưu</a:t>
            </a:r>
            <a:r>
              <a:rPr lang="en-US" sz="1200" dirty="0">
                <a:solidFill>
                  <a:srgbClr val="60677C"/>
                </a:solidFill>
                <a:latin typeface="Aptos" panose="020B0004020202020204" pitchFamily="34" charset="0"/>
              </a:rPr>
              <a:t> duration </a:t>
            </a:r>
            <a:r>
              <a:rPr lang="en-US" sz="1200" dirty="0" err="1">
                <a:solidFill>
                  <a:srgbClr val="60677C"/>
                </a:solidFill>
                <a:latin typeface="Aptos" panose="020B0004020202020204" pitchFamily="34" charset="0"/>
              </a:rPr>
              <a:t>thật</a:t>
            </a:r>
            <a:r>
              <a:rPr lang="en-US" sz="1200" dirty="0">
                <a:solidFill>
                  <a:srgbClr val="60677C"/>
                </a:solidFill>
                <a:latin typeface="Aptos" panose="020B0004020202020204" pitchFamily="34" charset="0"/>
              </a:rPr>
              <a:t>, audio key </a:t>
            </a:r>
            <a:r>
              <a:rPr lang="en-US" sz="1200" dirty="0" err="1">
                <a:solidFill>
                  <a:srgbClr val="60677C"/>
                </a:solidFill>
                <a:latin typeface="Aptos" panose="020B0004020202020204" pitchFamily="34" charset="0"/>
              </a:rPr>
              <a:t>thật</a:t>
            </a:r>
            <a:endParaRPr lang="vi-VN" sz="1200" dirty="0">
              <a:solidFill>
                <a:srgbClr val="60677C"/>
              </a:solidFill>
              <a:latin typeface="Aptos" panose="020B0004020202020204" pitchFamily="34" charset="0"/>
            </a:endParaRPr>
          </a:p>
        </p:txBody>
      </p:sp>
      <p:cxnSp>
        <p:nvCxnSpPr>
          <p:cNvPr id="38" name="codex-seq-msg-line-8">
            <a:extLst>
              <a:ext uri="{FF2B5EF4-FFF2-40B4-BE49-F238E27FC236}">
                <a16:creationId xmlns:a16="http://schemas.microsoft.com/office/drawing/2014/main" id="{4688CD70-592C-4AEF-330B-19C1C7294B52}"/>
              </a:ext>
            </a:extLst>
          </p:cNvPr>
          <p:cNvCxnSpPr>
            <a:cxnSpLocks/>
          </p:cNvCxnSpPr>
          <p:nvPr/>
        </p:nvCxnSpPr>
        <p:spPr>
          <a:xfrm>
            <a:off x="4978400" y="3949700"/>
            <a:ext cx="5050054" cy="17785"/>
          </a:xfrm>
          <a:prstGeom prst="line">
            <a:avLst/>
          </a:prstGeom>
          <a:ln w="17780">
            <a:solidFill>
              <a:srgbClr val="C88639"/>
            </a:solidFill>
            <a:tailEnd type="arrow"/>
          </a:ln>
        </p:spPr>
        <p:style>
          <a:lnRef idx="2">
            <a:schemeClr val="accent1"/>
          </a:lnRef>
          <a:fillRef idx="0">
            <a:schemeClr val="accent1"/>
          </a:fillRef>
          <a:effectRef idx="1">
            <a:schemeClr val="accent1"/>
          </a:effectRef>
          <a:fontRef idx="minor">
            <a:schemeClr val="tx1"/>
          </a:fontRef>
        </p:style>
      </p:cxnSp>
      <p:sp>
        <p:nvSpPr>
          <p:cNvPr id="39" name="codex-seq-msg-text-8">
            <a:extLst>
              <a:ext uri="{FF2B5EF4-FFF2-40B4-BE49-F238E27FC236}">
                <a16:creationId xmlns:a16="http://schemas.microsoft.com/office/drawing/2014/main" id="{412B2C6E-0263-0373-879E-2E037A2347A9}"/>
              </a:ext>
            </a:extLst>
          </p:cNvPr>
          <p:cNvSpPr txBox="1"/>
          <p:nvPr/>
        </p:nvSpPr>
        <p:spPr>
          <a:xfrm>
            <a:off x="5029200" y="3757171"/>
            <a:ext cx="4775200" cy="210314"/>
          </a:xfrm>
          <a:prstGeom prst="rect">
            <a:avLst/>
          </a:prstGeom>
          <a:noFill/>
        </p:spPr>
        <p:txBody>
          <a:bodyPr vert="horz" lIns="25400" tIns="12700" rIns="25400" bIns="12700" rtlCol="0">
            <a:spAutoFit/>
          </a:bodyPr>
          <a:lstStyle/>
          <a:p>
            <a:pPr algn="ctr"/>
            <a:r>
              <a:rPr lang="vi-VN" sz="1200" dirty="0">
                <a:solidFill>
                  <a:srgbClr val="60677C"/>
                </a:solidFill>
                <a:latin typeface="Aptos" panose="020B0004020202020204" pitchFamily="34" charset="0"/>
              </a:rPr>
              <a:t>Enqueue ai-processing</a:t>
            </a:r>
          </a:p>
        </p:txBody>
      </p:sp>
      <p:cxnSp>
        <p:nvCxnSpPr>
          <p:cNvPr id="40" name="codex-seq-msg-line-9">
            <a:extLst>
              <a:ext uri="{FF2B5EF4-FFF2-40B4-BE49-F238E27FC236}">
                <a16:creationId xmlns:a16="http://schemas.microsoft.com/office/drawing/2014/main" id="{EBA208F8-1EC3-E9CF-BF98-AE8A2EED4524}"/>
              </a:ext>
            </a:extLst>
          </p:cNvPr>
          <p:cNvCxnSpPr/>
          <p:nvPr/>
        </p:nvCxnSpPr>
        <p:spPr>
          <a:xfrm>
            <a:off x="6197600" y="4229100"/>
            <a:ext cx="2438400" cy="0"/>
          </a:xfrm>
          <a:prstGeom prst="line">
            <a:avLst/>
          </a:prstGeom>
          <a:ln w="17780">
            <a:solidFill>
              <a:srgbClr val="C88639"/>
            </a:solidFill>
            <a:tailEnd type="arrow"/>
          </a:ln>
        </p:spPr>
        <p:style>
          <a:lnRef idx="2">
            <a:schemeClr val="accent1"/>
          </a:lnRef>
          <a:fillRef idx="0">
            <a:schemeClr val="accent1"/>
          </a:fillRef>
          <a:effectRef idx="1">
            <a:schemeClr val="accent1"/>
          </a:effectRef>
          <a:fontRef idx="minor">
            <a:schemeClr val="tx1"/>
          </a:fontRef>
        </p:style>
      </p:cxnSp>
      <p:sp>
        <p:nvSpPr>
          <p:cNvPr id="41" name="codex-seq-msg-text-9">
            <a:extLst>
              <a:ext uri="{FF2B5EF4-FFF2-40B4-BE49-F238E27FC236}">
                <a16:creationId xmlns:a16="http://schemas.microsoft.com/office/drawing/2014/main" id="{CA7C8AD4-BB50-C43F-2C3E-BB29396DCB15}"/>
              </a:ext>
            </a:extLst>
          </p:cNvPr>
          <p:cNvSpPr txBox="1"/>
          <p:nvPr/>
        </p:nvSpPr>
        <p:spPr>
          <a:xfrm>
            <a:off x="6255353" y="4030643"/>
            <a:ext cx="2336800" cy="394980"/>
          </a:xfrm>
          <a:prstGeom prst="rect">
            <a:avLst/>
          </a:prstGeom>
          <a:noFill/>
        </p:spPr>
        <p:txBody>
          <a:bodyPr vert="horz" lIns="25400" tIns="12700" rIns="25400" bIns="12700" rtlCol="0">
            <a:spAutoFit/>
          </a:bodyPr>
          <a:lstStyle/>
          <a:p>
            <a:pPr algn="ctr"/>
            <a:r>
              <a:rPr lang="en-US" sz="1200" dirty="0">
                <a:solidFill>
                  <a:srgbClr val="60677C"/>
                </a:solidFill>
                <a:latin typeface="Aptos" panose="020B0004020202020204" pitchFamily="34" charset="0"/>
              </a:rPr>
              <a:t>Download audio, upload chunks/batches/final</a:t>
            </a:r>
            <a:endParaRPr lang="vi-VN" sz="1200" dirty="0">
              <a:solidFill>
                <a:srgbClr val="60677C"/>
              </a:solidFill>
              <a:latin typeface="Aptos" panose="020B0004020202020204" pitchFamily="34" charset="0"/>
            </a:endParaRPr>
          </a:p>
        </p:txBody>
      </p:sp>
      <p:cxnSp>
        <p:nvCxnSpPr>
          <p:cNvPr id="42" name="codex-seq-msg-line-10">
            <a:extLst>
              <a:ext uri="{FF2B5EF4-FFF2-40B4-BE49-F238E27FC236}">
                <a16:creationId xmlns:a16="http://schemas.microsoft.com/office/drawing/2014/main" id="{4539D989-AF72-C3A4-009A-DC70710132F4}"/>
              </a:ext>
            </a:extLst>
          </p:cNvPr>
          <p:cNvCxnSpPr/>
          <p:nvPr/>
        </p:nvCxnSpPr>
        <p:spPr>
          <a:xfrm>
            <a:off x="6197600" y="4508500"/>
            <a:ext cx="1219200" cy="0"/>
          </a:xfrm>
          <a:prstGeom prst="line">
            <a:avLst/>
          </a:prstGeom>
          <a:ln w="17780">
            <a:solidFill>
              <a:srgbClr val="C88639"/>
            </a:solidFill>
            <a:tailEnd type="arrow"/>
          </a:ln>
        </p:spPr>
        <p:style>
          <a:lnRef idx="2">
            <a:schemeClr val="accent1"/>
          </a:lnRef>
          <a:fillRef idx="0">
            <a:schemeClr val="accent1"/>
          </a:fillRef>
          <a:effectRef idx="1">
            <a:schemeClr val="accent1"/>
          </a:effectRef>
          <a:fontRef idx="minor">
            <a:schemeClr val="tx1"/>
          </a:fontRef>
        </p:style>
      </p:cxnSp>
      <p:sp>
        <p:nvSpPr>
          <p:cNvPr id="43" name="codex-seq-msg-text-10">
            <a:extLst>
              <a:ext uri="{FF2B5EF4-FFF2-40B4-BE49-F238E27FC236}">
                <a16:creationId xmlns:a16="http://schemas.microsoft.com/office/drawing/2014/main" id="{F52293B2-14BA-71F7-3F90-65D998E560DA}"/>
              </a:ext>
            </a:extLst>
          </p:cNvPr>
          <p:cNvSpPr txBox="1"/>
          <p:nvPr/>
        </p:nvSpPr>
        <p:spPr>
          <a:xfrm>
            <a:off x="3940474" y="4323834"/>
            <a:ext cx="2221299" cy="394980"/>
          </a:xfrm>
          <a:prstGeom prst="rect">
            <a:avLst/>
          </a:prstGeom>
          <a:noFill/>
        </p:spPr>
        <p:txBody>
          <a:bodyPr vert="horz" wrap="square" lIns="25400" tIns="12700" rIns="25400" bIns="12700" rtlCol="0">
            <a:spAutoFit/>
          </a:bodyPr>
          <a:lstStyle/>
          <a:p>
            <a:pPr algn="r"/>
            <a:r>
              <a:rPr lang="vi-VN" sz="1200" dirty="0">
                <a:solidFill>
                  <a:srgbClr val="60677C"/>
                </a:solidFill>
                <a:latin typeface="Aptos" panose="020B0004020202020204" pitchFamily="34" charset="0"/>
              </a:rPr>
              <a:t>Cập nhật progress, status, source/target lang</a:t>
            </a:r>
          </a:p>
        </p:txBody>
      </p:sp>
      <p:cxnSp>
        <p:nvCxnSpPr>
          <p:cNvPr id="44" name="codex-seq-msg-line-11">
            <a:extLst>
              <a:ext uri="{FF2B5EF4-FFF2-40B4-BE49-F238E27FC236}">
                <a16:creationId xmlns:a16="http://schemas.microsoft.com/office/drawing/2014/main" id="{F8B5C40E-FA5E-288C-75B0-46E5DD057319}"/>
              </a:ext>
            </a:extLst>
          </p:cNvPr>
          <p:cNvCxnSpPr>
            <a:cxnSpLocks/>
          </p:cNvCxnSpPr>
          <p:nvPr/>
        </p:nvCxnSpPr>
        <p:spPr>
          <a:xfrm>
            <a:off x="6197600" y="4787900"/>
            <a:ext cx="3830854" cy="1449"/>
          </a:xfrm>
          <a:prstGeom prst="line">
            <a:avLst/>
          </a:prstGeom>
          <a:ln w="17780">
            <a:solidFill>
              <a:srgbClr val="C88639"/>
            </a:solidFill>
            <a:tailEnd type="arrow"/>
          </a:ln>
        </p:spPr>
        <p:style>
          <a:lnRef idx="2">
            <a:schemeClr val="accent1"/>
          </a:lnRef>
          <a:fillRef idx="0">
            <a:schemeClr val="accent1"/>
          </a:fillRef>
          <a:effectRef idx="1">
            <a:schemeClr val="accent1"/>
          </a:effectRef>
          <a:fontRef idx="minor">
            <a:schemeClr val="tx1"/>
          </a:fontRef>
        </p:style>
      </p:cxnSp>
      <p:sp>
        <p:nvSpPr>
          <p:cNvPr id="45" name="codex-seq-msg-text-11">
            <a:extLst>
              <a:ext uri="{FF2B5EF4-FFF2-40B4-BE49-F238E27FC236}">
                <a16:creationId xmlns:a16="http://schemas.microsoft.com/office/drawing/2014/main" id="{51E601F0-828E-86BE-21A7-807013D5B962}"/>
              </a:ext>
            </a:extLst>
          </p:cNvPr>
          <p:cNvSpPr txBox="1"/>
          <p:nvPr/>
        </p:nvSpPr>
        <p:spPr>
          <a:xfrm>
            <a:off x="6345852" y="4579035"/>
            <a:ext cx="3556000" cy="210314"/>
          </a:xfrm>
          <a:prstGeom prst="rect">
            <a:avLst/>
          </a:prstGeom>
          <a:noFill/>
        </p:spPr>
        <p:txBody>
          <a:bodyPr vert="horz" lIns="25400" tIns="12700" rIns="25400" bIns="12700" rtlCol="0">
            <a:spAutoFit/>
          </a:bodyPr>
          <a:lstStyle/>
          <a:p>
            <a:pPr algn="ctr"/>
            <a:r>
              <a:rPr lang="vi-VN" sz="1200" dirty="0">
                <a:solidFill>
                  <a:srgbClr val="60677C"/>
                </a:solidFill>
                <a:latin typeface="Aptos" panose="020B0004020202020204" pitchFamily="34" charset="0"/>
              </a:rPr>
              <a:t>Publish media_updates</a:t>
            </a:r>
          </a:p>
        </p:txBody>
      </p:sp>
      <p:cxnSp>
        <p:nvCxnSpPr>
          <p:cNvPr id="46" name="codex-seq-msg-line-12">
            <a:extLst>
              <a:ext uri="{FF2B5EF4-FFF2-40B4-BE49-F238E27FC236}">
                <a16:creationId xmlns:a16="http://schemas.microsoft.com/office/drawing/2014/main" id="{C3871C80-72B6-5DEF-5CF8-04AF2E38881C}"/>
              </a:ext>
            </a:extLst>
          </p:cNvPr>
          <p:cNvCxnSpPr>
            <a:cxnSpLocks/>
          </p:cNvCxnSpPr>
          <p:nvPr/>
        </p:nvCxnSpPr>
        <p:spPr>
          <a:xfrm flipH="1">
            <a:off x="7416800" y="5067300"/>
            <a:ext cx="3888607" cy="0"/>
          </a:xfrm>
          <a:prstGeom prst="line">
            <a:avLst/>
          </a:prstGeom>
          <a:ln w="17780">
            <a:solidFill>
              <a:srgbClr val="C88639"/>
            </a:solidFill>
            <a:tailEnd type="arrow"/>
          </a:ln>
        </p:spPr>
        <p:style>
          <a:lnRef idx="2">
            <a:schemeClr val="accent1"/>
          </a:lnRef>
          <a:fillRef idx="0">
            <a:schemeClr val="accent1"/>
          </a:fillRef>
          <a:effectRef idx="1">
            <a:schemeClr val="accent1"/>
          </a:effectRef>
          <a:fontRef idx="minor">
            <a:schemeClr val="tx1"/>
          </a:fontRef>
        </p:style>
      </p:cxnSp>
      <p:sp>
        <p:nvSpPr>
          <p:cNvPr id="47" name="codex-seq-msg-text-12">
            <a:extLst>
              <a:ext uri="{FF2B5EF4-FFF2-40B4-BE49-F238E27FC236}">
                <a16:creationId xmlns:a16="http://schemas.microsoft.com/office/drawing/2014/main" id="{628F834D-4373-254C-7C07-F6477F5247F7}"/>
              </a:ext>
            </a:extLst>
          </p:cNvPr>
          <p:cNvSpPr txBox="1"/>
          <p:nvPr/>
        </p:nvSpPr>
        <p:spPr>
          <a:xfrm>
            <a:off x="7474553" y="4864101"/>
            <a:ext cx="3556000" cy="210314"/>
          </a:xfrm>
          <a:prstGeom prst="rect">
            <a:avLst/>
          </a:prstGeom>
          <a:noFill/>
        </p:spPr>
        <p:txBody>
          <a:bodyPr vert="horz" lIns="25400" tIns="12700" rIns="25400" bIns="12700" rtlCol="0">
            <a:spAutoFit/>
          </a:bodyPr>
          <a:lstStyle/>
          <a:p>
            <a:pPr algn="ctr"/>
            <a:r>
              <a:rPr lang="vi-VN" sz="1200" dirty="0">
                <a:solidFill>
                  <a:srgbClr val="60677C"/>
                </a:solidFill>
                <a:latin typeface="Aptos" panose="020B0004020202020204" pitchFamily="34" charset="0"/>
              </a:rPr>
              <a:t>Refresh artifact summary cache</a:t>
            </a:r>
          </a:p>
        </p:txBody>
      </p:sp>
      <p:cxnSp>
        <p:nvCxnSpPr>
          <p:cNvPr id="48" name="codex-seq-msg-line-13">
            <a:extLst>
              <a:ext uri="{FF2B5EF4-FFF2-40B4-BE49-F238E27FC236}">
                <a16:creationId xmlns:a16="http://schemas.microsoft.com/office/drawing/2014/main" id="{975EE216-EC4B-8EF2-A2AB-743B73D577A6}"/>
              </a:ext>
            </a:extLst>
          </p:cNvPr>
          <p:cNvCxnSpPr>
            <a:cxnSpLocks/>
          </p:cNvCxnSpPr>
          <p:nvPr/>
        </p:nvCxnSpPr>
        <p:spPr>
          <a:xfrm flipH="1">
            <a:off x="2540000" y="5346700"/>
            <a:ext cx="8765407" cy="0"/>
          </a:xfrm>
          <a:prstGeom prst="line">
            <a:avLst/>
          </a:prstGeom>
          <a:ln w="17780">
            <a:solidFill>
              <a:srgbClr val="C88639"/>
            </a:solidFill>
            <a:tailEnd type="arrow"/>
          </a:ln>
        </p:spPr>
        <p:style>
          <a:lnRef idx="2">
            <a:schemeClr val="accent1"/>
          </a:lnRef>
          <a:fillRef idx="0">
            <a:schemeClr val="accent1"/>
          </a:fillRef>
          <a:effectRef idx="1">
            <a:schemeClr val="accent1"/>
          </a:effectRef>
          <a:fontRef idx="minor">
            <a:schemeClr val="tx1"/>
          </a:fontRef>
        </p:style>
      </p:cxnSp>
      <p:sp>
        <p:nvSpPr>
          <p:cNvPr id="49" name="codex-seq-msg-text-13">
            <a:extLst>
              <a:ext uri="{FF2B5EF4-FFF2-40B4-BE49-F238E27FC236}">
                <a16:creationId xmlns:a16="http://schemas.microsoft.com/office/drawing/2014/main" id="{B3851ADD-8A48-3C97-51E6-311732761EDB}"/>
              </a:ext>
            </a:extLst>
          </p:cNvPr>
          <p:cNvSpPr txBox="1"/>
          <p:nvPr/>
        </p:nvSpPr>
        <p:spPr>
          <a:xfrm>
            <a:off x="2590800" y="5147385"/>
            <a:ext cx="8432800" cy="210314"/>
          </a:xfrm>
          <a:prstGeom prst="rect">
            <a:avLst/>
          </a:prstGeom>
          <a:noFill/>
        </p:spPr>
        <p:txBody>
          <a:bodyPr vert="horz" lIns="25400" tIns="12700" rIns="25400" bIns="12700" rtlCol="0">
            <a:spAutoFit/>
          </a:bodyPr>
          <a:lstStyle/>
          <a:p>
            <a:pPr algn="ctr"/>
            <a:r>
              <a:rPr lang="vi-VN" sz="1200">
                <a:solidFill>
                  <a:srgbClr val="60677C"/>
                </a:solidFill>
                <a:latin typeface="Aptos" panose="020B0004020202020204" pitchFamily="34" charset="0"/>
              </a:rPr>
              <a:t>Forward socket events</a:t>
            </a:r>
          </a:p>
        </p:txBody>
      </p:sp>
      <p:cxnSp>
        <p:nvCxnSpPr>
          <p:cNvPr id="50" name="codex-seq-msg-line-14">
            <a:extLst>
              <a:ext uri="{FF2B5EF4-FFF2-40B4-BE49-F238E27FC236}">
                <a16:creationId xmlns:a16="http://schemas.microsoft.com/office/drawing/2014/main" id="{8BBC5B5B-12FF-2720-18C5-EE42B04C84FA}"/>
              </a:ext>
            </a:extLst>
          </p:cNvPr>
          <p:cNvCxnSpPr/>
          <p:nvPr/>
        </p:nvCxnSpPr>
        <p:spPr>
          <a:xfrm>
            <a:off x="2540000" y="5626100"/>
            <a:ext cx="1219200" cy="0"/>
          </a:xfrm>
          <a:prstGeom prst="line">
            <a:avLst/>
          </a:prstGeom>
          <a:ln w="17780">
            <a:solidFill>
              <a:srgbClr val="C88639"/>
            </a:solidFill>
            <a:tailEnd type="arrow"/>
          </a:ln>
        </p:spPr>
        <p:style>
          <a:lnRef idx="2">
            <a:schemeClr val="accent1"/>
          </a:lnRef>
          <a:fillRef idx="0">
            <a:schemeClr val="accent1"/>
          </a:fillRef>
          <a:effectRef idx="1">
            <a:schemeClr val="accent1"/>
          </a:effectRef>
          <a:fontRef idx="minor">
            <a:schemeClr val="tx1"/>
          </a:fontRef>
        </p:style>
      </p:cxnSp>
      <p:sp>
        <p:nvSpPr>
          <p:cNvPr id="51" name="codex-seq-msg-text-14">
            <a:extLst>
              <a:ext uri="{FF2B5EF4-FFF2-40B4-BE49-F238E27FC236}">
                <a16:creationId xmlns:a16="http://schemas.microsoft.com/office/drawing/2014/main" id="{E7728F9D-A842-3E92-0BF6-40A53AC2B868}"/>
              </a:ext>
            </a:extLst>
          </p:cNvPr>
          <p:cNvSpPr txBox="1"/>
          <p:nvPr/>
        </p:nvSpPr>
        <p:spPr>
          <a:xfrm>
            <a:off x="2590800" y="5428610"/>
            <a:ext cx="1117600" cy="394980"/>
          </a:xfrm>
          <a:prstGeom prst="rect">
            <a:avLst/>
          </a:prstGeom>
          <a:noFill/>
        </p:spPr>
        <p:txBody>
          <a:bodyPr vert="horz" lIns="25400" tIns="12700" rIns="25400" bIns="12700" rtlCol="0">
            <a:spAutoFit/>
          </a:bodyPr>
          <a:lstStyle/>
          <a:p>
            <a:pPr algn="ctr"/>
            <a:r>
              <a:rPr lang="vi-VN" sz="1200" dirty="0">
                <a:solidFill>
                  <a:srgbClr val="60677C"/>
                </a:solidFill>
                <a:latin typeface="Aptos" panose="020B0004020202020204" pitchFamily="34" charset="0"/>
              </a:rPr>
              <a:t>Đọc status / inventory</a:t>
            </a:r>
          </a:p>
        </p:txBody>
      </p:sp>
      <p:cxnSp>
        <p:nvCxnSpPr>
          <p:cNvPr id="52" name="codex-seq-msg-line-15">
            <a:extLst>
              <a:ext uri="{FF2B5EF4-FFF2-40B4-BE49-F238E27FC236}">
                <a16:creationId xmlns:a16="http://schemas.microsoft.com/office/drawing/2014/main" id="{19752FC4-5B35-84E7-33CC-13756082A4E0}"/>
              </a:ext>
            </a:extLst>
          </p:cNvPr>
          <p:cNvCxnSpPr/>
          <p:nvPr/>
        </p:nvCxnSpPr>
        <p:spPr>
          <a:xfrm>
            <a:off x="2540000" y="5905500"/>
            <a:ext cx="6096000" cy="0"/>
          </a:xfrm>
          <a:prstGeom prst="line">
            <a:avLst/>
          </a:prstGeom>
          <a:ln w="17780">
            <a:solidFill>
              <a:srgbClr val="C88639"/>
            </a:solidFill>
            <a:tailEnd type="arrow"/>
          </a:ln>
        </p:spPr>
        <p:style>
          <a:lnRef idx="2">
            <a:schemeClr val="accent1"/>
          </a:lnRef>
          <a:fillRef idx="0">
            <a:schemeClr val="accent1"/>
          </a:fillRef>
          <a:effectRef idx="1">
            <a:schemeClr val="accent1"/>
          </a:effectRef>
          <a:fontRef idx="minor">
            <a:schemeClr val="tx1"/>
          </a:fontRef>
        </p:style>
      </p:cxnSp>
      <p:sp>
        <p:nvSpPr>
          <p:cNvPr id="53" name="codex-seq-msg-text-15">
            <a:extLst>
              <a:ext uri="{FF2B5EF4-FFF2-40B4-BE49-F238E27FC236}">
                <a16:creationId xmlns:a16="http://schemas.microsoft.com/office/drawing/2014/main" id="{F5C132F7-7001-4FB9-3856-50174D4BC45F}"/>
              </a:ext>
            </a:extLst>
          </p:cNvPr>
          <p:cNvSpPr txBox="1"/>
          <p:nvPr/>
        </p:nvSpPr>
        <p:spPr>
          <a:xfrm>
            <a:off x="2641599" y="5703646"/>
            <a:ext cx="5994400" cy="210314"/>
          </a:xfrm>
          <a:prstGeom prst="rect">
            <a:avLst/>
          </a:prstGeom>
          <a:noFill/>
        </p:spPr>
        <p:txBody>
          <a:bodyPr vert="horz" lIns="25400" tIns="12700" rIns="25400" bIns="12700" rtlCol="0">
            <a:spAutoFit/>
          </a:bodyPr>
          <a:lstStyle/>
          <a:p>
            <a:pPr algn="ctr"/>
            <a:r>
              <a:rPr lang="en-US" sz="1200">
                <a:solidFill>
                  <a:srgbClr val="60677C"/>
                </a:solidFill>
                <a:latin typeface="Aptos" panose="020B0004020202020204" pitchFamily="34" charset="0"/>
              </a:rPr>
              <a:t>Fetch artifact JSON qua signed URL</a:t>
            </a:r>
            <a:endParaRPr lang="vi-VN" sz="1200">
              <a:solidFill>
                <a:srgbClr val="60677C"/>
              </a:solidFill>
              <a:latin typeface="Aptos" panose="020B0004020202020204" pitchFamily="34" charset="0"/>
            </a:endParaRPr>
          </a:p>
        </p:txBody>
      </p:sp>
      <p:cxnSp>
        <p:nvCxnSpPr>
          <p:cNvPr id="54" name="codex-seq-msg-line-16">
            <a:extLst>
              <a:ext uri="{FF2B5EF4-FFF2-40B4-BE49-F238E27FC236}">
                <a16:creationId xmlns:a16="http://schemas.microsoft.com/office/drawing/2014/main" id="{66EBE725-A293-C5CA-0965-FD6A26274B6E}"/>
              </a:ext>
            </a:extLst>
          </p:cNvPr>
          <p:cNvCxnSpPr>
            <a:cxnSpLocks/>
          </p:cNvCxnSpPr>
          <p:nvPr/>
        </p:nvCxnSpPr>
        <p:spPr>
          <a:xfrm>
            <a:off x="988193" y="6167120"/>
            <a:ext cx="1551807" cy="0"/>
          </a:xfrm>
          <a:prstGeom prst="line">
            <a:avLst/>
          </a:prstGeom>
          <a:ln w="17780">
            <a:solidFill>
              <a:srgbClr val="C88639"/>
            </a:solidFill>
            <a:tailEnd type="arrow"/>
          </a:ln>
        </p:spPr>
        <p:style>
          <a:lnRef idx="2">
            <a:schemeClr val="accent1"/>
          </a:lnRef>
          <a:fillRef idx="0">
            <a:schemeClr val="accent1"/>
          </a:fillRef>
          <a:effectRef idx="1">
            <a:schemeClr val="accent1"/>
          </a:effectRef>
          <a:fontRef idx="minor">
            <a:schemeClr val="tx1"/>
          </a:fontRef>
        </p:style>
      </p:cxnSp>
      <p:sp>
        <p:nvSpPr>
          <p:cNvPr id="55" name="codex-seq-msg-text-16">
            <a:extLst>
              <a:ext uri="{FF2B5EF4-FFF2-40B4-BE49-F238E27FC236}">
                <a16:creationId xmlns:a16="http://schemas.microsoft.com/office/drawing/2014/main" id="{F0AC2A7B-29D6-D628-C99C-E187ECABC8FD}"/>
              </a:ext>
            </a:extLst>
          </p:cNvPr>
          <p:cNvSpPr txBox="1"/>
          <p:nvPr/>
        </p:nvSpPr>
        <p:spPr>
          <a:xfrm>
            <a:off x="1249947" y="5664200"/>
            <a:ext cx="1117600" cy="394980"/>
          </a:xfrm>
          <a:prstGeom prst="rect">
            <a:avLst/>
          </a:prstGeom>
          <a:noFill/>
        </p:spPr>
        <p:txBody>
          <a:bodyPr vert="horz" lIns="25400" tIns="12700" rIns="25400" bIns="12700" rtlCol="0">
            <a:spAutoFit/>
          </a:bodyPr>
          <a:lstStyle/>
          <a:p>
            <a:pPr algn="ctr"/>
            <a:r>
              <a:rPr lang="en-US" sz="1200">
                <a:solidFill>
                  <a:srgbClr val="60677C"/>
                </a:solidFill>
                <a:latin typeface="Aptos" panose="020B0004020202020204" pitchFamily="34" charset="0"/>
              </a:rPr>
              <a:t>Xem player và dùng subtitle</a:t>
            </a:r>
            <a:endParaRPr lang="vi-VN" sz="1200">
              <a:solidFill>
                <a:srgbClr val="60677C"/>
              </a:solidFill>
              <a:latin typeface="Aptos" panose="020B0004020202020204" pitchFamily="34" charset="0"/>
            </a:endParaRPr>
          </a:p>
        </p:txBody>
      </p:sp>
    </p:spTree>
    <p:extLst>
      <p:ext uri="{BB962C8B-B14F-4D97-AF65-F5344CB8AC3E}">
        <p14:creationId xmlns:p14="http://schemas.microsoft.com/office/powerpoint/2010/main" val="3370567361"/>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5F1EA"/>
        </a:solidFill>
        <a:effectLst/>
      </p:bgPr>
    </p:bg>
    <p:spTree>
      <p:nvGrpSpPr>
        <p:cNvPr id="1" name=""/>
        <p:cNvGrpSpPr/>
        <p:nvPr/>
      </p:nvGrpSpPr>
      <p:grpSpPr>
        <a:xfrm>
          <a:off x="0" y="0"/>
          <a:ext cx="0" cy="0"/>
          <a:chOff x="0" y="0"/>
          <a:chExt cx="0" cy="0"/>
        </a:xfrm>
      </p:grpSpPr>
      <p:sp>
        <p:nvSpPr>
          <p:cNvPr id="2" name="codex-backend-simple-marker">
            <a:extLst>
              <a:ext uri="{FF2B5EF4-FFF2-40B4-BE49-F238E27FC236}">
                <a16:creationId xmlns:a16="http://schemas.microsoft.com/office/drawing/2014/main" id="{5D707127-205F-343F-E5A5-6A99627D10A3}"/>
              </a:ext>
            </a:extLst>
          </p:cNvPr>
          <p:cNvSpPr txBox="1"/>
          <p:nvPr/>
        </p:nvSpPr>
        <p:spPr>
          <a:xfrm>
            <a:off x="0" y="0"/>
            <a:ext cx="12700" cy="66685"/>
          </a:xfrm>
          <a:prstGeom prst="rect">
            <a:avLst/>
          </a:prstGeom>
          <a:noFill/>
        </p:spPr>
        <p:txBody>
          <a:bodyPr vert="horz" lIns="50800" tIns="25400" rIns="50800" bIns="25400" rtlCol="0">
            <a:spAutoFit/>
          </a:bodyPr>
          <a:lstStyle/>
          <a:p>
            <a:endParaRPr lang="vi-VN" sz="100">
              <a:solidFill>
                <a:srgbClr val="F5F1EA"/>
              </a:solidFill>
              <a:latin typeface="Aptos" panose="020B0004020202020204" pitchFamily="34" charset="0"/>
            </a:endParaRPr>
          </a:p>
        </p:txBody>
      </p:sp>
      <p:sp>
        <p:nvSpPr>
          <p:cNvPr id="6" name="codex-backend-auth">
            <a:extLst>
              <a:ext uri="{FF2B5EF4-FFF2-40B4-BE49-F238E27FC236}">
                <a16:creationId xmlns:a16="http://schemas.microsoft.com/office/drawing/2014/main" id="{6802D314-1E1F-5365-BD29-8C838B243F0F}"/>
              </a:ext>
            </a:extLst>
          </p:cNvPr>
          <p:cNvSpPr/>
          <p:nvPr/>
        </p:nvSpPr>
        <p:spPr>
          <a:xfrm>
            <a:off x="406400" y="1463842"/>
            <a:ext cx="5377038" cy="1041400"/>
          </a:xfrm>
          <a:prstGeom prst="roundRect">
            <a:avLst>
              <a:gd name="adj" fmla="val 10000"/>
            </a:avLst>
          </a:prstGeom>
          <a:solidFill>
            <a:srgbClr val="FFFFFF"/>
          </a:solidFill>
          <a:ln w="11430">
            <a:solidFill>
              <a:srgbClr val="CED6E5"/>
            </a:solidFill>
          </a:ln>
          <a:effectLst/>
          <a:extLs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vi-VN" sz="2400"/>
          </a:p>
        </p:txBody>
      </p:sp>
      <p:sp>
        <p:nvSpPr>
          <p:cNvPr id="7" name="codex-backend-auth-title">
            <a:extLst>
              <a:ext uri="{FF2B5EF4-FFF2-40B4-BE49-F238E27FC236}">
                <a16:creationId xmlns:a16="http://schemas.microsoft.com/office/drawing/2014/main" id="{73D601F8-7F77-E2FF-9C09-E6AB797D20FB}"/>
              </a:ext>
            </a:extLst>
          </p:cNvPr>
          <p:cNvSpPr txBox="1"/>
          <p:nvPr/>
        </p:nvSpPr>
        <p:spPr>
          <a:xfrm>
            <a:off x="526423" y="1542363"/>
            <a:ext cx="5257015" cy="359073"/>
          </a:xfrm>
          <a:prstGeom prst="rect">
            <a:avLst/>
          </a:prstGeom>
          <a:noFill/>
        </p:spPr>
        <p:txBody>
          <a:bodyPr vert="horz" wrap="square" lIns="50800" tIns="25400" rIns="50800" bIns="25400" rtlCol="0">
            <a:spAutoFit/>
          </a:bodyPr>
          <a:lstStyle/>
          <a:p>
            <a:r>
              <a:rPr lang="vi-VN" sz="2000" b="1" dirty="0">
                <a:solidFill>
                  <a:srgbClr val="242C44"/>
                </a:solidFill>
                <a:latin typeface="Aptos" panose="020B0004020202020204" pitchFamily="34" charset="0"/>
              </a:rPr>
              <a:t>Auth authority</a:t>
            </a:r>
          </a:p>
        </p:txBody>
      </p:sp>
      <p:sp>
        <p:nvSpPr>
          <p:cNvPr id="8" name="codex-backend-auth-body">
            <a:extLst>
              <a:ext uri="{FF2B5EF4-FFF2-40B4-BE49-F238E27FC236}">
                <a16:creationId xmlns:a16="http://schemas.microsoft.com/office/drawing/2014/main" id="{BC045C56-94F5-2FD4-2FA7-57209C4AE805}"/>
              </a:ext>
            </a:extLst>
          </p:cNvPr>
          <p:cNvSpPr txBox="1"/>
          <p:nvPr/>
        </p:nvSpPr>
        <p:spPr>
          <a:xfrm>
            <a:off x="526423" y="1901436"/>
            <a:ext cx="5122755" cy="543739"/>
          </a:xfrm>
          <a:prstGeom prst="rect">
            <a:avLst/>
          </a:prstGeom>
          <a:noFill/>
        </p:spPr>
        <p:txBody>
          <a:bodyPr vert="horz" wrap="square" lIns="50800" tIns="25400" rIns="50800" bIns="25400" rtlCol="0">
            <a:spAutoFit/>
          </a:bodyPr>
          <a:lstStyle/>
          <a:p>
            <a:r>
              <a:rPr lang="vi-VN" sz="1600" dirty="0">
                <a:solidFill>
                  <a:srgbClr val="60677C"/>
                </a:solidFill>
                <a:latin typeface="Aptos" panose="020B0004020202020204" pitchFamily="34" charset="0"/>
              </a:rPr>
              <a:t>Register, verify OTP, login, refresh, logout và password reset đều tập trung ở backend.</a:t>
            </a:r>
          </a:p>
        </p:txBody>
      </p:sp>
      <p:sp>
        <p:nvSpPr>
          <p:cNvPr id="9" name="codex-backend-sub">
            <a:extLst>
              <a:ext uri="{FF2B5EF4-FFF2-40B4-BE49-F238E27FC236}">
                <a16:creationId xmlns:a16="http://schemas.microsoft.com/office/drawing/2014/main" id="{85A397D3-B733-F883-4B30-234080F751E2}"/>
              </a:ext>
            </a:extLst>
          </p:cNvPr>
          <p:cNvSpPr/>
          <p:nvPr/>
        </p:nvSpPr>
        <p:spPr>
          <a:xfrm>
            <a:off x="6281839" y="1463842"/>
            <a:ext cx="5593080" cy="1041400"/>
          </a:xfrm>
          <a:prstGeom prst="roundRect">
            <a:avLst>
              <a:gd name="adj" fmla="val 10000"/>
            </a:avLst>
          </a:prstGeom>
          <a:solidFill>
            <a:srgbClr val="FFFFFF"/>
          </a:solidFill>
          <a:ln w="11430">
            <a:solidFill>
              <a:srgbClr val="CED6E5"/>
            </a:solidFill>
          </a:ln>
          <a:effectLst/>
          <a:extLs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vi-VN" sz="2400"/>
          </a:p>
        </p:txBody>
      </p:sp>
      <p:sp>
        <p:nvSpPr>
          <p:cNvPr id="10" name="codex-backend-sub-title">
            <a:extLst>
              <a:ext uri="{FF2B5EF4-FFF2-40B4-BE49-F238E27FC236}">
                <a16:creationId xmlns:a16="http://schemas.microsoft.com/office/drawing/2014/main" id="{5D103EFE-EC4B-0DBB-694D-5FBFBAB8CCA2}"/>
              </a:ext>
            </a:extLst>
          </p:cNvPr>
          <p:cNvSpPr txBox="1"/>
          <p:nvPr/>
        </p:nvSpPr>
        <p:spPr>
          <a:xfrm>
            <a:off x="6401862" y="1542363"/>
            <a:ext cx="5257015" cy="359073"/>
          </a:xfrm>
          <a:prstGeom prst="rect">
            <a:avLst/>
          </a:prstGeom>
          <a:noFill/>
        </p:spPr>
        <p:txBody>
          <a:bodyPr vert="horz" wrap="square" lIns="50800" tIns="25400" rIns="50800" bIns="25400" rtlCol="0">
            <a:spAutoFit/>
          </a:bodyPr>
          <a:lstStyle/>
          <a:p>
            <a:r>
              <a:rPr lang="vi-VN" sz="2000" b="1" dirty="0">
                <a:solidFill>
                  <a:srgbClr val="242C44"/>
                </a:solidFill>
                <a:latin typeface="Aptos" panose="020B0004020202020204" pitchFamily="34" charset="0"/>
              </a:rPr>
              <a:t>Subscription + quota gating</a:t>
            </a:r>
          </a:p>
        </p:txBody>
      </p:sp>
      <p:sp>
        <p:nvSpPr>
          <p:cNvPr id="11" name="codex-backend-sub-body">
            <a:extLst>
              <a:ext uri="{FF2B5EF4-FFF2-40B4-BE49-F238E27FC236}">
                <a16:creationId xmlns:a16="http://schemas.microsoft.com/office/drawing/2014/main" id="{18260CBF-0DE3-BD40-9A98-A06FA37A9E5A}"/>
              </a:ext>
            </a:extLst>
          </p:cNvPr>
          <p:cNvSpPr txBox="1"/>
          <p:nvPr/>
        </p:nvSpPr>
        <p:spPr>
          <a:xfrm>
            <a:off x="6401862" y="1901436"/>
            <a:ext cx="5383738" cy="543739"/>
          </a:xfrm>
          <a:prstGeom prst="rect">
            <a:avLst/>
          </a:prstGeom>
          <a:noFill/>
        </p:spPr>
        <p:txBody>
          <a:bodyPr vert="horz" wrap="square" lIns="50800" tIns="25400" rIns="50800" bIns="25400" rtlCol="0">
            <a:spAutoFit/>
          </a:bodyPr>
          <a:lstStyle/>
          <a:p>
            <a:r>
              <a:rPr lang="vi-VN" sz="1600" dirty="0">
                <a:solidFill>
                  <a:srgbClr val="60677C"/>
                </a:solidFill>
                <a:latin typeface="Aptos" panose="020B0004020202020204" pitchFamily="34" charset="0"/>
              </a:rPr>
              <a:t>Kiểm tra entitlement ở API layer, rồi kiểm tra lại bằng duration thật ở worker layer.</a:t>
            </a:r>
          </a:p>
        </p:txBody>
      </p:sp>
      <p:sp>
        <p:nvSpPr>
          <p:cNvPr id="12" name="codex-backend-upload">
            <a:extLst>
              <a:ext uri="{FF2B5EF4-FFF2-40B4-BE49-F238E27FC236}">
                <a16:creationId xmlns:a16="http://schemas.microsoft.com/office/drawing/2014/main" id="{E9406D8E-7606-FD47-A70B-DDB0FE079CFC}"/>
              </a:ext>
            </a:extLst>
          </p:cNvPr>
          <p:cNvSpPr/>
          <p:nvPr/>
        </p:nvSpPr>
        <p:spPr>
          <a:xfrm>
            <a:off x="406400" y="2657642"/>
            <a:ext cx="5377038" cy="1219200"/>
          </a:xfrm>
          <a:prstGeom prst="roundRect">
            <a:avLst>
              <a:gd name="adj" fmla="val 10000"/>
            </a:avLst>
          </a:prstGeom>
          <a:solidFill>
            <a:srgbClr val="FFFFFF"/>
          </a:solidFill>
          <a:ln w="11430">
            <a:solidFill>
              <a:srgbClr val="CED6E5"/>
            </a:solidFill>
          </a:ln>
          <a:effectLst/>
          <a:extLs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vi-VN" sz="2400"/>
          </a:p>
        </p:txBody>
      </p:sp>
      <p:sp>
        <p:nvSpPr>
          <p:cNvPr id="13" name="codex-backend-upload-title">
            <a:extLst>
              <a:ext uri="{FF2B5EF4-FFF2-40B4-BE49-F238E27FC236}">
                <a16:creationId xmlns:a16="http://schemas.microsoft.com/office/drawing/2014/main" id="{7DE8EE89-AEBC-306E-0F7C-D92B15108640}"/>
              </a:ext>
            </a:extLst>
          </p:cNvPr>
          <p:cNvSpPr txBox="1"/>
          <p:nvPr/>
        </p:nvSpPr>
        <p:spPr>
          <a:xfrm>
            <a:off x="526423" y="2736163"/>
            <a:ext cx="5257015" cy="359073"/>
          </a:xfrm>
          <a:prstGeom prst="rect">
            <a:avLst/>
          </a:prstGeom>
          <a:noFill/>
        </p:spPr>
        <p:txBody>
          <a:bodyPr vert="horz" wrap="square" lIns="50800" tIns="25400" rIns="50800" bIns="25400" rtlCol="0">
            <a:spAutoFit/>
          </a:bodyPr>
          <a:lstStyle/>
          <a:p>
            <a:r>
              <a:rPr lang="vi-VN" sz="2000" b="1">
                <a:solidFill>
                  <a:srgbClr val="242C44"/>
                </a:solidFill>
                <a:latin typeface="Aptos" panose="020B0004020202020204" pitchFamily="34" charset="0"/>
              </a:rPr>
              <a:t>Presigned upload model</a:t>
            </a:r>
          </a:p>
        </p:txBody>
      </p:sp>
      <p:sp>
        <p:nvSpPr>
          <p:cNvPr id="14" name="codex-backend-upload-body">
            <a:extLst>
              <a:ext uri="{FF2B5EF4-FFF2-40B4-BE49-F238E27FC236}">
                <a16:creationId xmlns:a16="http://schemas.microsoft.com/office/drawing/2014/main" id="{BB7E31A8-7DF3-2FCF-2315-7AB46756C2A4}"/>
              </a:ext>
            </a:extLst>
          </p:cNvPr>
          <p:cNvSpPr txBox="1"/>
          <p:nvPr/>
        </p:nvSpPr>
        <p:spPr>
          <a:xfrm>
            <a:off x="526423" y="3095236"/>
            <a:ext cx="5122755" cy="543739"/>
          </a:xfrm>
          <a:prstGeom prst="rect">
            <a:avLst/>
          </a:prstGeom>
          <a:noFill/>
        </p:spPr>
        <p:txBody>
          <a:bodyPr vert="horz" wrap="square" lIns="50800" tIns="25400" rIns="50800" bIns="25400" rtlCol="0">
            <a:spAutoFit/>
          </a:bodyPr>
          <a:lstStyle/>
          <a:p>
            <a:r>
              <a:rPr lang="vi-VN" sz="1600" dirty="0">
                <a:solidFill>
                  <a:srgbClr val="60677C"/>
                </a:solidFill>
                <a:latin typeface="Aptos" panose="020B0004020202020204" pitchFamily="34" charset="0"/>
              </a:rPr>
              <a:t>File media không đi qua body của NestJS; client upload thẳng vào MinIO để giảm tải path HTTP.</a:t>
            </a:r>
          </a:p>
        </p:txBody>
      </p:sp>
      <p:sp>
        <p:nvSpPr>
          <p:cNvPr id="15" name="codex-backend-worker">
            <a:extLst>
              <a:ext uri="{FF2B5EF4-FFF2-40B4-BE49-F238E27FC236}">
                <a16:creationId xmlns:a16="http://schemas.microsoft.com/office/drawing/2014/main" id="{CFD4B377-7E11-CB72-51DC-0D78888DB8F4}"/>
              </a:ext>
            </a:extLst>
          </p:cNvPr>
          <p:cNvSpPr/>
          <p:nvPr/>
        </p:nvSpPr>
        <p:spPr>
          <a:xfrm>
            <a:off x="6281839" y="2657642"/>
            <a:ext cx="5593080" cy="1219200"/>
          </a:xfrm>
          <a:prstGeom prst="roundRect">
            <a:avLst>
              <a:gd name="adj" fmla="val 10000"/>
            </a:avLst>
          </a:prstGeom>
          <a:solidFill>
            <a:srgbClr val="FFFFFF"/>
          </a:solidFill>
          <a:ln w="11430">
            <a:solidFill>
              <a:srgbClr val="CED6E5"/>
            </a:solidFill>
          </a:ln>
          <a:effectLst/>
          <a:extLs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vi-VN" sz="2400"/>
          </a:p>
        </p:txBody>
      </p:sp>
      <p:sp>
        <p:nvSpPr>
          <p:cNvPr id="16" name="codex-backend-worker-title">
            <a:extLst>
              <a:ext uri="{FF2B5EF4-FFF2-40B4-BE49-F238E27FC236}">
                <a16:creationId xmlns:a16="http://schemas.microsoft.com/office/drawing/2014/main" id="{1365EDE6-5174-93D6-CE9C-FB969F17E47D}"/>
              </a:ext>
            </a:extLst>
          </p:cNvPr>
          <p:cNvSpPr txBox="1"/>
          <p:nvPr/>
        </p:nvSpPr>
        <p:spPr>
          <a:xfrm>
            <a:off x="6401862" y="2736163"/>
            <a:ext cx="5257015" cy="359073"/>
          </a:xfrm>
          <a:prstGeom prst="rect">
            <a:avLst/>
          </a:prstGeom>
          <a:noFill/>
        </p:spPr>
        <p:txBody>
          <a:bodyPr vert="horz" wrap="square" lIns="50800" tIns="25400" rIns="50800" bIns="25400" rtlCol="0">
            <a:spAutoFit/>
          </a:bodyPr>
          <a:lstStyle/>
          <a:p>
            <a:r>
              <a:rPr lang="vi-VN" sz="2000" b="1">
                <a:solidFill>
                  <a:srgbClr val="242C44"/>
                </a:solidFill>
                <a:latin typeface="Aptos" panose="020B0004020202020204" pitchFamily="34" charset="0"/>
              </a:rPr>
              <a:t>Worker as trust boundary</a:t>
            </a:r>
          </a:p>
        </p:txBody>
      </p:sp>
      <p:sp>
        <p:nvSpPr>
          <p:cNvPr id="17" name="codex-backend-worker-body">
            <a:extLst>
              <a:ext uri="{FF2B5EF4-FFF2-40B4-BE49-F238E27FC236}">
                <a16:creationId xmlns:a16="http://schemas.microsoft.com/office/drawing/2014/main" id="{33E44B24-D8FC-6CCF-CE9E-0DC1A2886ED0}"/>
              </a:ext>
            </a:extLst>
          </p:cNvPr>
          <p:cNvSpPr txBox="1"/>
          <p:nvPr/>
        </p:nvSpPr>
        <p:spPr>
          <a:xfrm>
            <a:off x="6401862" y="3095236"/>
            <a:ext cx="5257015" cy="543739"/>
          </a:xfrm>
          <a:prstGeom prst="rect">
            <a:avLst/>
          </a:prstGeom>
          <a:noFill/>
        </p:spPr>
        <p:txBody>
          <a:bodyPr vert="horz" wrap="square" lIns="50800" tIns="25400" rIns="50800" bIns="25400" rtlCol="0">
            <a:spAutoFit/>
          </a:bodyPr>
          <a:lstStyle/>
          <a:p>
            <a:r>
              <a:rPr lang="vi-VN" sz="1600" dirty="0">
                <a:solidFill>
                  <a:srgbClr val="60677C"/>
                </a:solidFill>
                <a:latin typeface="Aptos" panose="020B0004020202020204" pitchFamily="34" charset="0"/>
              </a:rPr>
              <a:t>Worker chuẩn hóa local upload và YouTube ingest trước khi cho phép tiêu thụ tài nguyên AI.</a:t>
            </a:r>
          </a:p>
        </p:txBody>
      </p:sp>
      <p:sp>
        <p:nvSpPr>
          <p:cNvPr id="18" name="codex-backend-q1">
            <a:extLst>
              <a:ext uri="{FF2B5EF4-FFF2-40B4-BE49-F238E27FC236}">
                <a16:creationId xmlns:a16="http://schemas.microsoft.com/office/drawing/2014/main" id="{A690151E-85AD-E3FB-3EB4-E2363338552E}"/>
              </a:ext>
            </a:extLst>
          </p:cNvPr>
          <p:cNvSpPr/>
          <p:nvPr/>
        </p:nvSpPr>
        <p:spPr>
          <a:xfrm>
            <a:off x="406400" y="4080042"/>
            <a:ext cx="5401043" cy="1560362"/>
          </a:xfrm>
          <a:prstGeom prst="roundRect">
            <a:avLst>
              <a:gd name="adj" fmla="val 8000"/>
            </a:avLst>
          </a:prstGeom>
          <a:solidFill>
            <a:srgbClr val="FAF7F2"/>
          </a:solidFill>
          <a:ln w="11430">
            <a:solidFill>
              <a:srgbClr val="CED6E5"/>
            </a:solidFill>
          </a:ln>
          <a:effectLst/>
          <a:extLs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vi-VN" sz="2400"/>
          </a:p>
        </p:txBody>
      </p:sp>
      <p:sp>
        <p:nvSpPr>
          <p:cNvPr id="19" name="codex-backend-q1-label">
            <a:extLst>
              <a:ext uri="{FF2B5EF4-FFF2-40B4-BE49-F238E27FC236}">
                <a16:creationId xmlns:a16="http://schemas.microsoft.com/office/drawing/2014/main" id="{BDD082EF-7FCB-9A20-A6E9-9F76739E590D}"/>
              </a:ext>
            </a:extLst>
          </p:cNvPr>
          <p:cNvSpPr txBox="1"/>
          <p:nvPr/>
        </p:nvSpPr>
        <p:spPr>
          <a:xfrm>
            <a:off x="584200" y="4232442"/>
            <a:ext cx="1080209" cy="220573"/>
          </a:xfrm>
          <a:prstGeom prst="rect">
            <a:avLst/>
          </a:prstGeom>
          <a:noFill/>
        </p:spPr>
        <p:txBody>
          <a:bodyPr vert="horz" wrap="square" lIns="50800" tIns="25400" rIns="50800" bIns="25400" rtlCol="0">
            <a:spAutoFit/>
          </a:bodyPr>
          <a:lstStyle/>
          <a:p>
            <a:r>
              <a:rPr lang="vi-VN" sz="1100" b="1">
                <a:solidFill>
                  <a:srgbClr val="738CC2"/>
                </a:solidFill>
                <a:latin typeface="Aptos" panose="020B0004020202020204" pitchFamily="34" charset="0"/>
              </a:rPr>
              <a:t>QUEUE 1</a:t>
            </a:r>
          </a:p>
        </p:txBody>
      </p:sp>
      <p:sp>
        <p:nvSpPr>
          <p:cNvPr id="20" name="codex-backend-q1-chip">
            <a:extLst>
              <a:ext uri="{FF2B5EF4-FFF2-40B4-BE49-F238E27FC236}">
                <a16:creationId xmlns:a16="http://schemas.microsoft.com/office/drawing/2014/main" id="{2EDD4554-219E-33D8-DE15-7BC41322F665}"/>
              </a:ext>
            </a:extLst>
          </p:cNvPr>
          <p:cNvSpPr/>
          <p:nvPr/>
        </p:nvSpPr>
        <p:spPr>
          <a:xfrm>
            <a:off x="584200" y="4613442"/>
            <a:ext cx="5064978" cy="508000"/>
          </a:xfrm>
          <a:prstGeom prst="roundRect">
            <a:avLst>
              <a:gd name="adj" fmla="val 8000"/>
            </a:avLst>
          </a:prstGeom>
          <a:solidFill>
            <a:srgbClr val="E5EBF6"/>
          </a:solidFill>
          <a:ln w="7620">
            <a:solidFill>
              <a:srgbClr val="E5EBF6"/>
            </a:solidFill>
          </a:ln>
          <a:effectLst/>
          <a:extLs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rtlCol="0" anchor="ctr"/>
          <a:lstStyle/>
          <a:p>
            <a:pPr algn="ctr"/>
            <a:r>
              <a:rPr lang="vi-VN" b="1">
                <a:solidFill>
                  <a:srgbClr val="242C44"/>
                </a:solidFill>
                <a:latin typeface="Aptos" panose="020B0004020202020204" pitchFamily="34" charset="0"/>
              </a:rPr>
              <a:t>transcription</a:t>
            </a:r>
          </a:p>
        </p:txBody>
      </p:sp>
      <p:sp>
        <p:nvSpPr>
          <p:cNvPr id="21" name="codex-backend-q1-body">
            <a:extLst>
              <a:ext uri="{FF2B5EF4-FFF2-40B4-BE49-F238E27FC236}">
                <a16:creationId xmlns:a16="http://schemas.microsoft.com/office/drawing/2014/main" id="{640C88D2-8FE7-CBE4-9087-418E341038E8}"/>
              </a:ext>
            </a:extLst>
          </p:cNvPr>
          <p:cNvSpPr txBox="1"/>
          <p:nvPr/>
        </p:nvSpPr>
        <p:spPr>
          <a:xfrm>
            <a:off x="584200" y="5273842"/>
            <a:ext cx="5064978" cy="297517"/>
          </a:xfrm>
          <a:prstGeom prst="rect">
            <a:avLst/>
          </a:prstGeom>
          <a:noFill/>
        </p:spPr>
        <p:txBody>
          <a:bodyPr vert="horz" wrap="square" lIns="50800" tIns="25400" rIns="50800" bIns="25400" rtlCol="0">
            <a:spAutoFit/>
          </a:bodyPr>
          <a:lstStyle/>
          <a:p>
            <a:r>
              <a:rPr lang="vi-VN" sz="1600">
                <a:solidFill>
                  <a:srgbClr val="60677C"/>
                </a:solidFill>
                <a:latin typeface="Aptos" panose="020B0004020202020204" pitchFamily="34" charset="0"/>
              </a:rPr>
              <a:t>Validation / ingest / duration / quota</a:t>
            </a:r>
          </a:p>
        </p:txBody>
      </p:sp>
      <p:sp>
        <p:nvSpPr>
          <p:cNvPr id="22" name="codex-backend-arrow">
            <a:extLst>
              <a:ext uri="{FF2B5EF4-FFF2-40B4-BE49-F238E27FC236}">
                <a16:creationId xmlns:a16="http://schemas.microsoft.com/office/drawing/2014/main" id="{713CAABE-9156-2212-445E-F2BA237E79D9}"/>
              </a:ext>
            </a:extLst>
          </p:cNvPr>
          <p:cNvSpPr txBox="1"/>
          <p:nvPr/>
        </p:nvSpPr>
        <p:spPr>
          <a:xfrm>
            <a:off x="5843951" y="4613444"/>
            <a:ext cx="504097" cy="543739"/>
          </a:xfrm>
          <a:prstGeom prst="rect">
            <a:avLst/>
          </a:prstGeom>
          <a:noFill/>
        </p:spPr>
        <p:txBody>
          <a:bodyPr vert="horz" wrap="square" lIns="50800" tIns="25400" rIns="50800" bIns="25400" rtlCol="0">
            <a:spAutoFit/>
          </a:bodyPr>
          <a:lstStyle/>
          <a:p>
            <a:pPr algn="ctr"/>
            <a:r>
              <a:rPr lang="vi-VN" sz="3200" b="1" dirty="0">
                <a:solidFill>
                  <a:srgbClr val="C88639"/>
                </a:solidFill>
                <a:latin typeface="Aptos" panose="020B0004020202020204" pitchFamily="34" charset="0"/>
              </a:rPr>
              <a:t>→</a:t>
            </a:r>
          </a:p>
        </p:txBody>
      </p:sp>
      <p:sp>
        <p:nvSpPr>
          <p:cNvPr id="23" name="codex-backend-q2">
            <a:extLst>
              <a:ext uri="{FF2B5EF4-FFF2-40B4-BE49-F238E27FC236}">
                <a16:creationId xmlns:a16="http://schemas.microsoft.com/office/drawing/2014/main" id="{042382A3-FE7F-A664-2327-2944DB672314}"/>
              </a:ext>
            </a:extLst>
          </p:cNvPr>
          <p:cNvSpPr/>
          <p:nvPr/>
        </p:nvSpPr>
        <p:spPr>
          <a:xfrm>
            <a:off x="6281839" y="4080043"/>
            <a:ext cx="5593080" cy="1560361"/>
          </a:xfrm>
          <a:prstGeom prst="roundRect">
            <a:avLst>
              <a:gd name="adj" fmla="val 8000"/>
            </a:avLst>
          </a:prstGeom>
          <a:solidFill>
            <a:srgbClr val="FAF7F2"/>
          </a:solidFill>
          <a:ln w="11430">
            <a:solidFill>
              <a:srgbClr val="CED6E5"/>
            </a:solidFill>
          </a:ln>
          <a:effectLst/>
          <a:extLs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vi-VN" sz="2400"/>
          </a:p>
        </p:txBody>
      </p:sp>
      <p:sp>
        <p:nvSpPr>
          <p:cNvPr id="24" name="codex-backend-q2-label">
            <a:extLst>
              <a:ext uri="{FF2B5EF4-FFF2-40B4-BE49-F238E27FC236}">
                <a16:creationId xmlns:a16="http://schemas.microsoft.com/office/drawing/2014/main" id="{D6C05C3F-6BBF-4C88-3E46-A7E1823341BA}"/>
              </a:ext>
            </a:extLst>
          </p:cNvPr>
          <p:cNvSpPr txBox="1"/>
          <p:nvPr/>
        </p:nvSpPr>
        <p:spPr>
          <a:xfrm>
            <a:off x="6531681" y="4232444"/>
            <a:ext cx="1109138" cy="220573"/>
          </a:xfrm>
          <a:prstGeom prst="rect">
            <a:avLst/>
          </a:prstGeom>
          <a:noFill/>
        </p:spPr>
        <p:txBody>
          <a:bodyPr vert="horz" wrap="square" lIns="50800" tIns="25400" rIns="50800" bIns="25400" rtlCol="0">
            <a:spAutoFit/>
          </a:bodyPr>
          <a:lstStyle/>
          <a:p>
            <a:r>
              <a:rPr lang="vi-VN" sz="1100" b="1">
                <a:solidFill>
                  <a:srgbClr val="738CC2"/>
                </a:solidFill>
                <a:latin typeface="Aptos" panose="020B0004020202020204" pitchFamily="34" charset="0"/>
              </a:rPr>
              <a:t>QUEUE 2</a:t>
            </a:r>
          </a:p>
        </p:txBody>
      </p:sp>
      <p:sp>
        <p:nvSpPr>
          <p:cNvPr id="25" name="codex-backend-q2-chip">
            <a:extLst>
              <a:ext uri="{FF2B5EF4-FFF2-40B4-BE49-F238E27FC236}">
                <a16:creationId xmlns:a16="http://schemas.microsoft.com/office/drawing/2014/main" id="{E5520BC9-72CA-28C3-8751-E098714B7DEC}"/>
              </a:ext>
            </a:extLst>
          </p:cNvPr>
          <p:cNvSpPr/>
          <p:nvPr/>
        </p:nvSpPr>
        <p:spPr>
          <a:xfrm>
            <a:off x="6531681" y="4613444"/>
            <a:ext cx="5175973" cy="508000"/>
          </a:xfrm>
          <a:prstGeom prst="roundRect">
            <a:avLst>
              <a:gd name="adj" fmla="val 8000"/>
            </a:avLst>
          </a:prstGeom>
          <a:solidFill>
            <a:srgbClr val="564E48"/>
          </a:solidFill>
          <a:ln w="7620">
            <a:solidFill>
              <a:srgbClr val="564E48"/>
            </a:solidFill>
          </a:ln>
          <a:effectLst/>
          <a:extLs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rtlCol="0" anchor="ctr"/>
          <a:lstStyle/>
          <a:p>
            <a:pPr algn="ctr"/>
            <a:r>
              <a:rPr lang="vi-VN" b="1">
                <a:solidFill>
                  <a:srgbClr val="C88639"/>
                </a:solidFill>
                <a:latin typeface="Aptos" panose="020B0004020202020204" pitchFamily="34" charset="0"/>
              </a:rPr>
              <a:t>ai-processing</a:t>
            </a:r>
          </a:p>
        </p:txBody>
      </p:sp>
      <p:sp>
        <p:nvSpPr>
          <p:cNvPr id="26" name="codex-backend-q2-body">
            <a:extLst>
              <a:ext uri="{FF2B5EF4-FFF2-40B4-BE49-F238E27FC236}">
                <a16:creationId xmlns:a16="http://schemas.microsoft.com/office/drawing/2014/main" id="{C4CE8297-B334-1FED-35E6-11EE1AFD723F}"/>
              </a:ext>
            </a:extLst>
          </p:cNvPr>
          <p:cNvSpPr txBox="1"/>
          <p:nvPr/>
        </p:nvSpPr>
        <p:spPr>
          <a:xfrm>
            <a:off x="6531681" y="5273844"/>
            <a:ext cx="5175973" cy="297517"/>
          </a:xfrm>
          <a:prstGeom prst="rect">
            <a:avLst/>
          </a:prstGeom>
          <a:noFill/>
        </p:spPr>
        <p:txBody>
          <a:bodyPr vert="horz" wrap="square" lIns="50800" tIns="25400" rIns="50800" bIns="25400" rtlCol="0">
            <a:spAutoFit/>
          </a:bodyPr>
          <a:lstStyle/>
          <a:p>
            <a:r>
              <a:rPr lang="en-US" sz="1600">
                <a:solidFill>
                  <a:srgbClr val="60677C"/>
                </a:solidFill>
                <a:latin typeface="Aptos" panose="020B0004020202020204" pitchFamily="34" charset="0"/>
              </a:rPr>
              <a:t>ASR, NMT, artifact generation, progress events</a:t>
            </a:r>
            <a:endParaRPr lang="vi-VN" sz="1600">
              <a:solidFill>
                <a:srgbClr val="60677C"/>
              </a:solidFill>
              <a:latin typeface="Aptos" panose="020B0004020202020204" pitchFamily="34" charset="0"/>
            </a:endParaRPr>
          </a:p>
        </p:txBody>
      </p:sp>
      <p:sp>
        <p:nvSpPr>
          <p:cNvPr id="27" name="codex-seq-kicker">
            <a:extLst>
              <a:ext uri="{FF2B5EF4-FFF2-40B4-BE49-F238E27FC236}">
                <a16:creationId xmlns:a16="http://schemas.microsoft.com/office/drawing/2014/main" id="{4287CAEB-2676-6EEF-554E-97938F3C3506}"/>
              </a:ext>
            </a:extLst>
          </p:cNvPr>
          <p:cNvSpPr txBox="1"/>
          <p:nvPr/>
        </p:nvSpPr>
        <p:spPr>
          <a:xfrm>
            <a:off x="5334000" y="203200"/>
            <a:ext cx="2032000" cy="348813"/>
          </a:xfrm>
          <a:prstGeom prst="rect">
            <a:avLst/>
          </a:prstGeom>
          <a:noFill/>
        </p:spPr>
        <p:txBody>
          <a:bodyPr vert="horz" lIns="25400" tIns="12700" rIns="25400" bIns="12700" rtlCol="0">
            <a:spAutoFit/>
          </a:bodyPr>
          <a:lstStyle/>
          <a:p>
            <a:pPr algn="ctr"/>
            <a:r>
              <a:rPr lang="vi-VN" sz="2100" b="1">
                <a:solidFill>
                  <a:srgbClr val="C88639"/>
                </a:solidFill>
                <a:latin typeface="Aptos" panose="020B0004020202020204" pitchFamily="34" charset="0"/>
              </a:rPr>
              <a:t>HỆ THỐNG</a:t>
            </a:r>
          </a:p>
        </p:txBody>
      </p:sp>
      <p:sp>
        <p:nvSpPr>
          <p:cNvPr id="28" name="codex-seq-title">
            <a:extLst>
              <a:ext uri="{FF2B5EF4-FFF2-40B4-BE49-F238E27FC236}">
                <a16:creationId xmlns:a16="http://schemas.microsoft.com/office/drawing/2014/main" id="{C40CBBED-C2D6-A861-8073-16CE13C4F4EA}"/>
              </a:ext>
            </a:extLst>
          </p:cNvPr>
          <p:cNvSpPr txBox="1"/>
          <p:nvPr/>
        </p:nvSpPr>
        <p:spPr>
          <a:xfrm>
            <a:off x="3657600" y="633283"/>
            <a:ext cx="5384800" cy="394980"/>
          </a:xfrm>
          <a:prstGeom prst="rect">
            <a:avLst/>
          </a:prstGeom>
          <a:noFill/>
        </p:spPr>
        <p:txBody>
          <a:bodyPr vert="horz" lIns="25400" tIns="12700" rIns="25400" bIns="12700" rtlCol="0">
            <a:spAutoFit/>
          </a:bodyPr>
          <a:lstStyle/>
          <a:p>
            <a:pPr algn="ctr"/>
            <a:r>
              <a:rPr lang="vi-VN" sz="2400" b="1" dirty="0">
                <a:latin typeface="Aptos" panose="020B0004020202020204" pitchFamily="34" charset="0"/>
              </a:rPr>
              <a:t>BACKEND ORCHESTRATION</a:t>
            </a:r>
          </a:p>
        </p:txBody>
      </p:sp>
    </p:spTree>
    <p:extLst>
      <p:ext uri="{BB962C8B-B14F-4D97-AF65-F5344CB8AC3E}">
        <p14:creationId xmlns:p14="http://schemas.microsoft.com/office/powerpoint/2010/main" val="3238527941"/>
      </p:ext>
    </p:extLst>
  </p:cSld>
  <p:clrMapOvr>
    <a:masterClrMapping/>
  </p:clrMapOvr>
  <p:transition spd="slow">
    <p:push dir="u"/>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5F1EA"/>
        </a:solidFill>
        <a:effectLst/>
      </p:bgPr>
    </p:bg>
    <p:spTree>
      <p:nvGrpSpPr>
        <p:cNvPr id="1" name=""/>
        <p:cNvGrpSpPr/>
        <p:nvPr/>
      </p:nvGrpSpPr>
      <p:grpSpPr>
        <a:xfrm>
          <a:off x="0" y="0"/>
          <a:ext cx="0" cy="0"/>
          <a:chOff x="0" y="0"/>
          <a:chExt cx="0" cy="0"/>
        </a:xfrm>
      </p:grpSpPr>
      <p:sp>
        <p:nvSpPr>
          <p:cNvPr id="2" name="codex-ai-marker">
            <a:extLst>
              <a:ext uri="{FF2B5EF4-FFF2-40B4-BE49-F238E27FC236}">
                <a16:creationId xmlns:a16="http://schemas.microsoft.com/office/drawing/2014/main" id="{51672350-92C7-9A61-305E-868FC755CC56}"/>
              </a:ext>
            </a:extLst>
          </p:cNvPr>
          <p:cNvSpPr txBox="1"/>
          <p:nvPr/>
        </p:nvSpPr>
        <p:spPr>
          <a:xfrm>
            <a:off x="0" y="0"/>
            <a:ext cx="12700" cy="66685"/>
          </a:xfrm>
          <a:prstGeom prst="rect">
            <a:avLst/>
          </a:prstGeom>
          <a:noFill/>
        </p:spPr>
        <p:txBody>
          <a:bodyPr vert="horz" lIns="50800" tIns="25400" rIns="50800" bIns="25400" rtlCol="0">
            <a:spAutoFit/>
          </a:bodyPr>
          <a:lstStyle/>
          <a:p>
            <a:endParaRPr lang="vi-VN" sz="100">
              <a:solidFill>
                <a:srgbClr val="F5F1EA"/>
              </a:solidFill>
              <a:latin typeface="Aptos" panose="020B0004020202020204" pitchFamily="34" charset="0"/>
            </a:endParaRPr>
          </a:p>
        </p:txBody>
      </p:sp>
      <p:sp>
        <p:nvSpPr>
          <p:cNvPr id="3" name="codex-ai-kicker">
            <a:extLst>
              <a:ext uri="{FF2B5EF4-FFF2-40B4-BE49-F238E27FC236}">
                <a16:creationId xmlns:a16="http://schemas.microsoft.com/office/drawing/2014/main" id="{7D3B23C4-6617-E365-1670-2BB26FFBDB3D}"/>
              </a:ext>
            </a:extLst>
          </p:cNvPr>
          <p:cNvSpPr txBox="1"/>
          <p:nvPr/>
        </p:nvSpPr>
        <p:spPr>
          <a:xfrm>
            <a:off x="5334000" y="228600"/>
            <a:ext cx="2032000" cy="374461"/>
          </a:xfrm>
          <a:prstGeom prst="rect">
            <a:avLst/>
          </a:prstGeom>
          <a:noFill/>
        </p:spPr>
        <p:txBody>
          <a:bodyPr vert="horz" lIns="50800" tIns="25400" rIns="50800" bIns="25400" rtlCol="0">
            <a:spAutoFit/>
          </a:bodyPr>
          <a:lstStyle/>
          <a:p>
            <a:pPr algn="ctr"/>
            <a:r>
              <a:rPr lang="en-US" sz="2100" b="1" dirty="0">
                <a:solidFill>
                  <a:srgbClr val="C88639"/>
                </a:solidFill>
                <a:latin typeface="Aptos" panose="020B0004020202020204" pitchFamily="34" charset="0"/>
              </a:rPr>
              <a:t>HỆ THỐNG</a:t>
            </a:r>
            <a:endParaRPr lang="vi-VN" sz="2100" b="1" dirty="0">
              <a:solidFill>
                <a:srgbClr val="C88639"/>
              </a:solidFill>
              <a:latin typeface="Aptos" panose="020B0004020202020204" pitchFamily="34" charset="0"/>
            </a:endParaRPr>
          </a:p>
        </p:txBody>
      </p:sp>
      <p:sp>
        <p:nvSpPr>
          <p:cNvPr id="4" name="codex-ai-title">
            <a:extLst>
              <a:ext uri="{FF2B5EF4-FFF2-40B4-BE49-F238E27FC236}">
                <a16:creationId xmlns:a16="http://schemas.microsoft.com/office/drawing/2014/main" id="{C3A393E8-F4BE-449D-9B95-479CFE02B04D}"/>
              </a:ext>
            </a:extLst>
          </p:cNvPr>
          <p:cNvSpPr txBox="1"/>
          <p:nvPr/>
        </p:nvSpPr>
        <p:spPr>
          <a:xfrm>
            <a:off x="3073400" y="736600"/>
            <a:ext cx="6553200" cy="420628"/>
          </a:xfrm>
          <a:prstGeom prst="rect">
            <a:avLst/>
          </a:prstGeom>
          <a:noFill/>
        </p:spPr>
        <p:txBody>
          <a:bodyPr vert="horz" lIns="50800" tIns="25400" rIns="50800" bIns="25400" rtlCol="0">
            <a:spAutoFit/>
          </a:bodyPr>
          <a:lstStyle/>
          <a:p>
            <a:pPr algn="ctr"/>
            <a:r>
              <a:rPr lang="en-US" sz="2400" b="1" dirty="0">
                <a:solidFill>
                  <a:srgbClr val="000000"/>
                </a:solidFill>
                <a:latin typeface="Aptos" panose="020B0004020202020204" pitchFamily="34" charset="0"/>
              </a:rPr>
              <a:t>AI PIPELINE</a:t>
            </a:r>
            <a:endParaRPr lang="vi-VN" sz="2400" b="1" dirty="0">
              <a:solidFill>
                <a:srgbClr val="000000"/>
              </a:solidFill>
              <a:latin typeface="Aptos" panose="020B0004020202020204" pitchFamily="34" charset="0"/>
            </a:endParaRPr>
          </a:p>
        </p:txBody>
      </p:sp>
      <p:sp>
        <p:nvSpPr>
          <p:cNvPr id="5" name="codex-ai-top-1">
            <a:extLst>
              <a:ext uri="{FF2B5EF4-FFF2-40B4-BE49-F238E27FC236}">
                <a16:creationId xmlns:a16="http://schemas.microsoft.com/office/drawing/2014/main" id="{49BFE075-09F4-D4A2-742A-63DABF3900B3}"/>
              </a:ext>
            </a:extLst>
          </p:cNvPr>
          <p:cNvSpPr/>
          <p:nvPr/>
        </p:nvSpPr>
        <p:spPr>
          <a:xfrm>
            <a:off x="330200" y="1455073"/>
            <a:ext cx="2413000" cy="762000"/>
          </a:xfrm>
          <a:prstGeom prst="roundRect">
            <a:avLst>
              <a:gd name="adj" fmla="val 8000"/>
            </a:avLst>
          </a:prstGeom>
          <a:solidFill>
            <a:srgbClr val="E9EFFC"/>
          </a:solidFill>
          <a:ln w="12700">
            <a:solidFill>
              <a:srgbClr val="A0B7E5"/>
            </a:solidFill>
          </a:ln>
          <a:effectLst/>
          <a:extLs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rtlCol="0" anchor="ctr"/>
          <a:lstStyle/>
          <a:p>
            <a:pPr algn="ctr"/>
            <a:r>
              <a:rPr lang="vi-VN" sz="1500" b="1" dirty="0">
                <a:solidFill>
                  <a:srgbClr val="242C44"/>
                </a:solidFill>
                <a:latin typeface="Aptos" panose="020B0004020202020204" pitchFamily="34" charset="0"/>
              </a:rPr>
              <a:t>Media ingest + audio prep</a:t>
            </a:r>
          </a:p>
        </p:txBody>
      </p:sp>
      <p:sp>
        <p:nvSpPr>
          <p:cNvPr id="7" name="codex-ai-top-2">
            <a:extLst>
              <a:ext uri="{FF2B5EF4-FFF2-40B4-BE49-F238E27FC236}">
                <a16:creationId xmlns:a16="http://schemas.microsoft.com/office/drawing/2014/main" id="{BAB17782-C7AD-79EC-B17E-FFFDE37F75C4}"/>
              </a:ext>
            </a:extLst>
          </p:cNvPr>
          <p:cNvSpPr/>
          <p:nvPr/>
        </p:nvSpPr>
        <p:spPr>
          <a:xfrm>
            <a:off x="3175000" y="1455073"/>
            <a:ext cx="2768600" cy="762000"/>
          </a:xfrm>
          <a:prstGeom prst="roundRect">
            <a:avLst>
              <a:gd name="adj" fmla="val 8000"/>
            </a:avLst>
          </a:prstGeom>
          <a:solidFill>
            <a:srgbClr val="F6ECE2"/>
          </a:solidFill>
          <a:ln w="12700">
            <a:solidFill>
              <a:srgbClr val="DDB892"/>
            </a:solidFill>
          </a:ln>
          <a:effectLst/>
          <a:extLs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rtlCol="0" anchor="ctr"/>
          <a:lstStyle/>
          <a:p>
            <a:pPr algn="ctr"/>
            <a:r>
              <a:rPr lang="vi-VN" sz="1500" b="1" dirty="0">
                <a:solidFill>
                  <a:srgbClr val="242C44"/>
                </a:solidFill>
                <a:latin typeface="Aptos" panose="020B0004020202020204" pitchFamily="34" charset="0"/>
              </a:rPr>
              <a:t>Source inspection + Chinese prior</a:t>
            </a:r>
          </a:p>
        </p:txBody>
      </p:sp>
      <p:sp>
        <p:nvSpPr>
          <p:cNvPr id="9" name="codex-ai-top-3">
            <a:extLst>
              <a:ext uri="{FF2B5EF4-FFF2-40B4-BE49-F238E27FC236}">
                <a16:creationId xmlns:a16="http://schemas.microsoft.com/office/drawing/2014/main" id="{C2BF12DB-5369-4CF9-683A-5721E785EE62}"/>
              </a:ext>
            </a:extLst>
          </p:cNvPr>
          <p:cNvSpPr/>
          <p:nvPr/>
        </p:nvSpPr>
        <p:spPr>
          <a:xfrm>
            <a:off x="6426200" y="1455073"/>
            <a:ext cx="2362200" cy="762000"/>
          </a:xfrm>
          <a:prstGeom prst="roundRect">
            <a:avLst>
              <a:gd name="adj" fmla="val 8000"/>
            </a:avLst>
          </a:prstGeom>
          <a:solidFill>
            <a:srgbClr val="E5F1EF"/>
          </a:solidFill>
          <a:ln w="12700">
            <a:solidFill>
              <a:srgbClr val="97BEB7"/>
            </a:solidFill>
          </a:ln>
          <a:effectLst/>
          <a:extLs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rtlCol="0" anchor="ctr"/>
          <a:lstStyle/>
          <a:p>
            <a:pPr algn="ctr"/>
            <a:r>
              <a:rPr lang="vi-VN" sz="1500" b="1">
                <a:solidFill>
                  <a:srgbClr val="242C44"/>
                </a:solidFill>
                <a:latin typeface="Aptos" panose="020B0004020202020204" pitchFamily="34" charset="0"/>
              </a:rPr>
              <a:t>VAD + segmentation</a:t>
            </a:r>
          </a:p>
        </p:txBody>
      </p:sp>
      <p:sp>
        <p:nvSpPr>
          <p:cNvPr id="11" name="codex-ai-top-4">
            <a:extLst>
              <a:ext uri="{FF2B5EF4-FFF2-40B4-BE49-F238E27FC236}">
                <a16:creationId xmlns:a16="http://schemas.microsoft.com/office/drawing/2014/main" id="{692FE07F-E1A8-D20E-5386-769D54C4177A}"/>
              </a:ext>
            </a:extLst>
          </p:cNvPr>
          <p:cNvSpPr/>
          <p:nvPr/>
        </p:nvSpPr>
        <p:spPr>
          <a:xfrm>
            <a:off x="9296400" y="1447800"/>
            <a:ext cx="2590800" cy="762000"/>
          </a:xfrm>
          <a:prstGeom prst="roundRect">
            <a:avLst>
              <a:gd name="adj" fmla="val 8000"/>
            </a:avLst>
          </a:prstGeom>
          <a:solidFill>
            <a:srgbClr val="EEE9FC"/>
          </a:solidFill>
          <a:ln w="12700">
            <a:solidFill>
              <a:srgbClr val="B5A5E4"/>
            </a:solidFill>
          </a:ln>
          <a:effectLst/>
          <a:extLs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rtlCol="0" anchor="ctr"/>
          <a:lstStyle/>
          <a:p>
            <a:pPr algn="ctr"/>
            <a:r>
              <a:rPr lang="vi-VN" sz="1500" b="1">
                <a:solidFill>
                  <a:srgbClr val="242C44"/>
                </a:solidFill>
                <a:latin typeface="Aptos" panose="020B0004020202020204" pitchFamily="34" charset="0"/>
              </a:rPr>
              <a:t>ASR routing decision</a:t>
            </a:r>
          </a:p>
        </p:txBody>
      </p:sp>
      <p:sp>
        <p:nvSpPr>
          <p:cNvPr id="12" name="codex-ai-english">
            <a:extLst>
              <a:ext uri="{FF2B5EF4-FFF2-40B4-BE49-F238E27FC236}">
                <a16:creationId xmlns:a16="http://schemas.microsoft.com/office/drawing/2014/main" id="{CC6B900F-B409-D7DE-ACC1-26D68109E1DD}"/>
              </a:ext>
            </a:extLst>
          </p:cNvPr>
          <p:cNvSpPr/>
          <p:nvPr/>
        </p:nvSpPr>
        <p:spPr>
          <a:xfrm>
            <a:off x="406400" y="2794000"/>
            <a:ext cx="5308601" cy="2387600"/>
          </a:xfrm>
          <a:prstGeom prst="roundRect">
            <a:avLst>
              <a:gd name="adj" fmla="val 8000"/>
            </a:avLst>
          </a:prstGeom>
          <a:solidFill>
            <a:srgbClr val="E5F1EF"/>
          </a:solidFill>
          <a:ln w="12700">
            <a:solidFill>
              <a:srgbClr val="97BEB7"/>
            </a:solidFill>
          </a:ln>
          <a:effectLst/>
          <a:extLs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vi-VN"/>
          </a:p>
        </p:txBody>
      </p:sp>
      <p:sp>
        <p:nvSpPr>
          <p:cNvPr id="13" name="codex-ai-english-title">
            <a:extLst>
              <a:ext uri="{FF2B5EF4-FFF2-40B4-BE49-F238E27FC236}">
                <a16:creationId xmlns:a16="http://schemas.microsoft.com/office/drawing/2014/main" id="{9B405C66-B6CC-C6F5-8570-75BC64349A8F}"/>
              </a:ext>
            </a:extLst>
          </p:cNvPr>
          <p:cNvSpPr txBox="1"/>
          <p:nvPr/>
        </p:nvSpPr>
        <p:spPr>
          <a:xfrm>
            <a:off x="584200" y="2946400"/>
            <a:ext cx="4969577" cy="328295"/>
          </a:xfrm>
          <a:prstGeom prst="rect">
            <a:avLst/>
          </a:prstGeom>
          <a:noFill/>
        </p:spPr>
        <p:txBody>
          <a:bodyPr vert="horz" wrap="square" lIns="50800" tIns="25400" rIns="50800" bIns="25400" rtlCol="0">
            <a:spAutoFit/>
          </a:bodyPr>
          <a:lstStyle/>
          <a:p>
            <a:pPr algn="ctr"/>
            <a:r>
              <a:rPr lang="vi-VN" b="1" dirty="0">
                <a:solidFill>
                  <a:srgbClr val="242C44"/>
                </a:solidFill>
                <a:latin typeface="Aptos" panose="020B0004020202020204" pitchFamily="34" charset="0"/>
              </a:rPr>
              <a:t>English lane</a:t>
            </a:r>
          </a:p>
        </p:txBody>
      </p:sp>
      <p:sp>
        <p:nvSpPr>
          <p:cNvPr id="15" name="codex-ai-chinese">
            <a:extLst>
              <a:ext uri="{FF2B5EF4-FFF2-40B4-BE49-F238E27FC236}">
                <a16:creationId xmlns:a16="http://schemas.microsoft.com/office/drawing/2014/main" id="{DDA95FAA-727E-61E6-CA74-6B94E30E28F3}"/>
              </a:ext>
            </a:extLst>
          </p:cNvPr>
          <p:cNvSpPr/>
          <p:nvPr/>
        </p:nvSpPr>
        <p:spPr>
          <a:xfrm>
            <a:off x="6333422" y="2808156"/>
            <a:ext cx="5617277" cy="2387600"/>
          </a:xfrm>
          <a:prstGeom prst="roundRect">
            <a:avLst>
              <a:gd name="adj" fmla="val 8000"/>
            </a:avLst>
          </a:prstGeom>
          <a:solidFill>
            <a:srgbClr val="F6ECE2"/>
          </a:solidFill>
          <a:ln w="12700">
            <a:solidFill>
              <a:srgbClr val="DDB892"/>
            </a:solidFill>
          </a:ln>
          <a:effectLst/>
          <a:extLs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vi-VN"/>
          </a:p>
        </p:txBody>
      </p:sp>
      <p:sp>
        <p:nvSpPr>
          <p:cNvPr id="16" name="codex-ai-chinese-title">
            <a:extLst>
              <a:ext uri="{FF2B5EF4-FFF2-40B4-BE49-F238E27FC236}">
                <a16:creationId xmlns:a16="http://schemas.microsoft.com/office/drawing/2014/main" id="{DE28B43C-3C0E-B4AD-162C-106CAC7CA688}"/>
              </a:ext>
            </a:extLst>
          </p:cNvPr>
          <p:cNvSpPr txBox="1"/>
          <p:nvPr/>
        </p:nvSpPr>
        <p:spPr>
          <a:xfrm>
            <a:off x="6654800" y="2946400"/>
            <a:ext cx="5059145" cy="328295"/>
          </a:xfrm>
          <a:prstGeom prst="rect">
            <a:avLst/>
          </a:prstGeom>
          <a:noFill/>
        </p:spPr>
        <p:txBody>
          <a:bodyPr vert="horz" wrap="square" lIns="50800" tIns="25400" rIns="50800" bIns="25400" rtlCol="0">
            <a:spAutoFit/>
          </a:bodyPr>
          <a:lstStyle/>
          <a:p>
            <a:pPr algn="ctr"/>
            <a:r>
              <a:rPr lang="vi-VN" b="1" dirty="0">
                <a:solidFill>
                  <a:srgbClr val="242C44"/>
                </a:solidFill>
                <a:latin typeface="Aptos" panose="020B0004020202020204" pitchFamily="34" charset="0"/>
              </a:rPr>
              <a:t>Chinese lane</a:t>
            </a:r>
          </a:p>
        </p:txBody>
      </p:sp>
      <p:sp>
        <p:nvSpPr>
          <p:cNvPr id="18" name="codex-ai-bottom-1">
            <a:extLst>
              <a:ext uri="{FF2B5EF4-FFF2-40B4-BE49-F238E27FC236}">
                <a16:creationId xmlns:a16="http://schemas.microsoft.com/office/drawing/2014/main" id="{4FA5D8E1-DCD8-2DBA-C72F-6F2A745E421C}"/>
              </a:ext>
            </a:extLst>
          </p:cNvPr>
          <p:cNvSpPr/>
          <p:nvPr/>
        </p:nvSpPr>
        <p:spPr>
          <a:xfrm>
            <a:off x="406400" y="5588000"/>
            <a:ext cx="3606800" cy="990600"/>
          </a:xfrm>
          <a:prstGeom prst="roundRect">
            <a:avLst>
              <a:gd name="adj" fmla="val 8000"/>
            </a:avLst>
          </a:prstGeom>
          <a:solidFill>
            <a:srgbClr val="FFFFFF"/>
          </a:solidFill>
          <a:ln w="12700">
            <a:solidFill>
              <a:srgbClr val="CED6E5"/>
            </a:solidFill>
          </a:ln>
          <a:effectLst/>
          <a:extLs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vi-VN"/>
          </a:p>
        </p:txBody>
      </p:sp>
      <p:sp>
        <p:nvSpPr>
          <p:cNvPr id="19" name="codex-ai-bottom-main-1">
            <a:extLst>
              <a:ext uri="{FF2B5EF4-FFF2-40B4-BE49-F238E27FC236}">
                <a16:creationId xmlns:a16="http://schemas.microsoft.com/office/drawing/2014/main" id="{6F27C608-C543-8736-13A9-7C20617764A0}"/>
              </a:ext>
            </a:extLst>
          </p:cNvPr>
          <p:cNvSpPr txBox="1"/>
          <p:nvPr/>
        </p:nvSpPr>
        <p:spPr>
          <a:xfrm>
            <a:off x="558800" y="5791200"/>
            <a:ext cx="3302000" cy="297517"/>
          </a:xfrm>
          <a:prstGeom prst="rect">
            <a:avLst/>
          </a:prstGeom>
          <a:noFill/>
        </p:spPr>
        <p:txBody>
          <a:bodyPr vert="horz" lIns="50800" tIns="25400" rIns="50800" bIns="25400" rtlCol="0">
            <a:spAutoFit/>
          </a:bodyPr>
          <a:lstStyle/>
          <a:p>
            <a:pPr algn="ctr"/>
            <a:r>
              <a:rPr lang="vi-VN" sz="1600" b="1" dirty="0">
                <a:solidFill>
                  <a:srgbClr val="242C44"/>
                </a:solidFill>
              </a:rPr>
              <a:t>chunks/</a:t>
            </a:r>
          </a:p>
        </p:txBody>
      </p:sp>
      <p:sp>
        <p:nvSpPr>
          <p:cNvPr id="20" name="codex-ai-bottom-sub-1">
            <a:extLst>
              <a:ext uri="{FF2B5EF4-FFF2-40B4-BE49-F238E27FC236}">
                <a16:creationId xmlns:a16="http://schemas.microsoft.com/office/drawing/2014/main" id="{6CFAD04C-8E2A-AD6C-C77A-B9EB839F2505}"/>
              </a:ext>
            </a:extLst>
          </p:cNvPr>
          <p:cNvSpPr txBox="1"/>
          <p:nvPr/>
        </p:nvSpPr>
        <p:spPr>
          <a:xfrm>
            <a:off x="558800" y="6172200"/>
            <a:ext cx="3302000" cy="359073"/>
          </a:xfrm>
          <a:prstGeom prst="rect">
            <a:avLst/>
          </a:prstGeom>
          <a:noFill/>
        </p:spPr>
        <p:txBody>
          <a:bodyPr vert="horz" lIns="50800" tIns="25400" rIns="50800" bIns="25400" rtlCol="0">
            <a:spAutoFit/>
          </a:bodyPr>
          <a:lstStyle/>
          <a:p>
            <a:pPr algn="ctr"/>
            <a:r>
              <a:rPr lang="vi-VN" dirty="0">
                <a:solidFill>
                  <a:srgbClr val="60677C"/>
                </a:solidFill>
                <a:latin typeface="Aptos" panose="020B0004020202020204" pitchFamily="34" charset="0"/>
              </a:rPr>
              <a:t>Transcript checkpoints </a:t>
            </a:r>
            <a:r>
              <a:rPr lang="vi-VN" sz="2000" dirty="0">
                <a:solidFill>
                  <a:srgbClr val="60677C"/>
                </a:solidFill>
                <a:latin typeface="Aptos" panose="020B0004020202020204" pitchFamily="34" charset="0"/>
              </a:rPr>
              <a:t>sau</a:t>
            </a:r>
            <a:r>
              <a:rPr lang="vi-VN" dirty="0">
                <a:solidFill>
                  <a:srgbClr val="60677C"/>
                </a:solidFill>
                <a:latin typeface="Aptos" panose="020B0004020202020204" pitchFamily="34" charset="0"/>
              </a:rPr>
              <a:t> ASR</a:t>
            </a:r>
          </a:p>
        </p:txBody>
      </p:sp>
      <p:sp>
        <p:nvSpPr>
          <p:cNvPr id="21" name="codex-ai-bottom-2">
            <a:extLst>
              <a:ext uri="{FF2B5EF4-FFF2-40B4-BE49-F238E27FC236}">
                <a16:creationId xmlns:a16="http://schemas.microsoft.com/office/drawing/2014/main" id="{A20CE7EC-C786-494F-F662-5DEC39CFDB44}"/>
              </a:ext>
            </a:extLst>
          </p:cNvPr>
          <p:cNvSpPr/>
          <p:nvPr/>
        </p:nvSpPr>
        <p:spPr>
          <a:xfrm>
            <a:off x="4298616" y="5588000"/>
            <a:ext cx="4114800" cy="990600"/>
          </a:xfrm>
          <a:prstGeom prst="roundRect">
            <a:avLst>
              <a:gd name="adj" fmla="val 8000"/>
            </a:avLst>
          </a:prstGeom>
          <a:solidFill>
            <a:srgbClr val="FFFFFF"/>
          </a:solidFill>
          <a:ln w="12700">
            <a:solidFill>
              <a:srgbClr val="CED6E5"/>
            </a:solidFill>
          </a:ln>
          <a:effectLst/>
          <a:extLs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vi-VN"/>
          </a:p>
        </p:txBody>
      </p:sp>
      <p:sp>
        <p:nvSpPr>
          <p:cNvPr id="22" name="codex-ai-bottom-main-2">
            <a:extLst>
              <a:ext uri="{FF2B5EF4-FFF2-40B4-BE49-F238E27FC236}">
                <a16:creationId xmlns:a16="http://schemas.microsoft.com/office/drawing/2014/main" id="{DEAECEFB-9CAF-2C8F-52B9-4C5549B0E05D}"/>
              </a:ext>
            </a:extLst>
          </p:cNvPr>
          <p:cNvSpPr txBox="1"/>
          <p:nvPr/>
        </p:nvSpPr>
        <p:spPr>
          <a:xfrm>
            <a:off x="4451016" y="5791200"/>
            <a:ext cx="3810000" cy="297517"/>
          </a:xfrm>
          <a:prstGeom prst="rect">
            <a:avLst/>
          </a:prstGeom>
          <a:noFill/>
        </p:spPr>
        <p:txBody>
          <a:bodyPr vert="horz" lIns="50800" tIns="25400" rIns="50800" bIns="25400" rtlCol="0">
            <a:spAutoFit/>
          </a:bodyPr>
          <a:lstStyle/>
          <a:p>
            <a:pPr algn="ctr"/>
            <a:r>
              <a:rPr lang="vi-VN" sz="1600" b="1" dirty="0">
                <a:solidFill>
                  <a:srgbClr val="242C44"/>
                </a:solidFill>
              </a:rPr>
              <a:t>translated_batches/</a:t>
            </a:r>
          </a:p>
        </p:txBody>
      </p:sp>
      <p:sp>
        <p:nvSpPr>
          <p:cNvPr id="23" name="codex-ai-bottom-sub-2">
            <a:extLst>
              <a:ext uri="{FF2B5EF4-FFF2-40B4-BE49-F238E27FC236}">
                <a16:creationId xmlns:a16="http://schemas.microsoft.com/office/drawing/2014/main" id="{826A023D-30C5-1687-F5FF-6DFFA0230692}"/>
              </a:ext>
            </a:extLst>
          </p:cNvPr>
          <p:cNvSpPr txBox="1"/>
          <p:nvPr/>
        </p:nvSpPr>
        <p:spPr>
          <a:xfrm>
            <a:off x="4451016" y="6172200"/>
            <a:ext cx="3810000" cy="328295"/>
          </a:xfrm>
          <a:prstGeom prst="rect">
            <a:avLst/>
          </a:prstGeom>
          <a:noFill/>
        </p:spPr>
        <p:txBody>
          <a:bodyPr vert="horz" lIns="50800" tIns="25400" rIns="50800" bIns="25400" rtlCol="0">
            <a:spAutoFit/>
          </a:bodyPr>
          <a:lstStyle/>
          <a:p>
            <a:pPr algn="ctr"/>
            <a:r>
              <a:rPr lang="vi-VN" dirty="0">
                <a:solidFill>
                  <a:srgbClr val="60677C"/>
                </a:solidFill>
                <a:latin typeface="Aptos" panose="020B0004020202020204" pitchFamily="34" charset="0"/>
              </a:rPr>
              <a:t>Subtitle usable trước final</a:t>
            </a:r>
          </a:p>
        </p:txBody>
      </p:sp>
      <p:sp>
        <p:nvSpPr>
          <p:cNvPr id="24" name="codex-ai-bottom-3">
            <a:extLst>
              <a:ext uri="{FF2B5EF4-FFF2-40B4-BE49-F238E27FC236}">
                <a16:creationId xmlns:a16="http://schemas.microsoft.com/office/drawing/2014/main" id="{9F903FCE-574D-CCAC-A695-7A81C27348BC}"/>
              </a:ext>
            </a:extLst>
          </p:cNvPr>
          <p:cNvSpPr/>
          <p:nvPr/>
        </p:nvSpPr>
        <p:spPr>
          <a:xfrm>
            <a:off x="8656453" y="5588000"/>
            <a:ext cx="3294246" cy="990600"/>
          </a:xfrm>
          <a:prstGeom prst="roundRect">
            <a:avLst>
              <a:gd name="adj" fmla="val 8000"/>
            </a:avLst>
          </a:prstGeom>
          <a:solidFill>
            <a:srgbClr val="FAF7F2"/>
          </a:solidFill>
          <a:ln w="12700">
            <a:solidFill>
              <a:srgbClr val="DDB892"/>
            </a:solidFill>
          </a:ln>
          <a:effectLst/>
          <a:extLs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vi-VN"/>
          </a:p>
        </p:txBody>
      </p:sp>
      <p:sp>
        <p:nvSpPr>
          <p:cNvPr id="25" name="codex-ai-bottom-main-3">
            <a:extLst>
              <a:ext uri="{FF2B5EF4-FFF2-40B4-BE49-F238E27FC236}">
                <a16:creationId xmlns:a16="http://schemas.microsoft.com/office/drawing/2014/main" id="{2ED3761A-2671-88EF-012C-485836261086}"/>
              </a:ext>
            </a:extLst>
          </p:cNvPr>
          <p:cNvSpPr txBox="1"/>
          <p:nvPr/>
        </p:nvSpPr>
        <p:spPr>
          <a:xfrm>
            <a:off x="8808852" y="5791200"/>
            <a:ext cx="3078347" cy="297517"/>
          </a:xfrm>
          <a:prstGeom prst="rect">
            <a:avLst/>
          </a:prstGeom>
          <a:noFill/>
        </p:spPr>
        <p:txBody>
          <a:bodyPr vert="horz" wrap="square" lIns="50800" tIns="25400" rIns="50800" bIns="25400" rtlCol="0">
            <a:spAutoFit/>
          </a:bodyPr>
          <a:lstStyle/>
          <a:p>
            <a:pPr algn="ctr"/>
            <a:r>
              <a:rPr lang="vi-VN" sz="1600" b="1" dirty="0">
                <a:solidFill>
                  <a:srgbClr val="242C44"/>
                </a:solidFill>
              </a:rPr>
              <a:t>final.json</a:t>
            </a:r>
          </a:p>
        </p:txBody>
      </p:sp>
      <p:sp>
        <p:nvSpPr>
          <p:cNvPr id="26" name="codex-ai-bottom-sub-3">
            <a:extLst>
              <a:ext uri="{FF2B5EF4-FFF2-40B4-BE49-F238E27FC236}">
                <a16:creationId xmlns:a16="http://schemas.microsoft.com/office/drawing/2014/main" id="{528A994C-38F9-AF21-0471-070C7864D846}"/>
              </a:ext>
            </a:extLst>
          </p:cNvPr>
          <p:cNvSpPr txBox="1"/>
          <p:nvPr/>
        </p:nvSpPr>
        <p:spPr>
          <a:xfrm>
            <a:off x="8808853" y="6172200"/>
            <a:ext cx="3141846" cy="328295"/>
          </a:xfrm>
          <a:prstGeom prst="rect">
            <a:avLst/>
          </a:prstGeom>
          <a:noFill/>
        </p:spPr>
        <p:txBody>
          <a:bodyPr vert="horz" wrap="square" lIns="50800" tIns="25400" rIns="50800" bIns="25400" rtlCol="0">
            <a:spAutoFit/>
          </a:bodyPr>
          <a:lstStyle/>
          <a:p>
            <a:pPr algn="ctr"/>
            <a:r>
              <a:rPr lang="vi-VN" dirty="0">
                <a:solidFill>
                  <a:srgbClr val="60677C"/>
                </a:solidFill>
                <a:latin typeface="Aptos" panose="020B0004020202020204" pitchFamily="34" charset="0"/>
              </a:rPr>
              <a:t>Canonical output + metadata</a:t>
            </a:r>
          </a:p>
        </p:txBody>
      </p:sp>
      <p:pic>
        <p:nvPicPr>
          <p:cNvPr id="27" name="Graphic 26" descr="Line arrow: Straight with solid fill">
            <a:extLst>
              <a:ext uri="{FF2B5EF4-FFF2-40B4-BE49-F238E27FC236}">
                <a16:creationId xmlns:a16="http://schemas.microsoft.com/office/drawing/2014/main" id="{D9F8BB47-C02A-31CA-DFA7-BCE917B7F72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rot="10800000">
            <a:off x="2781387" y="1634087"/>
            <a:ext cx="406226" cy="406226"/>
          </a:xfrm>
          <a:prstGeom prst="rect">
            <a:avLst/>
          </a:prstGeom>
        </p:spPr>
      </p:pic>
      <p:pic>
        <p:nvPicPr>
          <p:cNvPr id="28" name="Graphic 27" descr="Line arrow: Straight with solid fill">
            <a:extLst>
              <a:ext uri="{FF2B5EF4-FFF2-40B4-BE49-F238E27FC236}">
                <a16:creationId xmlns:a16="http://schemas.microsoft.com/office/drawing/2014/main" id="{AF2FBC65-FBAD-4179-C0D0-5EF65DE8B84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rot="10800000">
            <a:off x="6002328" y="1612008"/>
            <a:ext cx="406226" cy="406226"/>
          </a:xfrm>
          <a:prstGeom prst="rect">
            <a:avLst/>
          </a:prstGeom>
        </p:spPr>
      </p:pic>
      <p:pic>
        <p:nvPicPr>
          <p:cNvPr id="29" name="Graphic 28" descr="Line arrow: Straight with solid fill">
            <a:extLst>
              <a:ext uri="{FF2B5EF4-FFF2-40B4-BE49-F238E27FC236}">
                <a16:creationId xmlns:a16="http://schemas.microsoft.com/office/drawing/2014/main" id="{0F243CA3-B255-E079-7B93-81982B96CEA5}"/>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rot="10800000">
            <a:off x="8839287" y="1634087"/>
            <a:ext cx="406226" cy="406226"/>
          </a:xfrm>
          <a:prstGeom prst="rect">
            <a:avLst/>
          </a:prstGeom>
        </p:spPr>
      </p:pic>
      <p:sp>
        <p:nvSpPr>
          <p:cNvPr id="30" name="codex-ai-top-1">
            <a:extLst>
              <a:ext uri="{FF2B5EF4-FFF2-40B4-BE49-F238E27FC236}">
                <a16:creationId xmlns:a16="http://schemas.microsoft.com/office/drawing/2014/main" id="{0C056DDA-6AFB-E8E7-32BB-1544906E9711}"/>
              </a:ext>
            </a:extLst>
          </p:cNvPr>
          <p:cNvSpPr/>
          <p:nvPr/>
        </p:nvSpPr>
        <p:spPr>
          <a:xfrm>
            <a:off x="647701" y="3427095"/>
            <a:ext cx="1604612" cy="762000"/>
          </a:xfrm>
          <a:prstGeom prst="roundRect">
            <a:avLst>
              <a:gd name="adj" fmla="val 8000"/>
            </a:avLst>
          </a:prstGeom>
          <a:solidFill>
            <a:srgbClr val="E9EFFC"/>
          </a:solidFill>
          <a:ln w="12700">
            <a:solidFill>
              <a:srgbClr val="A0B7E5"/>
            </a:solidFill>
          </a:ln>
          <a:effectLst/>
          <a:extLs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rtlCol="0" anchor="ctr"/>
          <a:lstStyle/>
          <a:p>
            <a:pPr algn="ctr"/>
            <a:r>
              <a:rPr lang="vi-VN" sz="1600" b="1" i="0" dirty="0">
                <a:solidFill>
                  <a:schemeClr val="tx1"/>
                </a:solidFill>
                <a:effectLst/>
                <a:latin typeface="Aptos" panose="020B0004020202020204" pitchFamily="34" charset="0"/>
              </a:rPr>
              <a:t>Distil-Whisper</a:t>
            </a:r>
            <a:endParaRPr lang="vi-VN" sz="1400" b="1" dirty="0">
              <a:solidFill>
                <a:schemeClr val="tx1"/>
              </a:solidFill>
              <a:latin typeface="Aptos" panose="020B0004020202020204" pitchFamily="34" charset="0"/>
            </a:endParaRPr>
          </a:p>
        </p:txBody>
      </p:sp>
      <p:sp>
        <p:nvSpPr>
          <p:cNvPr id="31" name="codex-ai-top-2">
            <a:extLst>
              <a:ext uri="{FF2B5EF4-FFF2-40B4-BE49-F238E27FC236}">
                <a16:creationId xmlns:a16="http://schemas.microsoft.com/office/drawing/2014/main" id="{9EBEBAF2-2346-6BD0-02FB-4C32BF38FE6D}"/>
              </a:ext>
            </a:extLst>
          </p:cNvPr>
          <p:cNvSpPr/>
          <p:nvPr/>
        </p:nvSpPr>
        <p:spPr>
          <a:xfrm>
            <a:off x="2403375" y="3429000"/>
            <a:ext cx="1609825" cy="762000"/>
          </a:xfrm>
          <a:prstGeom prst="roundRect">
            <a:avLst>
              <a:gd name="adj" fmla="val 8000"/>
            </a:avLst>
          </a:prstGeom>
          <a:solidFill>
            <a:srgbClr val="F6ECE2"/>
          </a:solidFill>
          <a:ln w="12700">
            <a:solidFill>
              <a:srgbClr val="DDB892"/>
            </a:solidFill>
          </a:ln>
          <a:effectLst/>
          <a:extLs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500" b="1" dirty="0" err="1">
                <a:solidFill>
                  <a:srgbClr val="242C44"/>
                </a:solidFill>
                <a:latin typeface="Aptos" panose="020B0004020202020204" pitchFamily="34" charset="0"/>
              </a:rPr>
              <a:t>during_asr</a:t>
            </a:r>
            <a:r>
              <a:rPr lang="en-US" sz="1500" b="1" dirty="0">
                <a:solidFill>
                  <a:srgbClr val="242C44"/>
                </a:solidFill>
                <a:latin typeface="Aptos" panose="020B0004020202020204" pitchFamily="34" charset="0"/>
              </a:rPr>
              <a:t> overlap</a:t>
            </a:r>
            <a:endParaRPr lang="vi-VN" sz="1500" b="1" dirty="0">
              <a:solidFill>
                <a:srgbClr val="242C44"/>
              </a:solidFill>
              <a:latin typeface="Aptos" panose="020B0004020202020204" pitchFamily="34" charset="0"/>
            </a:endParaRPr>
          </a:p>
        </p:txBody>
      </p:sp>
      <p:sp>
        <p:nvSpPr>
          <p:cNvPr id="32" name="codex-ai-top-4">
            <a:extLst>
              <a:ext uri="{FF2B5EF4-FFF2-40B4-BE49-F238E27FC236}">
                <a16:creationId xmlns:a16="http://schemas.microsoft.com/office/drawing/2014/main" id="{35FFDA55-43F1-F76E-D2A0-20B5079FEC5A}"/>
              </a:ext>
            </a:extLst>
          </p:cNvPr>
          <p:cNvSpPr/>
          <p:nvPr/>
        </p:nvSpPr>
        <p:spPr>
          <a:xfrm>
            <a:off x="4164262" y="3432786"/>
            <a:ext cx="1369996" cy="762000"/>
          </a:xfrm>
          <a:prstGeom prst="roundRect">
            <a:avLst>
              <a:gd name="adj" fmla="val 8000"/>
            </a:avLst>
          </a:prstGeom>
          <a:solidFill>
            <a:srgbClr val="EEE9FC"/>
          </a:solidFill>
          <a:ln w="12700">
            <a:solidFill>
              <a:srgbClr val="B5A5E4"/>
            </a:solidFill>
          </a:ln>
          <a:effectLst/>
          <a:extLs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500" b="1" dirty="0">
                <a:solidFill>
                  <a:srgbClr val="242C44"/>
                </a:solidFill>
                <a:latin typeface="Aptos" panose="020B0004020202020204" pitchFamily="34" charset="0"/>
              </a:rPr>
              <a:t>NLLB translation</a:t>
            </a:r>
            <a:endParaRPr lang="vi-VN" sz="1500" b="1" dirty="0">
              <a:solidFill>
                <a:srgbClr val="242C44"/>
              </a:solidFill>
              <a:latin typeface="Aptos" panose="020B0004020202020204" pitchFamily="34" charset="0"/>
            </a:endParaRPr>
          </a:p>
        </p:txBody>
      </p:sp>
      <p:sp>
        <p:nvSpPr>
          <p:cNvPr id="36" name="codex-ai-top-1">
            <a:extLst>
              <a:ext uri="{FF2B5EF4-FFF2-40B4-BE49-F238E27FC236}">
                <a16:creationId xmlns:a16="http://schemas.microsoft.com/office/drawing/2014/main" id="{DEDAAD75-B692-6B49-77E6-FD0DDA313C14}"/>
              </a:ext>
            </a:extLst>
          </p:cNvPr>
          <p:cNvSpPr/>
          <p:nvPr/>
        </p:nvSpPr>
        <p:spPr>
          <a:xfrm>
            <a:off x="6657742" y="3399755"/>
            <a:ext cx="1604612" cy="762000"/>
          </a:xfrm>
          <a:prstGeom prst="roundRect">
            <a:avLst>
              <a:gd name="adj" fmla="val 8000"/>
            </a:avLst>
          </a:prstGeom>
          <a:solidFill>
            <a:srgbClr val="E9EFFC"/>
          </a:solidFill>
          <a:ln w="12700">
            <a:solidFill>
              <a:srgbClr val="A0B7E5"/>
            </a:solidFill>
          </a:ln>
          <a:effectLst/>
          <a:extLs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rtlCol="0" anchor="ctr"/>
          <a:lstStyle/>
          <a:p>
            <a:pPr algn="ctr"/>
            <a:r>
              <a:rPr lang="vi-VN" sz="1600" b="1" i="0" dirty="0">
                <a:solidFill>
                  <a:schemeClr val="tx1"/>
                </a:solidFill>
                <a:effectLst/>
                <a:latin typeface="Aptos" panose="020B0004020202020204" pitchFamily="34" charset="0"/>
              </a:rPr>
              <a:t>Distil-Whisper</a:t>
            </a:r>
            <a:endParaRPr lang="vi-VN" sz="1400" b="1" dirty="0">
              <a:solidFill>
                <a:schemeClr val="tx1"/>
              </a:solidFill>
              <a:latin typeface="Aptos" panose="020B0004020202020204" pitchFamily="34" charset="0"/>
            </a:endParaRPr>
          </a:p>
        </p:txBody>
      </p:sp>
      <p:sp>
        <p:nvSpPr>
          <p:cNvPr id="37" name="codex-ai-top-2">
            <a:extLst>
              <a:ext uri="{FF2B5EF4-FFF2-40B4-BE49-F238E27FC236}">
                <a16:creationId xmlns:a16="http://schemas.microsoft.com/office/drawing/2014/main" id="{B3C04DB0-3970-5D8F-D776-F7C26848CDE9}"/>
              </a:ext>
            </a:extLst>
          </p:cNvPr>
          <p:cNvSpPr/>
          <p:nvPr/>
        </p:nvSpPr>
        <p:spPr>
          <a:xfrm>
            <a:off x="8413416" y="3401660"/>
            <a:ext cx="1609825" cy="762000"/>
          </a:xfrm>
          <a:prstGeom prst="roundRect">
            <a:avLst>
              <a:gd name="adj" fmla="val 8000"/>
            </a:avLst>
          </a:prstGeom>
          <a:solidFill>
            <a:schemeClr val="accent2">
              <a:lumMod val="20000"/>
              <a:lumOff val="80000"/>
            </a:schemeClr>
          </a:solidFill>
          <a:ln w="12700">
            <a:solidFill>
              <a:srgbClr val="DDB89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500" b="1" dirty="0" err="1">
                <a:solidFill>
                  <a:srgbClr val="242C44"/>
                </a:solidFill>
                <a:latin typeface="Aptos" panose="020B0004020202020204" pitchFamily="34" charset="0"/>
              </a:rPr>
              <a:t>trustgate</a:t>
            </a:r>
            <a:endParaRPr lang="vi-VN" sz="1500" b="1" dirty="0">
              <a:solidFill>
                <a:srgbClr val="242C44"/>
              </a:solidFill>
              <a:latin typeface="Aptos" panose="020B0004020202020204" pitchFamily="34" charset="0"/>
            </a:endParaRPr>
          </a:p>
        </p:txBody>
      </p:sp>
      <p:sp>
        <p:nvSpPr>
          <p:cNvPr id="38" name="codex-ai-top-4">
            <a:extLst>
              <a:ext uri="{FF2B5EF4-FFF2-40B4-BE49-F238E27FC236}">
                <a16:creationId xmlns:a16="http://schemas.microsoft.com/office/drawing/2014/main" id="{B2774A81-9009-72D6-3292-CA7E06996564}"/>
              </a:ext>
            </a:extLst>
          </p:cNvPr>
          <p:cNvSpPr/>
          <p:nvPr/>
        </p:nvSpPr>
        <p:spPr>
          <a:xfrm>
            <a:off x="10174303" y="3405446"/>
            <a:ext cx="1369996" cy="762000"/>
          </a:xfrm>
          <a:prstGeom prst="roundRect">
            <a:avLst>
              <a:gd name="adj" fmla="val 8000"/>
            </a:avLst>
          </a:prstGeom>
          <a:solidFill>
            <a:srgbClr val="EEE9FC"/>
          </a:solidFill>
          <a:ln w="12700">
            <a:solidFill>
              <a:srgbClr val="B5A5E4"/>
            </a:solidFill>
          </a:ln>
          <a:effectLst/>
          <a:extLs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500" b="1" dirty="0" err="1">
                <a:solidFill>
                  <a:srgbClr val="242C44"/>
                </a:solidFill>
                <a:latin typeface="Aptos" panose="020B0004020202020204" pitchFamily="34" charset="0"/>
              </a:rPr>
              <a:t>after_asr</a:t>
            </a:r>
            <a:endParaRPr lang="vi-VN" sz="1500" b="1" dirty="0">
              <a:solidFill>
                <a:srgbClr val="242C44"/>
              </a:solidFill>
              <a:latin typeface="Aptos" panose="020B0004020202020204" pitchFamily="34" charset="0"/>
            </a:endParaRPr>
          </a:p>
        </p:txBody>
      </p:sp>
      <p:sp>
        <p:nvSpPr>
          <p:cNvPr id="39" name="codex-ai-top-4">
            <a:extLst>
              <a:ext uri="{FF2B5EF4-FFF2-40B4-BE49-F238E27FC236}">
                <a16:creationId xmlns:a16="http://schemas.microsoft.com/office/drawing/2014/main" id="{9818B1CC-29DB-66D5-6A3C-0C7748719F8C}"/>
              </a:ext>
            </a:extLst>
          </p:cNvPr>
          <p:cNvSpPr/>
          <p:nvPr/>
        </p:nvSpPr>
        <p:spPr>
          <a:xfrm>
            <a:off x="6681002" y="4271833"/>
            <a:ext cx="1369996" cy="762000"/>
          </a:xfrm>
          <a:prstGeom prst="roundRect">
            <a:avLst>
              <a:gd name="adj" fmla="val 8000"/>
            </a:avLst>
          </a:prstGeom>
          <a:solidFill>
            <a:schemeClr val="accent6">
              <a:lumMod val="20000"/>
              <a:lumOff val="80000"/>
            </a:schemeClr>
          </a:solidFill>
          <a:ln w="12700">
            <a:solidFill>
              <a:srgbClr val="B5A5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500" b="1" dirty="0">
                <a:solidFill>
                  <a:srgbClr val="242C44"/>
                </a:solidFill>
                <a:latin typeface="Aptos" panose="020B0004020202020204" pitchFamily="34" charset="0"/>
              </a:rPr>
              <a:t>NLLB translation</a:t>
            </a:r>
            <a:endParaRPr lang="vi-VN" sz="1500" b="1" dirty="0">
              <a:solidFill>
                <a:srgbClr val="242C44"/>
              </a:solidFill>
              <a:latin typeface="Aptos" panose="020B0004020202020204" pitchFamily="34" charset="0"/>
            </a:endParaRPr>
          </a:p>
        </p:txBody>
      </p:sp>
      <p:pic>
        <p:nvPicPr>
          <p:cNvPr id="40" name="Graphic 39" descr="Line arrow: Straight with solid fill">
            <a:extLst>
              <a:ext uri="{FF2B5EF4-FFF2-40B4-BE49-F238E27FC236}">
                <a16:creationId xmlns:a16="http://schemas.microsoft.com/office/drawing/2014/main" id="{AF608DB6-7524-C0BB-AB24-C80C69383570}"/>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rot="16200000">
            <a:off x="5792979" y="2332335"/>
            <a:ext cx="406226" cy="406226"/>
          </a:xfrm>
          <a:prstGeom prst="rect">
            <a:avLst/>
          </a:prstGeom>
        </p:spPr>
      </p:pic>
      <p:pic>
        <p:nvPicPr>
          <p:cNvPr id="41" name="Graphic 40" descr="Transfer with solid fill">
            <a:extLst>
              <a:ext uri="{FF2B5EF4-FFF2-40B4-BE49-F238E27FC236}">
                <a16:creationId xmlns:a16="http://schemas.microsoft.com/office/drawing/2014/main" id="{4F1B421A-2F93-AA09-E249-43B9275B7CE0}"/>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rot="5400000">
            <a:off x="5766375" y="5105431"/>
            <a:ext cx="471905" cy="471905"/>
          </a:xfrm>
          <a:prstGeom prst="rect">
            <a:avLst/>
          </a:prstGeom>
        </p:spPr>
      </p:pic>
    </p:spTree>
    <p:extLst>
      <p:ext uri="{BB962C8B-B14F-4D97-AF65-F5344CB8AC3E}">
        <p14:creationId xmlns:p14="http://schemas.microsoft.com/office/powerpoint/2010/main" val="3984754163"/>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5F1EA"/>
        </a:solidFill>
        <a:effectLst/>
      </p:bgPr>
    </p:bg>
    <p:spTree>
      <p:nvGrpSpPr>
        <p:cNvPr id="1" name=""/>
        <p:cNvGrpSpPr/>
        <p:nvPr/>
      </p:nvGrpSpPr>
      <p:grpSpPr>
        <a:xfrm>
          <a:off x="0" y="0"/>
          <a:ext cx="0" cy="0"/>
          <a:chOff x="0" y="0"/>
          <a:chExt cx="0" cy="0"/>
        </a:xfrm>
      </p:grpSpPr>
      <p:sp>
        <p:nvSpPr>
          <p:cNvPr id="2" name="codex-artifact-structured-marker">
            <a:extLst>
              <a:ext uri="{FF2B5EF4-FFF2-40B4-BE49-F238E27FC236}">
                <a16:creationId xmlns:a16="http://schemas.microsoft.com/office/drawing/2014/main" id="{88786210-8665-8B26-FCE7-18292D46AECC}"/>
              </a:ext>
            </a:extLst>
          </p:cNvPr>
          <p:cNvSpPr txBox="1"/>
          <p:nvPr/>
        </p:nvSpPr>
        <p:spPr>
          <a:xfrm>
            <a:off x="0" y="0"/>
            <a:ext cx="12700" cy="66685"/>
          </a:xfrm>
          <a:prstGeom prst="rect">
            <a:avLst/>
          </a:prstGeom>
          <a:noFill/>
        </p:spPr>
        <p:txBody>
          <a:bodyPr vert="horz" lIns="50800" tIns="25400" rIns="50800" bIns="25400" rtlCol="0">
            <a:spAutoFit/>
          </a:bodyPr>
          <a:lstStyle/>
          <a:p>
            <a:endParaRPr lang="vi-VN" sz="100">
              <a:solidFill>
                <a:srgbClr val="F5F1EA"/>
              </a:solidFill>
              <a:latin typeface="Aptos" panose="020B0004020202020204" pitchFamily="34" charset="0"/>
            </a:endParaRPr>
          </a:p>
        </p:txBody>
      </p:sp>
      <p:sp>
        <p:nvSpPr>
          <p:cNvPr id="6" name="codex-artifact-contract-box">
            <a:extLst>
              <a:ext uri="{FF2B5EF4-FFF2-40B4-BE49-F238E27FC236}">
                <a16:creationId xmlns:a16="http://schemas.microsoft.com/office/drawing/2014/main" id="{AB208BB2-3B4B-D4B0-CF43-C2766C7DA21B}"/>
              </a:ext>
            </a:extLst>
          </p:cNvPr>
          <p:cNvSpPr/>
          <p:nvPr/>
        </p:nvSpPr>
        <p:spPr>
          <a:xfrm>
            <a:off x="203200" y="1244600"/>
            <a:ext cx="11785600" cy="2087761"/>
          </a:xfrm>
          <a:prstGeom prst="roundRect">
            <a:avLst>
              <a:gd name="adj" fmla="val 6000"/>
            </a:avLst>
          </a:prstGeom>
          <a:solidFill>
            <a:srgbClr val="FFFFFF"/>
          </a:solidFill>
          <a:ln w="11430">
            <a:solidFill>
              <a:srgbClr val="CED6E5"/>
            </a:solidFill>
          </a:ln>
          <a:effectLst/>
          <a:extLs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vi-VN"/>
          </a:p>
        </p:txBody>
      </p:sp>
      <p:sp>
        <p:nvSpPr>
          <p:cNvPr id="7" name="codex-artifact-contract-kicker">
            <a:extLst>
              <a:ext uri="{FF2B5EF4-FFF2-40B4-BE49-F238E27FC236}">
                <a16:creationId xmlns:a16="http://schemas.microsoft.com/office/drawing/2014/main" id="{BC135AE7-C57B-F4BB-FF54-4B753CF58120}"/>
              </a:ext>
            </a:extLst>
          </p:cNvPr>
          <p:cNvSpPr txBox="1"/>
          <p:nvPr/>
        </p:nvSpPr>
        <p:spPr>
          <a:xfrm>
            <a:off x="406400" y="1422401"/>
            <a:ext cx="3683000" cy="328295"/>
          </a:xfrm>
          <a:prstGeom prst="rect">
            <a:avLst/>
          </a:prstGeom>
          <a:noFill/>
        </p:spPr>
        <p:txBody>
          <a:bodyPr vert="horz" wrap="square" lIns="50800" tIns="25400" rIns="50800" bIns="25400" rtlCol="0">
            <a:spAutoFit/>
          </a:bodyPr>
          <a:lstStyle/>
          <a:p>
            <a:r>
              <a:rPr lang="vi-VN" b="1">
                <a:solidFill>
                  <a:srgbClr val="738CC2"/>
                </a:solidFill>
                <a:latin typeface="Aptos" panose="020B0004020202020204" pitchFamily="34" charset="0"/>
              </a:rPr>
              <a:t>ARTIFACT CONTRACT</a:t>
            </a:r>
          </a:p>
        </p:txBody>
      </p:sp>
      <p:sp>
        <p:nvSpPr>
          <p:cNvPr id="9" name="codex-artifact-tier-1">
            <a:extLst>
              <a:ext uri="{FF2B5EF4-FFF2-40B4-BE49-F238E27FC236}">
                <a16:creationId xmlns:a16="http://schemas.microsoft.com/office/drawing/2014/main" id="{ED36D3FB-E821-22BC-A7F3-FE2B4572E472}"/>
              </a:ext>
            </a:extLst>
          </p:cNvPr>
          <p:cNvSpPr/>
          <p:nvPr/>
        </p:nvSpPr>
        <p:spPr>
          <a:xfrm>
            <a:off x="402056" y="1900947"/>
            <a:ext cx="3479800" cy="1219200"/>
          </a:xfrm>
          <a:prstGeom prst="roundRect">
            <a:avLst>
              <a:gd name="adj" fmla="val 8000"/>
            </a:avLst>
          </a:prstGeom>
          <a:solidFill>
            <a:srgbClr val="E9EFF5"/>
          </a:solidFill>
          <a:ln w="11430">
            <a:solidFill>
              <a:srgbClr val="ABBACC"/>
            </a:solidFill>
          </a:ln>
          <a:effectLst/>
          <a:extLs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vi-VN"/>
          </a:p>
        </p:txBody>
      </p:sp>
      <p:sp>
        <p:nvSpPr>
          <p:cNvPr id="10" name="codex-artifact-tier-label-1">
            <a:extLst>
              <a:ext uri="{FF2B5EF4-FFF2-40B4-BE49-F238E27FC236}">
                <a16:creationId xmlns:a16="http://schemas.microsoft.com/office/drawing/2014/main" id="{C16E97FC-C387-D9BC-D3DD-5C5D6DBE77E5}"/>
              </a:ext>
            </a:extLst>
          </p:cNvPr>
          <p:cNvSpPr txBox="1"/>
          <p:nvPr/>
        </p:nvSpPr>
        <p:spPr>
          <a:xfrm>
            <a:off x="554456" y="2006661"/>
            <a:ext cx="1016000" cy="297517"/>
          </a:xfrm>
          <a:prstGeom prst="rect">
            <a:avLst/>
          </a:prstGeom>
          <a:noFill/>
        </p:spPr>
        <p:txBody>
          <a:bodyPr vert="horz" lIns="50800" tIns="25400" rIns="50800" bIns="25400" rtlCol="0">
            <a:spAutoFit/>
          </a:bodyPr>
          <a:lstStyle/>
          <a:p>
            <a:r>
              <a:rPr lang="vi-VN" sz="1600" b="1" dirty="0">
                <a:solidFill>
                  <a:srgbClr val="738CC2"/>
                </a:solidFill>
                <a:latin typeface="Aptos" panose="020B0004020202020204" pitchFamily="34" charset="0"/>
              </a:rPr>
              <a:t>TIER 1</a:t>
            </a:r>
          </a:p>
        </p:txBody>
      </p:sp>
      <p:sp>
        <p:nvSpPr>
          <p:cNvPr id="11" name="codex-artifact-tier-main-1">
            <a:extLst>
              <a:ext uri="{FF2B5EF4-FFF2-40B4-BE49-F238E27FC236}">
                <a16:creationId xmlns:a16="http://schemas.microsoft.com/office/drawing/2014/main" id="{F134FAEF-B42F-8968-E545-30A82A053D4B}"/>
              </a:ext>
            </a:extLst>
          </p:cNvPr>
          <p:cNvSpPr txBox="1"/>
          <p:nvPr/>
        </p:nvSpPr>
        <p:spPr>
          <a:xfrm>
            <a:off x="554455" y="2267239"/>
            <a:ext cx="3175000" cy="312906"/>
          </a:xfrm>
          <a:prstGeom prst="rect">
            <a:avLst/>
          </a:prstGeom>
          <a:noFill/>
        </p:spPr>
        <p:txBody>
          <a:bodyPr vert="horz" lIns="50800" tIns="25400" rIns="50800" bIns="25400" rtlCol="0">
            <a:spAutoFit/>
          </a:bodyPr>
          <a:lstStyle/>
          <a:p>
            <a:r>
              <a:rPr lang="vi-VN" sz="1700" b="1" dirty="0">
                <a:solidFill>
                  <a:srgbClr val="242C44"/>
                </a:solidFill>
                <a:latin typeface="Aptos" panose="020B0004020202020204" pitchFamily="34" charset="0"/>
              </a:rPr>
              <a:t>chunks/</a:t>
            </a:r>
          </a:p>
        </p:txBody>
      </p:sp>
      <p:sp>
        <p:nvSpPr>
          <p:cNvPr id="12" name="codex-artifact-tier-sub-1">
            <a:extLst>
              <a:ext uri="{FF2B5EF4-FFF2-40B4-BE49-F238E27FC236}">
                <a16:creationId xmlns:a16="http://schemas.microsoft.com/office/drawing/2014/main" id="{26DDC595-54F6-22CA-C7BF-B6FCA59761C7}"/>
              </a:ext>
            </a:extLst>
          </p:cNvPr>
          <p:cNvSpPr txBox="1"/>
          <p:nvPr/>
        </p:nvSpPr>
        <p:spPr>
          <a:xfrm>
            <a:off x="554456" y="2584514"/>
            <a:ext cx="3276600" cy="543739"/>
          </a:xfrm>
          <a:prstGeom prst="rect">
            <a:avLst/>
          </a:prstGeom>
          <a:noFill/>
        </p:spPr>
        <p:txBody>
          <a:bodyPr vert="horz" wrap="square" lIns="50800" tIns="25400" rIns="50800" bIns="25400" rtlCol="0">
            <a:spAutoFit/>
          </a:bodyPr>
          <a:lstStyle/>
          <a:p>
            <a:r>
              <a:rPr lang="fr-FR" sz="1600">
                <a:solidFill>
                  <a:srgbClr val="60677C"/>
                </a:solidFill>
                <a:latin typeface="Aptos" panose="020B0004020202020204" pitchFamily="34" charset="0"/>
              </a:rPr>
              <a:t>Transcript checkpoints ngay sau ASR</a:t>
            </a:r>
            <a:endParaRPr lang="vi-VN" sz="1600">
              <a:solidFill>
                <a:srgbClr val="60677C"/>
              </a:solidFill>
              <a:latin typeface="Aptos" panose="020B0004020202020204" pitchFamily="34" charset="0"/>
            </a:endParaRPr>
          </a:p>
        </p:txBody>
      </p:sp>
      <p:sp>
        <p:nvSpPr>
          <p:cNvPr id="13" name="codex-artifact-tier-arrow-1">
            <a:extLst>
              <a:ext uri="{FF2B5EF4-FFF2-40B4-BE49-F238E27FC236}">
                <a16:creationId xmlns:a16="http://schemas.microsoft.com/office/drawing/2014/main" id="{824919F4-6A90-0C23-3FF3-013021BD7FC9}"/>
              </a:ext>
            </a:extLst>
          </p:cNvPr>
          <p:cNvSpPr txBox="1"/>
          <p:nvPr/>
        </p:nvSpPr>
        <p:spPr>
          <a:xfrm>
            <a:off x="3932656" y="2358147"/>
            <a:ext cx="330200" cy="328295"/>
          </a:xfrm>
          <a:prstGeom prst="rect">
            <a:avLst/>
          </a:prstGeom>
          <a:noFill/>
        </p:spPr>
        <p:txBody>
          <a:bodyPr vert="horz" lIns="50800" tIns="25400" rIns="50800" bIns="25400" rtlCol="0">
            <a:spAutoFit/>
          </a:bodyPr>
          <a:lstStyle/>
          <a:p>
            <a:pPr algn="ctr"/>
            <a:r>
              <a:rPr lang="vi-VN" b="1">
                <a:solidFill>
                  <a:srgbClr val="C88639"/>
                </a:solidFill>
                <a:latin typeface="Aptos" panose="020B0004020202020204" pitchFamily="34" charset="0"/>
              </a:rPr>
              <a:t>→</a:t>
            </a:r>
          </a:p>
        </p:txBody>
      </p:sp>
      <p:sp>
        <p:nvSpPr>
          <p:cNvPr id="14" name="codex-artifact-tier-2">
            <a:extLst>
              <a:ext uri="{FF2B5EF4-FFF2-40B4-BE49-F238E27FC236}">
                <a16:creationId xmlns:a16="http://schemas.microsoft.com/office/drawing/2014/main" id="{9B82F412-1B79-8EBE-92AE-98AD07C45BCC}"/>
              </a:ext>
            </a:extLst>
          </p:cNvPr>
          <p:cNvSpPr/>
          <p:nvPr/>
        </p:nvSpPr>
        <p:spPr>
          <a:xfrm>
            <a:off x="4339056" y="1900947"/>
            <a:ext cx="3606800" cy="1219200"/>
          </a:xfrm>
          <a:prstGeom prst="roundRect">
            <a:avLst>
              <a:gd name="adj" fmla="val 8000"/>
            </a:avLst>
          </a:prstGeom>
          <a:solidFill>
            <a:srgbClr val="E9EFFC"/>
          </a:solidFill>
          <a:ln w="11430">
            <a:solidFill>
              <a:srgbClr val="A0B7E5"/>
            </a:solidFill>
          </a:ln>
          <a:effectLst/>
          <a:extLs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vi-VN"/>
          </a:p>
        </p:txBody>
      </p:sp>
      <p:sp>
        <p:nvSpPr>
          <p:cNvPr id="15" name="codex-artifact-tier-label-2">
            <a:extLst>
              <a:ext uri="{FF2B5EF4-FFF2-40B4-BE49-F238E27FC236}">
                <a16:creationId xmlns:a16="http://schemas.microsoft.com/office/drawing/2014/main" id="{598F71FD-A584-D14C-47C8-A6DEB89188F8}"/>
              </a:ext>
            </a:extLst>
          </p:cNvPr>
          <p:cNvSpPr txBox="1"/>
          <p:nvPr/>
        </p:nvSpPr>
        <p:spPr>
          <a:xfrm>
            <a:off x="4491456" y="2006661"/>
            <a:ext cx="1016000" cy="297517"/>
          </a:xfrm>
          <a:prstGeom prst="rect">
            <a:avLst/>
          </a:prstGeom>
          <a:noFill/>
        </p:spPr>
        <p:txBody>
          <a:bodyPr vert="horz" lIns="50800" tIns="25400" rIns="50800" bIns="25400" rtlCol="0">
            <a:spAutoFit/>
          </a:bodyPr>
          <a:lstStyle/>
          <a:p>
            <a:r>
              <a:rPr lang="vi-VN" sz="1600" b="1">
                <a:solidFill>
                  <a:srgbClr val="738CC2"/>
                </a:solidFill>
                <a:latin typeface="Aptos" panose="020B0004020202020204" pitchFamily="34" charset="0"/>
              </a:rPr>
              <a:t>TIER 2</a:t>
            </a:r>
          </a:p>
        </p:txBody>
      </p:sp>
      <p:sp>
        <p:nvSpPr>
          <p:cNvPr id="16" name="codex-artifact-tier-main-2">
            <a:extLst>
              <a:ext uri="{FF2B5EF4-FFF2-40B4-BE49-F238E27FC236}">
                <a16:creationId xmlns:a16="http://schemas.microsoft.com/office/drawing/2014/main" id="{F67D030E-0FBC-1C2B-F377-F27E897AD2FE}"/>
              </a:ext>
            </a:extLst>
          </p:cNvPr>
          <p:cNvSpPr txBox="1"/>
          <p:nvPr/>
        </p:nvSpPr>
        <p:spPr>
          <a:xfrm>
            <a:off x="4491455" y="2267239"/>
            <a:ext cx="3302000" cy="312906"/>
          </a:xfrm>
          <a:prstGeom prst="rect">
            <a:avLst/>
          </a:prstGeom>
          <a:noFill/>
        </p:spPr>
        <p:txBody>
          <a:bodyPr vert="horz" lIns="50800" tIns="25400" rIns="50800" bIns="25400" rtlCol="0">
            <a:spAutoFit/>
          </a:bodyPr>
          <a:lstStyle/>
          <a:p>
            <a:r>
              <a:rPr lang="vi-VN" sz="1700" b="1">
                <a:solidFill>
                  <a:srgbClr val="242C44"/>
                </a:solidFill>
                <a:latin typeface="Aptos" panose="020B0004020202020204" pitchFamily="34" charset="0"/>
              </a:rPr>
              <a:t>translated_batches/</a:t>
            </a:r>
          </a:p>
        </p:txBody>
      </p:sp>
      <p:sp>
        <p:nvSpPr>
          <p:cNvPr id="17" name="codex-artifact-tier-sub-2">
            <a:extLst>
              <a:ext uri="{FF2B5EF4-FFF2-40B4-BE49-F238E27FC236}">
                <a16:creationId xmlns:a16="http://schemas.microsoft.com/office/drawing/2014/main" id="{F845977B-6EC8-E834-1B1D-1C4EFB0D83F2}"/>
              </a:ext>
            </a:extLst>
          </p:cNvPr>
          <p:cNvSpPr txBox="1"/>
          <p:nvPr/>
        </p:nvSpPr>
        <p:spPr>
          <a:xfrm>
            <a:off x="4491456" y="2584514"/>
            <a:ext cx="3407664" cy="297517"/>
          </a:xfrm>
          <a:prstGeom prst="rect">
            <a:avLst/>
          </a:prstGeom>
          <a:noFill/>
        </p:spPr>
        <p:txBody>
          <a:bodyPr vert="horz" wrap="square" lIns="50800" tIns="25400" rIns="50800" bIns="25400" rtlCol="0">
            <a:spAutoFit/>
          </a:bodyPr>
          <a:lstStyle/>
          <a:p>
            <a:r>
              <a:rPr lang="vi-VN" sz="1600">
                <a:solidFill>
                  <a:srgbClr val="60677C"/>
                </a:solidFill>
                <a:latin typeface="Aptos" panose="020B0004020202020204" pitchFamily="34" charset="0"/>
              </a:rPr>
              <a:t>Subtitle song ngữ usable trước final</a:t>
            </a:r>
          </a:p>
        </p:txBody>
      </p:sp>
      <p:sp>
        <p:nvSpPr>
          <p:cNvPr id="18" name="codex-artifact-tier-arrow-2">
            <a:extLst>
              <a:ext uri="{FF2B5EF4-FFF2-40B4-BE49-F238E27FC236}">
                <a16:creationId xmlns:a16="http://schemas.microsoft.com/office/drawing/2014/main" id="{C23BFF4B-3B05-7E6B-73F3-0C7497559D19}"/>
              </a:ext>
            </a:extLst>
          </p:cNvPr>
          <p:cNvSpPr txBox="1"/>
          <p:nvPr/>
        </p:nvSpPr>
        <p:spPr>
          <a:xfrm>
            <a:off x="7996656" y="2358147"/>
            <a:ext cx="330200" cy="328295"/>
          </a:xfrm>
          <a:prstGeom prst="rect">
            <a:avLst/>
          </a:prstGeom>
          <a:noFill/>
        </p:spPr>
        <p:txBody>
          <a:bodyPr vert="horz" lIns="50800" tIns="25400" rIns="50800" bIns="25400" rtlCol="0">
            <a:spAutoFit/>
          </a:bodyPr>
          <a:lstStyle/>
          <a:p>
            <a:pPr algn="ctr"/>
            <a:r>
              <a:rPr lang="vi-VN" b="1">
                <a:solidFill>
                  <a:srgbClr val="C88639"/>
                </a:solidFill>
                <a:latin typeface="Aptos" panose="020B0004020202020204" pitchFamily="34" charset="0"/>
              </a:rPr>
              <a:t>→</a:t>
            </a:r>
          </a:p>
        </p:txBody>
      </p:sp>
      <p:sp>
        <p:nvSpPr>
          <p:cNvPr id="19" name="codex-artifact-tier-3">
            <a:extLst>
              <a:ext uri="{FF2B5EF4-FFF2-40B4-BE49-F238E27FC236}">
                <a16:creationId xmlns:a16="http://schemas.microsoft.com/office/drawing/2014/main" id="{97E3BDD1-7A80-14D7-057C-8AD2183CE889}"/>
              </a:ext>
            </a:extLst>
          </p:cNvPr>
          <p:cNvSpPr/>
          <p:nvPr/>
        </p:nvSpPr>
        <p:spPr>
          <a:xfrm>
            <a:off x="8403056" y="1900947"/>
            <a:ext cx="3327400" cy="1219200"/>
          </a:xfrm>
          <a:prstGeom prst="roundRect">
            <a:avLst>
              <a:gd name="adj" fmla="val 8000"/>
            </a:avLst>
          </a:prstGeom>
          <a:solidFill>
            <a:srgbClr val="FAF7F2"/>
          </a:solidFill>
          <a:ln w="11430">
            <a:solidFill>
              <a:srgbClr val="DDB892"/>
            </a:solidFill>
          </a:ln>
          <a:effectLst/>
          <a:extLs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vi-VN"/>
          </a:p>
        </p:txBody>
      </p:sp>
      <p:sp>
        <p:nvSpPr>
          <p:cNvPr id="20" name="codex-artifact-tier-label-3">
            <a:extLst>
              <a:ext uri="{FF2B5EF4-FFF2-40B4-BE49-F238E27FC236}">
                <a16:creationId xmlns:a16="http://schemas.microsoft.com/office/drawing/2014/main" id="{815A5E69-C003-F851-E9E1-4E4AA243C154}"/>
              </a:ext>
            </a:extLst>
          </p:cNvPr>
          <p:cNvSpPr txBox="1"/>
          <p:nvPr/>
        </p:nvSpPr>
        <p:spPr>
          <a:xfrm>
            <a:off x="8555456" y="2006661"/>
            <a:ext cx="1016000" cy="297517"/>
          </a:xfrm>
          <a:prstGeom prst="rect">
            <a:avLst/>
          </a:prstGeom>
          <a:noFill/>
        </p:spPr>
        <p:txBody>
          <a:bodyPr vert="horz" lIns="50800" tIns="25400" rIns="50800" bIns="25400" rtlCol="0">
            <a:spAutoFit/>
          </a:bodyPr>
          <a:lstStyle/>
          <a:p>
            <a:r>
              <a:rPr lang="vi-VN" sz="1600" b="1">
                <a:solidFill>
                  <a:srgbClr val="738CC2"/>
                </a:solidFill>
                <a:latin typeface="Aptos" panose="020B0004020202020204" pitchFamily="34" charset="0"/>
              </a:rPr>
              <a:t>TIER 3</a:t>
            </a:r>
          </a:p>
        </p:txBody>
      </p:sp>
      <p:sp>
        <p:nvSpPr>
          <p:cNvPr id="21" name="codex-artifact-tier-main-3">
            <a:extLst>
              <a:ext uri="{FF2B5EF4-FFF2-40B4-BE49-F238E27FC236}">
                <a16:creationId xmlns:a16="http://schemas.microsoft.com/office/drawing/2014/main" id="{50272F76-3587-92C8-9EFB-36DD15B842F2}"/>
              </a:ext>
            </a:extLst>
          </p:cNvPr>
          <p:cNvSpPr txBox="1"/>
          <p:nvPr/>
        </p:nvSpPr>
        <p:spPr>
          <a:xfrm>
            <a:off x="8555455" y="2267239"/>
            <a:ext cx="3022600" cy="312906"/>
          </a:xfrm>
          <a:prstGeom prst="rect">
            <a:avLst/>
          </a:prstGeom>
          <a:noFill/>
        </p:spPr>
        <p:txBody>
          <a:bodyPr vert="horz" lIns="50800" tIns="25400" rIns="50800" bIns="25400" rtlCol="0">
            <a:spAutoFit/>
          </a:bodyPr>
          <a:lstStyle/>
          <a:p>
            <a:r>
              <a:rPr lang="vi-VN" sz="1700" b="1">
                <a:solidFill>
                  <a:srgbClr val="242C44"/>
                </a:solidFill>
                <a:latin typeface="Aptos" panose="020B0004020202020204" pitchFamily="34" charset="0"/>
              </a:rPr>
              <a:t>final.json</a:t>
            </a:r>
          </a:p>
        </p:txBody>
      </p:sp>
      <p:sp>
        <p:nvSpPr>
          <p:cNvPr id="22" name="codex-artifact-tier-sub-3">
            <a:extLst>
              <a:ext uri="{FF2B5EF4-FFF2-40B4-BE49-F238E27FC236}">
                <a16:creationId xmlns:a16="http://schemas.microsoft.com/office/drawing/2014/main" id="{1462D394-9854-0A09-4251-67C131516606}"/>
              </a:ext>
            </a:extLst>
          </p:cNvPr>
          <p:cNvSpPr txBox="1"/>
          <p:nvPr/>
        </p:nvSpPr>
        <p:spPr>
          <a:xfrm>
            <a:off x="8555455" y="2584514"/>
            <a:ext cx="3119323" cy="543739"/>
          </a:xfrm>
          <a:prstGeom prst="rect">
            <a:avLst/>
          </a:prstGeom>
          <a:noFill/>
        </p:spPr>
        <p:txBody>
          <a:bodyPr vert="horz" wrap="square" lIns="50800" tIns="25400" rIns="50800" bIns="25400" rtlCol="0">
            <a:spAutoFit/>
          </a:bodyPr>
          <a:lstStyle/>
          <a:p>
            <a:r>
              <a:rPr lang="en-US" sz="1600">
                <a:solidFill>
                  <a:srgbClr val="60677C"/>
                </a:solidFill>
                <a:latin typeface="Aptos" panose="020B0004020202020204" pitchFamily="34" charset="0"/>
              </a:rPr>
              <a:t>Canonical output cho replay, reopen và benchmark</a:t>
            </a:r>
            <a:endParaRPr lang="vi-VN" sz="1600">
              <a:solidFill>
                <a:srgbClr val="60677C"/>
              </a:solidFill>
              <a:latin typeface="Aptos" panose="020B0004020202020204" pitchFamily="34" charset="0"/>
            </a:endParaRPr>
          </a:p>
        </p:txBody>
      </p:sp>
      <p:sp>
        <p:nvSpPr>
          <p:cNvPr id="23" name="codex-artifact-durable">
            <a:extLst>
              <a:ext uri="{FF2B5EF4-FFF2-40B4-BE49-F238E27FC236}">
                <a16:creationId xmlns:a16="http://schemas.microsoft.com/office/drawing/2014/main" id="{0C834679-F0E3-B4CA-78C1-87865836DA79}"/>
              </a:ext>
            </a:extLst>
          </p:cNvPr>
          <p:cNvSpPr/>
          <p:nvPr/>
        </p:nvSpPr>
        <p:spPr>
          <a:xfrm>
            <a:off x="203200" y="3479800"/>
            <a:ext cx="3632200" cy="3276600"/>
          </a:xfrm>
          <a:prstGeom prst="roundRect">
            <a:avLst>
              <a:gd name="adj" fmla="val 8000"/>
            </a:avLst>
          </a:prstGeom>
          <a:solidFill>
            <a:srgbClr val="E9EFF5"/>
          </a:solidFill>
          <a:ln w="11430">
            <a:solidFill>
              <a:srgbClr val="ABBACC"/>
            </a:solidFill>
          </a:ln>
          <a:effectLst/>
          <a:extLs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vi-VN"/>
          </a:p>
        </p:txBody>
      </p:sp>
      <p:sp>
        <p:nvSpPr>
          <p:cNvPr id="24" name="codex-artifact-durable-k">
            <a:extLst>
              <a:ext uri="{FF2B5EF4-FFF2-40B4-BE49-F238E27FC236}">
                <a16:creationId xmlns:a16="http://schemas.microsoft.com/office/drawing/2014/main" id="{8E5FCC6B-F682-3942-9372-7B927C28D12E}"/>
              </a:ext>
            </a:extLst>
          </p:cNvPr>
          <p:cNvSpPr txBox="1"/>
          <p:nvPr/>
        </p:nvSpPr>
        <p:spPr>
          <a:xfrm>
            <a:off x="406400" y="3632200"/>
            <a:ext cx="1651000" cy="297517"/>
          </a:xfrm>
          <a:prstGeom prst="rect">
            <a:avLst/>
          </a:prstGeom>
          <a:noFill/>
        </p:spPr>
        <p:txBody>
          <a:bodyPr vert="horz" lIns="50800" tIns="25400" rIns="50800" bIns="25400" rtlCol="0">
            <a:spAutoFit/>
          </a:bodyPr>
          <a:lstStyle/>
          <a:p>
            <a:r>
              <a:rPr lang="vi-VN" sz="1600" b="1" dirty="0">
                <a:solidFill>
                  <a:srgbClr val="738CC2"/>
                </a:solidFill>
                <a:latin typeface="Aptos" panose="020B0004020202020204" pitchFamily="34" charset="0"/>
              </a:rPr>
              <a:t>DURABLE PATH</a:t>
            </a:r>
          </a:p>
        </p:txBody>
      </p:sp>
      <p:sp>
        <p:nvSpPr>
          <p:cNvPr id="25" name="codex-artifact-durable-head">
            <a:extLst>
              <a:ext uri="{FF2B5EF4-FFF2-40B4-BE49-F238E27FC236}">
                <a16:creationId xmlns:a16="http://schemas.microsoft.com/office/drawing/2014/main" id="{A8CDDE24-7624-6745-49C2-BBF345C88758}"/>
              </a:ext>
            </a:extLst>
          </p:cNvPr>
          <p:cNvSpPr txBox="1"/>
          <p:nvPr/>
        </p:nvSpPr>
        <p:spPr>
          <a:xfrm>
            <a:off x="406400" y="3987800"/>
            <a:ext cx="3251200" cy="512961"/>
          </a:xfrm>
          <a:prstGeom prst="rect">
            <a:avLst/>
          </a:prstGeom>
          <a:noFill/>
        </p:spPr>
        <p:txBody>
          <a:bodyPr vert="horz" wrap="square" lIns="50800" tIns="25400" rIns="50800" bIns="25400" rtlCol="0">
            <a:spAutoFit/>
          </a:bodyPr>
          <a:lstStyle/>
          <a:p>
            <a:r>
              <a:rPr lang="it-IT" sz="1500" b="1" dirty="0">
                <a:solidFill>
                  <a:srgbClr val="242C44"/>
                </a:solidFill>
                <a:latin typeface="Aptos" panose="020B0004020202020204" pitchFamily="34" charset="0"/>
              </a:rPr>
              <a:t>AI Engine ghi artifact theo tầng vào MinIO</a:t>
            </a:r>
            <a:endParaRPr lang="vi-VN" sz="1500" b="1" dirty="0">
              <a:solidFill>
                <a:srgbClr val="242C44"/>
              </a:solidFill>
              <a:latin typeface="Aptos" panose="020B0004020202020204" pitchFamily="34" charset="0"/>
            </a:endParaRPr>
          </a:p>
        </p:txBody>
      </p:sp>
      <p:sp>
        <p:nvSpPr>
          <p:cNvPr id="26" name="codex-artifact-d1">
            <a:extLst>
              <a:ext uri="{FF2B5EF4-FFF2-40B4-BE49-F238E27FC236}">
                <a16:creationId xmlns:a16="http://schemas.microsoft.com/office/drawing/2014/main" id="{6BFEAD90-81A7-C8AA-E0C8-51A7C09D1E68}"/>
              </a:ext>
            </a:extLst>
          </p:cNvPr>
          <p:cNvSpPr/>
          <p:nvPr/>
        </p:nvSpPr>
        <p:spPr>
          <a:xfrm>
            <a:off x="406400" y="4622800"/>
            <a:ext cx="3251200" cy="457200"/>
          </a:xfrm>
          <a:prstGeom prst="roundRect">
            <a:avLst>
              <a:gd name="adj" fmla="val 8000"/>
            </a:avLst>
          </a:prstGeom>
          <a:solidFill>
            <a:srgbClr val="FFFFFF"/>
          </a:solidFill>
          <a:ln w="10160">
            <a:solidFill>
              <a:srgbClr val="CED6E5"/>
            </a:solidFill>
          </a:ln>
          <a:effectLst/>
          <a:extLs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rtlCol="0" anchor="ctr"/>
          <a:lstStyle/>
          <a:p>
            <a:pPr algn="ctr"/>
            <a:r>
              <a:rPr lang="vi-VN" sz="1600" dirty="0">
                <a:solidFill>
                  <a:srgbClr val="242C44"/>
                </a:solidFill>
                <a:latin typeface="Aptos" panose="020B0004020202020204" pitchFamily="34" charset="0"/>
              </a:rPr>
              <a:t>AI Engine write</a:t>
            </a:r>
          </a:p>
        </p:txBody>
      </p:sp>
      <p:sp>
        <p:nvSpPr>
          <p:cNvPr id="27" name="codex-artifact-d2">
            <a:extLst>
              <a:ext uri="{FF2B5EF4-FFF2-40B4-BE49-F238E27FC236}">
                <a16:creationId xmlns:a16="http://schemas.microsoft.com/office/drawing/2014/main" id="{1B2167E3-C5EE-ABEA-4964-20DF5356663E}"/>
              </a:ext>
            </a:extLst>
          </p:cNvPr>
          <p:cNvSpPr/>
          <p:nvPr/>
        </p:nvSpPr>
        <p:spPr>
          <a:xfrm>
            <a:off x="406400" y="5181600"/>
            <a:ext cx="3251200" cy="457200"/>
          </a:xfrm>
          <a:prstGeom prst="roundRect">
            <a:avLst>
              <a:gd name="adj" fmla="val 8000"/>
            </a:avLst>
          </a:prstGeom>
          <a:solidFill>
            <a:srgbClr val="FFFFFF"/>
          </a:solidFill>
          <a:ln w="10160">
            <a:solidFill>
              <a:srgbClr val="CED6E5"/>
            </a:solidFill>
          </a:ln>
          <a:effectLst/>
          <a:extLs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rtlCol="0" anchor="ctr"/>
          <a:lstStyle/>
          <a:p>
            <a:pPr algn="ctr"/>
            <a:r>
              <a:rPr lang="vi-VN" sz="1600" dirty="0">
                <a:solidFill>
                  <a:srgbClr val="242C44"/>
                </a:solidFill>
                <a:latin typeface="Aptos" panose="020B0004020202020204" pitchFamily="34" charset="0"/>
              </a:rPr>
              <a:t>MinIO lưu version theo path</a:t>
            </a:r>
          </a:p>
        </p:txBody>
      </p:sp>
      <p:sp>
        <p:nvSpPr>
          <p:cNvPr id="28" name="codex-artifact-d3">
            <a:extLst>
              <a:ext uri="{FF2B5EF4-FFF2-40B4-BE49-F238E27FC236}">
                <a16:creationId xmlns:a16="http://schemas.microsoft.com/office/drawing/2014/main" id="{74264595-745F-0EAC-F7F0-375E85252F14}"/>
              </a:ext>
            </a:extLst>
          </p:cNvPr>
          <p:cNvSpPr/>
          <p:nvPr/>
        </p:nvSpPr>
        <p:spPr>
          <a:xfrm>
            <a:off x="406400" y="5740400"/>
            <a:ext cx="3251200" cy="457200"/>
          </a:xfrm>
          <a:prstGeom prst="roundRect">
            <a:avLst>
              <a:gd name="adj" fmla="val 8000"/>
            </a:avLst>
          </a:prstGeom>
          <a:solidFill>
            <a:srgbClr val="FFFFFF"/>
          </a:solidFill>
          <a:ln w="10160">
            <a:solidFill>
              <a:srgbClr val="CED6E5"/>
            </a:solidFill>
          </a:ln>
          <a:effectLst/>
          <a:extLs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400" dirty="0">
                <a:solidFill>
                  <a:srgbClr val="242C44"/>
                </a:solidFill>
                <a:latin typeface="Aptos" panose="020B0004020202020204" pitchFamily="34" charset="0"/>
              </a:rPr>
              <a:t>Backend </a:t>
            </a:r>
            <a:r>
              <a:rPr lang="en-US" sz="1400" dirty="0" err="1">
                <a:solidFill>
                  <a:srgbClr val="242C44"/>
                </a:solidFill>
                <a:latin typeface="Aptos" panose="020B0004020202020204" pitchFamily="34" charset="0"/>
              </a:rPr>
              <a:t>cấp</a:t>
            </a:r>
            <a:r>
              <a:rPr lang="en-US" sz="1400" dirty="0">
                <a:solidFill>
                  <a:srgbClr val="242C44"/>
                </a:solidFill>
                <a:latin typeface="Aptos" panose="020B0004020202020204" pitchFamily="34" charset="0"/>
              </a:rPr>
              <a:t> signed access </a:t>
            </a:r>
            <a:r>
              <a:rPr lang="en-US" sz="1400" dirty="0" err="1">
                <a:solidFill>
                  <a:srgbClr val="242C44"/>
                </a:solidFill>
                <a:latin typeface="Aptos" panose="020B0004020202020204" pitchFamily="34" charset="0"/>
              </a:rPr>
              <a:t>khi</a:t>
            </a:r>
            <a:r>
              <a:rPr lang="en-US" sz="1400" dirty="0">
                <a:solidFill>
                  <a:srgbClr val="242C44"/>
                </a:solidFill>
                <a:latin typeface="Aptos" panose="020B0004020202020204" pitchFamily="34" charset="0"/>
              </a:rPr>
              <a:t> client </a:t>
            </a:r>
            <a:r>
              <a:rPr lang="en-US" sz="1400" dirty="0" err="1">
                <a:solidFill>
                  <a:srgbClr val="242C44"/>
                </a:solidFill>
                <a:latin typeface="Aptos" panose="020B0004020202020204" pitchFamily="34" charset="0"/>
              </a:rPr>
              <a:t>cần</a:t>
            </a:r>
            <a:r>
              <a:rPr lang="en-US" sz="1400" dirty="0">
                <a:solidFill>
                  <a:srgbClr val="242C44"/>
                </a:solidFill>
                <a:latin typeface="Aptos" panose="020B0004020202020204" pitchFamily="34" charset="0"/>
              </a:rPr>
              <a:t> </a:t>
            </a:r>
            <a:r>
              <a:rPr lang="en-US" sz="1400" dirty="0" err="1">
                <a:solidFill>
                  <a:srgbClr val="242C44"/>
                </a:solidFill>
                <a:latin typeface="Aptos" panose="020B0004020202020204" pitchFamily="34" charset="0"/>
              </a:rPr>
              <a:t>đọc</a:t>
            </a:r>
            <a:r>
              <a:rPr lang="en-US" sz="1400" dirty="0">
                <a:solidFill>
                  <a:srgbClr val="242C44"/>
                </a:solidFill>
                <a:latin typeface="Aptos" panose="020B0004020202020204" pitchFamily="34" charset="0"/>
              </a:rPr>
              <a:t> </a:t>
            </a:r>
            <a:r>
              <a:rPr lang="en-US" sz="1400" dirty="0" err="1">
                <a:solidFill>
                  <a:srgbClr val="242C44"/>
                </a:solidFill>
                <a:latin typeface="Aptos" panose="020B0004020202020204" pitchFamily="34" charset="0"/>
              </a:rPr>
              <a:t>lại</a:t>
            </a:r>
            <a:endParaRPr lang="vi-VN" sz="1400" dirty="0">
              <a:solidFill>
                <a:srgbClr val="242C44"/>
              </a:solidFill>
              <a:latin typeface="Aptos" panose="020B0004020202020204" pitchFamily="34" charset="0"/>
            </a:endParaRPr>
          </a:p>
        </p:txBody>
      </p:sp>
      <p:sp>
        <p:nvSpPr>
          <p:cNvPr id="29" name="codex-artifact-realtime">
            <a:extLst>
              <a:ext uri="{FF2B5EF4-FFF2-40B4-BE49-F238E27FC236}">
                <a16:creationId xmlns:a16="http://schemas.microsoft.com/office/drawing/2014/main" id="{BAE31432-A108-D3CD-C68E-8CD709BC61F1}"/>
              </a:ext>
            </a:extLst>
          </p:cNvPr>
          <p:cNvSpPr/>
          <p:nvPr/>
        </p:nvSpPr>
        <p:spPr>
          <a:xfrm>
            <a:off x="4140200" y="3479800"/>
            <a:ext cx="3632200" cy="3276600"/>
          </a:xfrm>
          <a:prstGeom prst="roundRect">
            <a:avLst>
              <a:gd name="adj" fmla="val 8000"/>
            </a:avLst>
          </a:prstGeom>
          <a:solidFill>
            <a:srgbClr val="E9EFFC"/>
          </a:solidFill>
          <a:ln w="11430">
            <a:solidFill>
              <a:srgbClr val="A0B7E5"/>
            </a:solidFill>
          </a:ln>
          <a:effectLst/>
          <a:extLs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vi-VN"/>
          </a:p>
        </p:txBody>
      </p:sp>
      <p:sp>
        <p:nvSpPr>
          <p:cNvPr id="30" name="codex-artifact-realtime-k">
            <a:extLst>
              <a:ext uri="{FF2B5EF4-FFF2-40B4-BE49-F238E27FC236}">
                <a16:creationId xmlns:a16="http://schemas.microsoft.com/office/drawing/2014/main" id="{BA9A942B-6608-3778-EF4C-09CFAAB7D388}"/>
              </a:ext>
            </a:extLst>
          </p:cNvPr>
          <p:cNvSpPr txBox="1"/>
          <p:nvPr/>
        </p:nvSpPr>
        <p:spPr>
          <a:xfrm>
            <a:off x="4343400" y="3632200"/>
            <a:ext cx="1651000" cy="297517"/>
          </a:xfrm>
          <a:prstGeom prst="rect">
            <a:avLst/>
          </a:prstGeom>
          <a:noFill/>
        </p:spPr>
        <p:txBody>
          <a:bodyPr vert="horz" lIns="50800" tIns="25400" rIns="50800" bIns="25400" rtlCol="0">
            <a:spAutoFit/>
          </a:bodyPr>
          <a:lstStyle/>
          <a:p>
            <a:r>
              <a:rPr lang="vi-VN" sz="1600" b="1">
                <a:solidFill>
                  <a:srgbClr val="738CC2"/>
                </a:solidFill>
                <a:latin typeface="Aptos" panose="020B0004020202020204" pitchFamily="34" charset="0"/>
              </a:rPr>
              <a:t>REALTIME PATH</a:t>
            </a:r>
          </a:p>
        </p:txBody>
      </p:sp>
      <p:sp>
        <p:nvSpPr>
          <p:cNvPr id="31" name="codex-artifact-realtime-head">
            <a:extLst>
              <a:ext uri="{FF2B5EF4-FFF2-40B4-BE49-F238E27FC236}">
                <a16:creationId xmlns:a16="http://schemas.microsoft.com/office/drawing/2014/main" id="{2DB3C757-0A56-2848-0809-24999C8AF603}"/>
              </a:ext>
            </a:extLst>
          </p:cNvPr>
          <p:cNvSpPr txBox="1"/>
          <p:nvPr/>
        </p:nvSpPr>
        <p:spPr>
          <a:xfrm>
            <a:off x="4343399" y="3987800"/>
            <a:ext cx="3251199" cy="512961"/>
          </a:xfrm>
          <a:prstGeom prst="rect">
            <a:avLst/>
          </a:prstGeom>
          <a:noFill/>
        </p:spPr>
        <p:txBody>
          <a:bodyPr vert="horz" wrap="square" lIns="50800" tIns="25400" rIns="50800" bIns="25400" rtlCol="0">
            <a:spAutoFit/>
          </a:bodyPr>
          <a:lstStyle/>
          <a:p>
            <a:r>
              <a:rPr lang="vi-VN" sz="1500" b="1" dirty="0">
                <a:solidFill>
                  <a:srgbClr val="242C44"/>
                </a:solidFill>
                <a:latin typeface="Aptos" panose="020B0004020202020204" pitchFamily="34" charset="0"/>
              </a:rPr>
              <a:t>Kênh sự kiện tách riêng để màn hình processing theo dõi tiến trình</a:t>
            </a:r>
          </a:p>
        </p:txBody>
      </p:sp>
      <p:sp>
        <p:nvSpPr>
          <p:cNvPr id="32" name="codex-artifact-r1">
            <a:extLst>
              <a:ext uri="{FF2B5EF4-FFF2-40B4-BE49-F238E27FC236}">
                <a16:creationId xmlns:a16="http://schemas.microsoft.com/office/drawing/2014/main" id="{DD78AF1C-5E11-BEB4-F375-C1F90FAB95E2}"/>
              </a:ext>
            </a:extLst>
          </p:cNvPr>
          <p:cNvSpPr/>
          <p:nvPr/>
        </p:nvSpPr>
        <p:spPr>
          <a:xfrm>
            <a:off x="4343400" y="4724400"/>
            <a:ext cx="3251200" cy="431800"/>
          </a:xfrm>
          <a:prstGeom prst="roundRect">
            <a:avLst>
              <a:gd name="adj" fmla="val 8000"/>
            </a:avLst>
          </a:prstGeom>
          <a:solidFill>
            <a:srgbClr val="FFFFFF"/>
          </a:solidFill>
          <a:ln w="10160">
            <a:solidFill>
              <a:srgbClr val="CED6E5"/>
            </a:solidFill>
          </a:ln>
          <a:effectLst/>
          <a:extLs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rtlCol="0" anchor="ctr"/>
          <a:lstStyle/>
          <a:p>
            <a:pPr algn="ctr"/>
            <a:r>
              <a:rPr lang="it-IT" sz="1400" dirty="0">
                <a:solidFill>
                  <a:srgbClr val="242C44"/>
                </a:solidFill>
                <a:latin typeface="Aptos" panose="020B0004020202020204" pitchFamily="34" charset="0"/>
              </a:rPr>
              <a:t>AI Engine -&gt; Redis Pub/Sub</a:t>
            </a:r>
            <a:endParaRPr lang="vi-VN" sz="1400" dirty="0">
              <a:solidFill>
                <a:srgbClr val="242C44"/>
              </a:solidFill>
              <a:latin typeface="Aptos" panose="020B0004020202020204" pitchFamily="34" charset="0"/>
            </a:endParaRPr>
          </a:p>
        </p:txBody>
      </p:sp>
      <p:sp>
        <p:nvSpPr>
          <p:cNvPr id="33" name="codex-artifact-r2">
            <a:extLst>
              <a:ext uri="{FF2B5EF4-FFF2-40B4-BE49-F238E27FC236}">
                <a16:creationId xmlns:a16="http://schemas.microsoft.com/office/drawing/2014/main" id="{FFA5DFAC-1E7B-9655-8D57-77A01DA29CF5}"/>
              </a:ext>
            </a:extLst>
          </p:cNvPr>
          <p:cNvSpPr/>
          <p:nvPr/>
        </p:nvSpPr>
        <p:spPr>
          <a:xfrm>
            <a:off x="4343400" y="5257800"/>
            <a:ext cx="3251200" cy="431800"/>
          </a:xfrm>
          <a:prstGeom prst="roundRect">
            <a:avLst>
              <a:gd name="adj" fmla="val 8000"/>
            </a:avLst>
          </a:prstGeom>
          <a:solidFill>
            <a:srgbClr val="FFFFFF"/>
          </a:solidFill>
          <a:ln w="10160">
            <a:solidFill>
              <a:srgbClr val="CED6E5"/>
            </a:solidFill>
          </a:ln>
          <a:effectLst/>
          <a:extLs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rtlCol="0" anchor="ctr"/>
          <a:lstStyle/>
          <a:p>
            <a:pPr algn="ctr"/>
            <a:r>
              <a:rPr lang="vi-VN" sz="1400">
                <a:solidFill>
                  <a:srgbClr val="242C44"/>
                </a:solidFill>
                <a:latin typeface="Aptos" panose="020B0004020202020204" pitchFamily="34" charset="0"/>
              </a:rPr>
              <a:t>Redis -&gt; Backend socket mirror</a:t>
            </a:r>
          </a:p>
        </p:txBody>
      </p:sp>
      <p:sp>
        <p:nvSpPr>
          <p:cNvPr id="34" name="codex-artifact-r3">
            <a:extLst>
              <a:ext uri="{FF2B5EF4-FFF2-40B4-BE49-F238E27FC236}">
                <a16:creationId xmlns:a16="http://schemas.microsoft.com/office/drawing/2014/main" id="{A1736618-83AB-F97B-4CBD-913DB1601871}"/>
              </a:ext>
            </a:extLst>
          </p:cNvPr>
          <p:cNvSpPr/>
          <p:nvPr/>
        </p:nvSpPr>
        <p:spPr>
          <a:xfrm>
            <a:off x="4343400" y="5791200"/>
            <a:ext cx="3251200" cy="431800"/>
          </a:xfrm>
          <a:prstGeom prst="roundRect">
            <a:avLst>
              <a:gd name="adj" fmla="val 8000"/>
            </a:avLst>
          </a:prstGeom>
          <a:solidFill>
            <a:srgbClr val="FFFFFF"/>
          </a:solidFill>
          <a:ln w="10160">
            <a:solidFill>
              <a:srgbClr val="CED6E5"/>
            </a:solidFill>
          </a:ln>
          <a:effectLst/>
          <a:extLs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rtlCol="0" anchor="ctr"/>
          <a:lstStyle/>
          <a:p>
            <a:pPr algn="ctr"/>
            <a:r>
              <a:rPr lang="vi-VN" sz="1400">
                <a:solidFill>
                  <a:srgbClr val="242C44"/>
                </a:solidFill>
                <a:latin typeface="Aptos" panose="020B0004020202020204" pitchFamily="34" charset="0"/>
              </a:rPr>
              <a:t>Backend -&gt; Mobile processing UI</a:t>
            </a:r>
          </a:p>
        </p:txBody>
      </p:sp>
      <p:sp>
        <p:nvSpPr>
          <p:cNvPr id="35" name="codex-artifact-reconnect">
            <a:extLst>
              <a:ext uri="{FF2B5EF4-FFF2-40B4-BE49-F238E27FC236}">
                <a16:creationId xmlns:a16="http://schemas.microsoft.com/office/drawing/2014/main" id="{05DB2116-9445-37EC-3C34-11F5422DE8C7}"/>
              </a:ext>
            </a:extLst>
          </p:cNvPr>
          <p:cNvSpPr/>
          <p:nvPr/>
        </p:nvSpPr>
        <p:spPr>
          <a:xfrm>
            <a:off x="8077200" y="3479800"/>
            <a:ext cx="3911600" cy="3276600"/>
          </a:xfrm>
          <a:prstGeom prst="roundRect">
            <a:avLst>
              <a:gd name="adj" fmla="val 8000"/>
            </a:avLst>
          </a:prstGeom>
          <a:solidFill>
            <a:srgbClr val="FAF7F2"/>
          </a:solidFill>
          <a:ln w="11430">
            <a:solidFill>
              <a:srgbClr val="DDB892"/>
            </a:solidFill>
          </a:ln>
          <a:effectLst/>
          <a:extLs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vi-VN"/>
          </a:p>
        </p:txBody>
      </p:sp>
      <p:sp>
        <p:nvSpPr>
          <p:cNvPr id="36" name="codex-artifact-reconnect-k">
            <a:extLst>
              <a:ext uri="{FF2B5EF4-FFF2-40B4-BE49-F238E27FC236}">
                <a16:creationId xmlns:a16="http://schemas.microsoft.com/office/drawing/2014/main" id="{7AF73279-24DB-F95B-5FD7-A9E49F88B52B}"/>
              </a:ext>
            </a:extLst>
          </p:cNvPr>
          <p:cNvSpPr txBox="1"/>
          <p:nvPr/>
        </p:nvSpPr>
        <p:spPr>
          <a:xfrm>
            <a:off x="8280400" y="3632200"/>
            <a:ext cx="3058160" cy="297517"/>
          </a:xfrm>
          <a:prstGeom prst="rect">
            <a:avLst/>
          </a:prstGeom>
          <a:noFill/>
        </p:spPr>
        <p:txBody>
          <a:bodyPr vert="horz" wrap="square" lIns="50800" tIns="25400" rIns="50800" bIns="25400" rtlCol="0">
            <a:spAutoFit/>
          </a:bodyPr>
          <a:lstStyle/>
          <a:p>
            <a:r>
              <a:rPr lang="vi-VN" sz="1600" b="1" dirty="0">
                <a:solidFill>
                  <a:srgbClr val="738CC2"/>
                </a:solidFill>
                <a:latin typeface="Aptos" panose="020B0004020202020204" pitchFamily="34" charset="0"/>
              </a:rPr>
              <a:t>RECONNECT-SAFE STORY</a:t>
            </a:r>
          </a:p>
        </p:txBody>
      </p:sp>
      <p:sp>
        <p:nvSpPr>
          <p:cNvPr id="37" name="codex-artifact-reconnect-head">
            <a:extLst>
              <a:ext uri="{FF2B5EF4-FFF2-40B4-BE49-F238E27FC236}">
                <a16:creationId xmlns:a16="http://schemas.microsoft.com/office/drawing/2014/main" id="{314ADC87-D822-DD80-EDD8-F0CA6777F431}"/>
              </a:ext>
            </a:extLst>
          </p:cNvPr>
          <p:cNvSpPr txBox="1"/>
          <p:nvPr/>
        </p:nvSpPr>
        <p:spPr>
          <a:xfrm>
            <a:off x="8280400" y="3962400"/>
            <a:ext cx="3505200" cy="512961"/>
          </a:xfrm>
          <a:prstGeom prst="rect">
            <a:avLst/>
          </a:prstGeom>
          <a:noFill/>
        </p:spPr>
        <p:txBody>
          <a:bodyPr vert="horz" wrap="square" lIns="50800" tIns="25400" rIns="50800" bIns="25400" rtlCol="0">
            <a:spAutoFit/>
          </a:bodyPr>
          <a:lstStyle/>
          <a:p>
            <a:r>
              <a:rPr lang="vi-VN" sz="1500" b="1" dirty="0">
                <a:solidFill>
                  <a:srgbClr val="242C44"/>
                </a:solidFill>
                <a:latin typeface="Aptos" panose="020B0004020202020204" pitchFamily="34" charset="0"/>
              </a:rPr>
              <a:t>Mất socket không làm mất trạng thái tiến dần</a:t>
            </a:r>
          </a:p>
        </p:txBody>
      </p:sp>
      <p:sp>
        <p:nvSpPr>
          <p:cNvPr id="38" name="codex-artifact-c1">
            <a:extLst>
              <a:ext uri="{FF2B5EF4-FFF2-40B4-BE49-F238E27FC236}">
                <a16:creationId xmlns:a16="http://schemas.microsoft.com/office/drawing/2014/main" id="{CEE368A3-2BB8-35F6-0971-2A64114B9100}"/>
              </a:ext>
            </a:extLst>
          </p:cNvPr>
          <p:cNvSpPr/>
          <p:nvPr/>
        </p:nvSpPr>
        <p:spPr>
          <a:xfrm>
            <a:off x="8280400" y="4622800"/>
            <a:ext cx="3505200" cy="431800"/>
          </a:xfrm>
          <a:prstGeom prst="roundRect">
            <a:avLst>
              <a:gd name="adj" fmla="val 8000"/>
            </a:avLst>
          </a:prstGeom>
          <a:solidFill>
            <a:srgbClr val="FFFFFF"/>
          </a:solidFill>
          <a:ln w="10160">
            <a:solidFill>
              <a:srgbClr val="CED6E5"/>
            </a:solidFill>
          </a:ln>
          <a:effectLst/>
          <a:extLs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rtlCol="0" anchor="ctr"/>
          <a:lstStyle/>
          <a:p>
            <a:pPr algn="ctr"/>
            <a:r>
              <a:rPr lang="vi-VN" sz="1400" dirty="0">
                <a:solidFill>
                  <a:srgbClr val="242C44"/>
                </a:solidFill>
                <a:latin typeface="Aptos" panose="020B0004020202020204" pitchFamily="34" charset="0"/>
              </a:rPr>
              <a:t>Nếu processing screen rớt kết nối, artifact vẫn tiếp tục được ghi.</a:t>
            </a:r>
          </a:p>
        </p:txBody>
      </p:sp>
      <p:sp>
        <p:nvSpPr>
          <p:cNvPr id="39" name="codex-artifact-c2">
            <a:extLst>
              <a:ext uri="{FF2B5EF4-FFF2-40B4-BE49-F238E27FC236}">
                <a16:creationId xmlns:a16="http://schemas.microsoft.com/office/drawing/2014/main" id="{14E00EFF-CBAD-334B-E8C6-27DEDA7C5B2E}"/>
              </a:ext>
            </a:extLst>
          </p:cNvPr>
          <p:cNvSpPr/>
          <p:nvPr/>
        </p:nvSpPr>
        <p:spPr>
          <a:xfrm>
            <a:off x="8280400" y="5233083"/>
            <a:ext cx="3505200" cy="533400"/>
          </a:xfrm>
          <a:prstGeom prst="roundRect">
            <a:avLst>
              <a:gd name="adj" fmla="val 8000"/>
            </a:avLst>
          </a:prstGeom>
          <a:solidFill>
            <a:srgbClr val="FFFFFF"/>
          </a:solidFill>
          <a:ln w="10160">
            <a:solidFill>
              <a:srgbClr val="CED6E5"/>
            </a:solidFill>
          </a:ln>
          <a:effectLst/>
          <a:extLs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rtlCol="0" anchor="ctr"/>
          <a:lstStyle/>
          <a:p>
            <a:pPr algn="ctr"/>
            <a:r>
              <a:rPr lang="vi-VN" sz="1400">
                <a:solidFill>
                  <a:srgbClr val="242C44"/>
                </a:solidFill>
                <a:latin typeface="Aptos" panose="020B0004020202020204" pitchFamily="34" charset="0"/>
              </a:rPr>
              <a:t>Nếu user mở lại player, app hydrate lại từ translated_batches hoặc final.json.</a:t>
            </a:r>
          </a:p>
        </p:txBody>
      </p:sp>
      <p:sp>
        <p:nvSpPr>
          <p:cNvPr id="40" name="codex-artifact-c3">
            <a:extLst>
              <a:ext uri="{FF2B5EF4-FFF2-40B4-BE49-F238E27FC236}">
                <a16:creationId xmlns:a16="http://schemas.microsoft.com/office/drawing/2014/main" id="{D9793FF4-ABD4-095F-3684-A9032BA1085D}"/>
              </a:ext>
            </a:extLst>
          </p:cNvPr>
          <p:cNvSpPr/>
          <p:nvPr/>
        </p:nvSpPr>
        <p:spPr>
          <a:xfrm>
            <a:off x="8280400" y="5930900"/>
            <a:ext cx="3505200" cy="533400"/>
          </a:xfrm>
          <a:prstGeom prst="roundRect">
            <a:avLst>
              <a:gd name="adj" fmla="val 8000"/>
            </a:avLst>
          </a:prstGeom>
          <a:solidFill>
            <a:srgbClr val="FFFFFF"/>
          </a:solidFill>
          <a:ln w="10160">
            <a:solidFill>
              <a:srgbClr val="CED6E5"/>
            </a:solidFill>
          </a:ln>
          <a:effectLst/>
          <a:extLs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rtlCol="0" anchor="ctr"/>
          <a:lstStyle/>
          <a:p>
            <a:pPr algn="ctr"/>
            <a:r>
              <a:rPr lang="vi-VN" sz="1400" dirty="0">
                <a:solidFill>
                  <a:srgbClr val="242C44"/>
                </a:solidFill>
                <a:latin typeface="Aptos" panose="020B0004020202020204" pitchFamily="34" charset="0"/>
              </a:rPr>
              <a:t>Vì vậy realtime chỉ là lớp theo dõi, còn artifact mới là lớp sự thật lâu dài.</a:t>
            </a:r>
          </a:p>
        </p:txBody>
      </p:sp>
      <p:sp>
        <p:nvSpPr>
          <p:cNvPr id="42" name="codex-ai-kicker">
            <a:extLst>
              <a:ext uri="{FF2B5EF4-FFF2-40B4-BE49-F238E27FC236}">
                <a16:creationId xmlns:a16="http://schemas.microsoft.com/office/drawing/2014/main" id="{7363FC14-596E-5D5F-32ED-AAB7CA314DF4}"/>
              </a:ext>
            </a:extLst>
          </p:cNvPr>
          <p:cNvSpPr txBox="1"/>
          <p:nvPr/>
        </p:nvSpPr>
        <p:spPr>
          <a:xfrm>
            <a:off x="5334000" y="228600"/>
            <a:ext cx="2032000" cy="374461"/>
          </a:xfrm>
          <a:prstGeom prst="rect">
            <a:avLst/>
          </a:prstGeom>
          <a:noFill/>
        </p:spPr>
        <p:txBody>
          <a:bodyPr vert="horz" lIns="50800" tIns="25400" rIns="50800" bIns="25400" rtlCol="0">
            <a:spAutoFit/>
          </a:bodyPr>
          <a:lstStyle/>
          <a:p>
            <a:pPr algn="ctr"/>
            <a:r>
              <a:rPr lang="en-US" sz="2100" b="1">
                <a:solidFill>
                  <a:srgbClr val="C88639"/>
                </a:solidFill>
                <a:latin typeface="Aptos" panose="020B0004020202020204" pitchFamily="34" charset="0"/>
              </a:rPr>
              <a:t>HỆ THỐNG</a:t>
            </a:r>
            <a:endParaRPr lang="vi-VN" sz="2100" b="1" dirty="0">
              <a:solidFill>
                <a:srgbClr val="C88639"/>
              </a:solidFill>
              <a:latin typeface="Aptos" panose="020B0004020202020204" pitchFamily="34" charset="0"/>
            </a:endParaRPr>
          </a:p>
        </p:txBody>
      </p:sp>
      <p:sp>
        <p:nvSpPr>
          <p:cNvPr id="43" name="codex-ai-title">
            <a:extLst>
              <a:ext uri="{FF2B5EF4-FFF2-40B4-BE49-F238E27FC236}">
                <a16:creationId xmlns:a16="http://schemas.microsoft.com/office/drawing/2014/main" id="{57CF2842-0E79-A7EB-B603-F48B0F1B5CB0}"/>
              </a:ext>
            </a:extLst>
          </p:cNvPr>
          <p:cNvSpPr txBox="1"/>
          <p:nvPr/>
        </p:nvSpPr>
        <p:spPr>
          <a:xfrm>
            <a:off x="3073400" y="736600"/>
            <a:ext cx="6553200" cy="420628"/>
          </a:xfrm>
          <a:prstGeom prst="rect">
            <a:avLst/>
          </a:prstGeom>
          <a:noFill/>
        </p:spPr>
        <p:txBody>
          <a:bodyPr vert="horz" lIns="50800" tIns="25400" rIns="50800" bIns="25400" rtlCol="0">
            <a:spAutoFit/>
          </a:bodyPr>
          <a:lstStyle/>
          <a:p>
            <a:pPr algn="ctr"/>
            <a:r>
              <a:rPr lang="en-US" sz="2400" b="1" dirty="0">
                <a:solidFill>
                  <a:srgbClr val="000000"/>
                </a:solidFill>
                <a:latin typeface="Aptos" panose="020B0004020202020204" pitchFamily="34" charset="0"/>
              </a:rPr>
              <a:t>ARTIFACT + REALTIME</a:t>
            </a:r>
            <a:endParaRPr lang="vi-VN" sz="2400" b="1" dirty="0">
              <a:solidFill>
                <a:srgbClr val="000000"/>
              </a:solidFill>
              <a:latin typeface="Aptos" panose="020B0004020202020204" pitchFamily="34" charset="0"/>
            </a:endParaRPr>
          </a:p>
        </p:txBody>
      </p:sp>
    </p:spTree>
    <p:extLst>
      <p:ext uri="{BB962C8B-B14F-4D97-AF65-F5344CB8AC3E}">
        <p14:creationId xmlns:p14="http://schemas.microsoft.com/office/powerpoint/2010/main" val="3397555626"/>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5F1EA"/>
        </a:solidFill>
        <a:effectLst/>
      </p:bgPr>
    </p:bg>
    <p:spTree>
      <p:nvGrpSpPr>
        <p:cNvPr id="1" name=""/>
        <p:cNvGrpSpPr/>
        <p:nvPr/>
      </p:nvGrpSpPr>
      <p:grpSpPr>
        <a:xfrm>
          <a:off x="0" y="0"/>
          <a:ext cx="0" cy="0"/>
          <a:chOff x="0" y="0"/>
          <a:chExt cx="0" cy="0"/>
        </a:xfrm>
      </p:grpSpPr>
      <p:sp>
        <p:nvSpPr>
          <p:cNvPr id="2" name="codex-bm-setup-marker">
            <a:extLst>
              <a:ext uri="{FF2B5EF4-FFF2-40B4-BE49-F238E27FC236}">
                <a16:creationId xmlns:a16="http://schemas.microsoft.com/office/drawing/2014/main" id="{16BC92F7-86E6-C904-EBB3-21C423053420}"/>
              </a:ext>
            </a:extLst>
          </p:cNvPr>
          <p:cNvSpPr txBox="1"/>
          <p:nvPr/>
        </p:nvSpPr>
        <p:spPr>
          <a:xfrm>
            <a:off x="0" y="0"/>
            <a:ext cx="12700" cy="66685"/>
          </a:xfrm>
          <a:prstGeom prst="rect">
            <a:avLst/>
          </a:prstGeom>
          <a:noFill/>
        </p:spPr>
        <p:txBody>
          <a:bodyPr vert="horz" lIns="50800" tIns="25400" rIns="50800" bIns="25400" rtlCol="0">
            <a:spAutoFit/>
          </a:bodyPr>
          <a:lstStyle/>
          <a:p>
            <a:endParaRPr lang="vi-VN" sz="100">
              <a:solidFill>
                <a:srgbClr val="F5F1EA"/>
              </a:solidFill>
              <a:latin typeface="Aptos" panose="020B0004020202020204" pitchFamily="34" charset="0"/>
            </a:endParaRPr>
          </a:p>
        </p:txBody>
      </p:sp>
      <p:sp>
        <p:nvSpPr>
          <p:cNvPr id="3" name="codex-bm-setup-kicker">
            <a:extLst>
              <a:ext uri="{FF2B5EF4-FFF2-40B4-BE49-F238E27FC236}">
                <a16:creationId xmlns:a16="http://schemas.microsoft.com/office/drawing/2014/main" id="{89389C52-3977-1A57-CAFE-FE2D17C36AC0}"/>
              </a:ext>
            </a:extLst>
          </p:cNvPr>
          <p:cNvSpPr txBox="1"/>
          <p:nvPr/>
        </p:nvSpPr>
        <p:spPr>
          <a:xfrm>
            <a:off x="431800" y="200551"/>
            <a:ext cx="1905000" cy="328295"/>
          </a:xfrm>
          <a:prstGeom prst="rect">
            <a:avLst/>
          </a:prstGeom>
          <a:noFill/>
        </p:spPr>
        <p:txBody>
          <a:bodyPr vert="horz" lIns="50800" tIns="25400" rIns="50800" bIns="25400" rtlCol="0">
            <a:spAutoFit/>
          </a:bodyPr>
          <a:lstStyle/>
          <a:p>
            <a:r>
              <a:rPr lang="vi-VN" b="1" dirty="0">
                <a:solidFill>
                  <a:srgbClr val="C88639"/>
                </a:solidFill>
                <a:latin typeface="Aptos" panose="020B0004020202020204" pitchFamily="34" charset="0"/>
              </a:rPr>
              <a:t>THỰC NGHIỆM</a:t>
            </a:r>
          </a:p>
        </p:txBody>
      </p:sp>
      <p:sp>
        <p:nvSpPr>
          <p:cNvPr id="4" name="codex-bm-setup-title">
            <a:extLst>
              <a:ext uri="{FF2B5EF4-FFF2-40B4-BE49-F238E27FC236}">
                <a16:creationId xmlns:a16="http://schemas.microsoft.com/office/drawing/2014/main" id="{F43F7337-CA03-A505-CE10-4F4C6B0D2143}"/>
              </a:ext>
            </a:extLst>
          </p:cNvPr>
          <p:cNvSpPr txBox="1"/>
          <p:nvPr/>
        </p:nvSpPr>
        <p:spPr>
          <a:xfrm>
            <a:off x="431800" y="508000"/>
            <a:ext cx="6350000" cy="420628"/>
          </a:xfrm>
          <a:prstGeom prst="rect">
            <a:avLst/>
          </a:prstGeom>
          <a:noFill/>
        </p:spPr>
        <p:txBody>
          <a:bodyPr vert="horz" lIns="50800" tIns="25400" rIns="50800" bIns="25400" rtlCol="0">
            <a:spAutoFit/>
          </a:bodyPr>
          <a:lstStyle/>
          <a:p>
            <a:r>
              <a:rPr lang="vi-VN" sz="2400" b="1" dirty="0">
                <a:solidFill>
                  <a:srgbClr val="242C44"/>
                </a:solidFill>
              </a:rPr>
              <a:t>Thiết lập benchmark</a:t>
            </a:r>
          </a:p>
        </p:txBody>
      </p:sp>
      <p:sp>
        <p:nvSpPr>
          <p:cNvPr id="5" name="codex-bm-setup-sub">
            <a:extLst>
              <a:ext uri="{FF2B5EF4-FFF2-40B4-BE49-F238E27FC236}">
                <a16:creationId xmlns:a16="http://schemas.microsoft.com/office/drawing/2014/main" id="{DA07E55F-39D6-5D79-E30D-F4880BED4D3C}"/>
              </a:ext>
            </a:extLst>
          </p:cNvPr>
          <p:cNvSpPr txBox="1"/>
          <p:nvPr/>
        </p:nvSpPr>
        <p:spPr>
          <a:xfrm>
            <a:off x="431800" y="1000602"/>
            <a:ext cx="7874000" cy="297517"/>
          </a:xfrm>
          <a:prstGeom prst="rect">
            <a:avLst/>
          </a:prstGeom>
          <a:noFill/>
        </p:spPr>
        <p:txBody>
          <a:bodyPr vert="horz" lIns="50800" tIns="25400" rIns="50800" bIns="25400" rtlCol="0">
            <a:spAutoFit/>
          </a:bodyPr>
          <a:lstStyle/>
          <a:p>
            <a:r>
              <a:rPr lang="vi-VN" sz="1600" dirty="0">
                <a:solidFill>
                  <a:srgbClr val="60677C"/>
                </a:solidFill>
                <a:latin typeface="Aptos" panose="020B0004020202020204" pitchFamily="34" charset="0"/>
              </a:rPr>
              <a:t>Đo pipeline ở mức hệ thống, không chỉ đo từng model riêng lẻ.</a:t>
            </a:r>
          </a:p>
        </p:txBody>
      </p:sp>
      <p:sp>
        <p:nvSpPr>
          <p:cNvPr id="6" name="codex-bm-card-total">
            <a:extLst>
              <a:ext uri="{FF2B5EF4-FFF2-40B4-BE49-F238E27FC236}">
                <a16:creationId xmlns:a16="http://schemas.microsoft.com/office/drawing/2014/main" id="{1A13809F-E25D-F391-414B-DF7972FCBA24}"/>
              </a:ext>
            </a:extLst>
          </p:cNvPr>
          <p:cNvSpPr/>
          <p:nvPr/>
        </p:nvSpPr>
        <p:spPr>
          <a:xfrm>
            <a:off x="431800" y="1651000"/>
            <a:ext cx="2286000" cy="1168400"/>
          </a:xfrm>
          <a:prstGeom prst="roundRect">
            <a:avLst>
              <a:gd name="adj" fmla="val 8000"/>
            </a:avLst>
          </a:prstGeom>
          <a:solidFill>
            <a:srgbClr val="E9EFF5"/>
          </a:solidFill>
          <a:ln w="11430">
            <a:solidFill>
              <a:srgbClr val="ABBACC"/>
            </a:solidFill>
          </a:ln>
          <a:effectLst/>
          <a:extLs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vi-VN"/>
          </a:p>
        </p:txBody>
      </p:sp>
      <p:sp>
        <p:nvSpPr>
          <p:cNvPr id="7" name="codex-bm-card-total-value">
            <a:extLst>
              <a:ext uri="{FF2B5EF4-FFF2-40B4-BE49-F238E27FC236}">
                <a16:creationId xmlns:a16="http://schemas.microsoft.com/office/drawing/2014/main" id="{43670FD1-E37E-4CB7-B289-28D80F9BBF3C}"/>
              </a:ext>
            </a:extLst>
          </p:cNvPr>
          <p:cNvSpPr txBox="1"/>
          <p:nvPr/>
        </p:nvSpPr>
        <p:spPr>
          <a:xfrm>
            <a:off x="558800" y="1828800"/>
            <a:ext cx="2032000" cy="420628"/>
          </a:xfrm>
          <a:prstGeom prst="rect">
            <a:avLst/>
          </a:prstGeom>
          <a:noFill/>
        </p:spPr>
        <p:txBody>
          <a:bodyPr vert="horz" lIns="50800" tIns="25400" rIns="50800" bIns="25400" rtlCol="0">
            <a:spAutoFit/>
          </a:bodyPr>
          <a:lstStyle/>
          <a:p>
            <a:pPr algn="ctr"/>
            <a:r>
              <a:rPr lang="vi-VN" sz="2400" b="1">
                <a:solidFill>
                  <a:srgbClr val="242C44"/>
                </a:solidFill>
              </a:rPr>
              <a:t>20</a:t>
            </a:r>
          </a:p>
        </p:txBody>
      </p:sp>
      <p:sp>
        <p:nvSpPr>
          <p:cNvPr id="8" name="codex-bm-card-total-label">
            <a:extLst>
              <a:ext uri="{FF2B5EF4-FFF2-40B4-BE49-F238E27FC236}">
                <a16:creationId xmlns:a16="http://schemas.microsoft.com/office/drawing/2014/main" id="{C94D1DA6-1903-CA81-5FF0-AF575DC3A441}"/>
              </a:ext>
            </a:extLst>
          </p:cNvPr>
          <p:cNvSpPr txBox="1"/>
          <p:nvPr/>
        </p:nvSpPr>
        <p:spPr>
          <a:xfrm>
            <a:off x="558800" y="2362200"/>
            <a:ext cx="2032000" cy="297517"/>
          </a:xfrm>
          <a:prstGeom prst="rect">
            <a:avLst/>
          </a:prstGeom>
          <a:noFill/>
        </p:spPr>
        <p:txBody>
          <a:bodyPr vert="horz" lIns="50800" tIns="25400" rIns="50800" bIns="25400" rtlCol="0">
            <a:spAutoFit/>
          </a:bodyPr>
          <a:lstStyle/>
          <a:p>
            <a:pPr algn="ctr"/>
            <a:r>
              <a:rPr lang="vi-VN" sz="1600" b="1" dirty="0">
                <a:solidFill>
                  <a:srgbClr val="60677C"/>
                </a:solidFill>
                <a:latin typeface="Aptos" panose="020B0004020202020204" pitchFamily="34" charset="0"/>
              </a:rPr>
              <a:t>YouTube cases</a:t>
            </a:r>
          </a:p>
        </p:txBody>
      </p:sp>
      <p:sp>
        <p:nvSpPr>
          <p:cNvPr id="9" name="codex-bm-card-en">
            <a:extLst>
              <a:ext uri="{FF2B5EF4-FFF2-40B4-BE49-F238E27FC236}">
                <a16:creationId xmlns:a16="http://schemas.microsoft.com/office/drawing/2014/main" id="{4B4AC2A1-B773-73D3-2C39-DF58AA8207CC}"/>
              </a:ext>
            </a:extLst>
          </p:cNvPr>
          <p:cNvSpPr/>
          <p:nvPr/>
        </p:nvSpPr>
        <p:spPr>
          <a:xfrm>
            <a:off x="2895600" y="1651000"/>
            <a:ext cx="2286000" cy="1168400"/>
          </a:xfrm>
          <a:prstGeom prst="roundRect">
            <a:avLst>
              <a:gd name="adj" fmla="val 8000"/>
            </a:avLst>
          </a:prstGeom>
          <a:solidFill>
            <a:srgbClr val="E9EFFC"/>
          </a:solidFill>
          <a:ln w="11430">
            <a:solidFill>
              <a:srgbClr val="A0B7E5"/>
            </a:solidFill>
          </a:ln>
          <a:effectLst/>
          <a:extLs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vi-VN"/>
          </a:p>
        </p:txBody>
      </p:sp>
      <p:sp>
        <p:nvSpPr>
          <p:cNvPr id="10" name="codex-bm-card-en-value">
            <a:extLst>
              <a:ext uri="{FF2B5EF4-FFF2-40B4-BE49-F238E27FC236}">
                <a16:creationId xmlns:a16="http://schemas.microsoft.com/office/drawing/2014/main" id="{3EA74791-8EC8-A6B9-6C9C-ED4829FACDF0}"/>
              </a:ext>
            </a:extLst>
          </p:cNvPr>
          <p:cNvSpPr txBox="1"/>
          <p:nvPr/>
        </p:nvSpPr>
        <p:spPr>
          <a:xfrm>
            <a:off x="3022600" y="1828800"/>
            <a:ext cx="2032000" cy="420628"/>
          </a:xfrm>
          <a:prstGeom prst="rect">
            <a:avLst/>
          </a:prstGeom>
          <a:noFill/>
        </p:spPr>
        <p:txBody>
          <a:bodyPr vert="horz" lIns="50800" tIns="25400" rIns="50800" bIns="25400" rtlCol="0">
            <a:spAutoFit/>
          </a:bodyPr>
          <a:lstStyle/>
          <a:p>
            <a:pPr algn="ctr"/>
            <a:r>
              <a:rPr lang="vi-VN" sz="2400" b="1">
                <a:solidFill>
                  <a:srgbClr val="242C44"/>
                </a:solidFill>
              </a:rPr>
              <a:t>10</a:t>
            </a:r>
          </a:p>
        </p:txBody>
      </p:sp>
      <p:sp>
        <p:nvSpPr>
          <p:cNvPr id="11" name="codex-bm-card-en-label">
            <a:extLst>
              <a:ext uri="{FF2B5EF4-FFF2-40B4-BE49-F238E27FC236}">
                <a16:creationId xmlns:a16="http://schemas.microsoft.com/office/drawing/2014/main" id="{838DB309-053B-414C-60F7-BD2E125B543A}"/>
              </a:ext>
            </a:extLst>
          </p:cNvPr>
          <p:cNvSpPr txBox="1"/>
          <p:nvPr/>
        </p:nvSpPr>
        <p:spPr>
          <a:xfrm>
            <a:off x="3022600" y="2362200"/>
            <a:ext cx="2032000" cy="297517"/>
          </a:xfrm>
          <a:prstGeom prst="rect">
            <a:avLst/>
          </a:prstGeom>
          <a:noFill/>
        </p:spPr>
        <p:txBody>
          <a:bodyPr vert="horz" lIns="50800" tIns="25400" rIns="50800" bIns="25400" rtlCol="0">
            <a:spAutoFit/>
          </a:bodyPr>
          <a:lstStyle/>
          <a:p>
            <a:pPr algn="ctr"/>
            <a:r>
              <a:rPr lang="vi-VN" sz="1600" b="1">
                <a:solidFill>
                  <a:srgbClr val="60677C"/>
                </a:solidFill>
                <a:latin typeface="Aptos" panose="020B0004020202020204" pitchFamily="34" charset="0"/>
              </a:rPr>
              <a:t>English · target vi</a:t>
            </a:r>
          </a:p>
        </p:txBody>
      </p:sp>
      <p:sp>
        <p:nvSpPr>
          <p:cNvPr id="12" name="codex-bm-card-zh">
            <a:extLst>
              <a:ext uri="{FF2B5EF4-FFF2-40B4-BE49-F238E27FC236}">
                <a16:creationId xmlns:a16="http://schemas.microsoft.com/office/drawing/2014/main" id="{8C1587BA-4BBB-F588-7036-1B84D65A1419}"/>
              </a:ext>
            </a:extLst>
          </p:cNvPr>
          <p:cNvSpPr/>
          <p:nvPr/>
        </p:nvSpPr>
        <p:spPr>
          <a:xfrm>
            <a:off x="5359400" y="1651000"/>
            <a:ext cx="2286000" cy="1168400"/>
          </a:xfrm>
          <a:prstGeom prst="roundRect">
            <a:avLst>
              <a:gd name="adj" fmla="val 8000"/>
            </a:avLst>
          </a:prstGeom>
          <a:solidFill>
            <a:srgbClr val="FAF7F2"/>
          </a:solidFill>
          <a:ln w="11430">
            <a:solidFill>
              <a:srgbClr val="DDB892"/>
            </a:solidFill>
          </a:ln>
          <a:effectLst/>
          <a:extLs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vi-VN"/>
          </a:p>
        </p:txBody>
      </p:sp>
      <p:sp>
        <p:nvSpPr>
          <p:cNvPr id="13" name="codex-bm-card-zh-value">
            <a:extLst>
              <a:ext uri="{FF2B5EF4-FFF2-40B4-BE49-F238E27FC236}">
                <a16:creationId xmlns:a16="http://schemas.microsoft.com/office/drawing/2014/main" id="{ACC17B7C-DA76-7D50-706E-95405377F7CC}"/>
              </a:ext>
            </a:extLst>
          </p:cNvPr>
          <p:cNvSpPr txBox="1"/>
          <p:nvPr/>
        </p:nvSpPr>
        <p:spPr>
          <a:xfrm>
            <a:off x="5486400" y="1828800"/>
            <a:ext cx="2032000" cy="420628"/>
          </a:xfrm>
          <a:prstGeom prst="rect">
            <a:avLst/>
          </a:prstGeom>
          <a:noFill/>
        </p:spPr>
        <p:txBody>
          <a:bodyPr vert="horz" lIns="50800" tIns="25400" rIns="50800" bIns="25400" rtlCol="0">
            <a:spAutoFit/>
          </a:bodyPr>
          <a:lstStyle/>
          <a:p>
            <a:pPr algn="ctr"/>
            <a:r>
              <a:rPr lang="vi-VN" sz="2400" b="1">
                <a:solidFill>
                  <a:srgbClr val="242C44"/>
                </a:solidFill>
              </a:rPr>
              <a:t>10</a:t>
            </a:r>
          </a:p>
        </p:txBody>
      </p:sp>
      <p:sp>
        <p:nvSpPr>
          <p:cNvPr id="14" name="codex-bm-card-zh-label">
            <a:extLst>
              <a:ext uri="{FF2B5EF4-FFF2-40B4-BE49-F238E27FC236}">
                <a16:creationId xmlns:a16="http://schemas.microsoft.com/office/drawing/2014/main" id="{F45A9C36-C1EA-B06D-62B5-EA27DA86C83E}"/>
              </a:ext>
            </a:extLst>
          </p:cNvPr>
          <p:cNvSpPr txBox="1"/>
          <p:nvPr/>
        </p:nvSpPr>
        <p:spPr>
          <a:xfrm>
            <a:off x="5486400" y="2362200"/>
            <a:ext cx="2032000" cy="297517"/>
          </a:xfrm>
          <a:prstGeom prst="rect">
            <a:avLst/>
          </a:prstGeom>
          <a:noFill/>
        </p:spPr>
        <p:txBody>
          <a:bodyPr vert="horz" lIns="50800" tIns="25400" rIns="50800" bIns="25400" rtlCol="0">
            <a:spAutoFit/>
          </a:bodyPr>
          <a:lstStyle/>
          <a:p>
            <a:pPr algn="ctr"/>
            <a:r>
              <a:rPr lang="vi-VN" sz="1600" b="1">
                <a:solidFill>
                  <a:srgbClr val="60677C"/>
                </a:solidFill>
                <a:latin typeface="Aptos" panose="020B0004020202020204" pitchFamily="34" charset="0"/>
              </a:rPr>
              <a:t>Chinese · target vi</a:t>
            </a:r>
          </a:p>
        </p:txBody>
      </p:sp>
      <p:sp>
        <p:nvSpPr>
          <p:cNvPr id="15" name="codex-bm-card-ref">
            <a:extLst>
              <a:ext uri="{FF2B5EF4-FFF2-40B4-BE49-F238E27FC236}">
                <a16:creationId xmlns:a16="http://schemas.microsoft.com/office/drawing/2014/main" id="{E3485835-5B05-B510-19CC-6D029BB9EA81}"/>
              </a:ext>
            </a:extLst>
          </p:cNvPr>
          <p:cNvSpPr/>
          <p:nvPr/>
        </p:nvSpPr>
        <p:spPr>
          <a:xfrm>
            <a:off x="7823200" y="1651000"/>
            <a:ext cx="1905000" cy="1168400"/>
          </a:xfrm>
          <a:prstGeom prst="roundRect">
            <a:avLst>
              <a:gd name="adj" fmla="val 8000"/>
            </a:avLst>
          </a:prstGeom>
          <a:solidFill>
            <a:srgbClr val="ECF4EC"/>
          </a:solidFill>
          <a:ln w="11430">
            <a:solidFill>
              <a:srgbClr val="A3C09D"/>
            </a:solidFill>
          </a:ln>
          <a:effectLst/>
          <a:extLs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vi-VN"/>
          </a:p>
        </p:txBody>
      </p:sp>
      <p:sp>
        <p:nvSpPr>
          <p:cNvPr id="16" name="codex-bm-card-ref-value">
            <a:extLst>
              <a:ext uri="{FF2B5EF4-FFF2-40B4-BE49-F238E27FC236}">
                <a16:creationId xmlns:a16="http://schemas.microsoft.com/office/drawing/2014/main" id="{9C8C2D1F-D9B2-9ADE-F3A7-4BF27F9E286D}"/>
              </a:ext>
            </a:extLst>
          </p:cNvPr>
          <p:cNvSpPr txBox="1"/>
          <p:nvPr/>
        </p:nvSpPr>
        <p:spPr>
          <a:xfrm>
            <a:off x="7950200" y="1828800"/>
            <a:ext cx="1651000" cy="420628"/>
          </a:xfrm>
          <a:prstGeom prst="rect">
            <a:avLst/>
          </a:prstGeom>
          <a:noFill/>
        </p:spPr>
        <p:txBody>
          <a:bodyPr vert="horz" lIns="50800" tIns="25400" rIns="50800" bIns="25400" rtlCol="0">
            <a:spAutoFit/>
          </a:bodyPr>
          <a:lstStyle/>
          <a:p>
            <a:pPr algn="ctr"/>
            <a:r>
              <a:rPr lang="vi-VN" sz="2400" b="1">
                <a:solidFill>
                  <a:srgbClr val="242C44"/>
                </a:solidFill>
              </a:rPr>
              <a:t>18</a:t>
            </a:r>
          </a:p>
        </p:txBody>
      </p:sp>
      <p:sp>
        <p:nvSpPr>
          <p:cNvPr id="17" name="codex-bm-card-ref-label">
            <a:extLst>
              <a:ext uri="{FF2B5EF4-FFF2-40B4-BE49-F238E27FC236}">
                <a16:creationId xmlns:a16="http://schemas.microsoft.com/office/drawing/2014/main" id="{FAE7679C-16F0-0025-D2AA-94DFA96CE6D3}"/>
              </a:ext>
            </a:extLst>
          </p:cNvPr>
          <p:cNvSpPr txBox="1"/>
          <p:nvPr/>
        </p:nvSpPr>
        <p:spPr>
          <a:xfrm>
            <a:off x="7823200" y="2362200"/>
            <a:ext cx="1905000" cy="297517"/>
          </a:xfrm>
          <a:prstGeom prst="rect">
            <a:avLst/>
          </a:prstGeom>
          <a:noFill/>
        </p:spPr>
        <p:txBody>
          <a:bodyPr vert="horz" wrap="square" lIns="50800" tIns="25400" rIns="50800" bIns="25400" rtlCol="0">
            <a:spAutoFit/>
          </a:bodyPr>
          <a:lstStyle/>
          <a:p>
            <a:pPr algn="ctr"/>
            <a:r>
              <a:rPr lang="vi-VN" sz="1600" b="1" dirty="0">
                <a:solidFill>
                  <a:srgbClr val="60677C"/>
                </a:solidFill>
                <a:latin typeface="Aptos" panose="020B0004020202020204" pitchFamily="34" charset="0"/>
              </a:rPr>
              <a:t>manual references</a:t>
            </a:r>
          </a:p>
        </p:txBody>
      </p:sp>
      <p:sp>
        <p:nvSpPr>
          <p:cNvPr id="18" name="codex-bm-card-poll">
            <a:extLst>
              <a:ext uri="{FF2B5EF4-FFF2-40B4-BE49-F238E27FC236}">
                <a16:creationId xmlns:a16="http://schemas.microsoft.com/office/drawing/2014/main" id="{14D0E2A5-A2D5-4F88-C4E1-0375789277AF}"/>
              </a:ext>
            </a:extLst>
          </p:cNvPr>
          <p:cNvSpPr/>
          <p:nvPr/>
        </p:nvSpPr>
        <p:spPr>
          <a:xfrm>
            <a:off x="9906000" y="1651000"/>
            <a:ext cx="1854200" cy="1168400"/>
          </a:xfrm>
          <a:prstGeom prst="roundRect">
            <a:avLst>
              <a:gd name="adj" fmla="val 8000"/>
            </a:avLst>
          </a:prstGeom>
          <a:solidFill>
            <a:srgbClr val="FFFFFF"/>
          </a:solidFill>
          <a:ln w="11430">
            <a:solidFill>
              <a:srgbClr val="CED6E5"/>
            </a:solidFill>
          </a:ln>
          <a:effectLst/>
          <a:extLs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vi-VN"/>
          </a:p>
        </p:txBody>
      </p:sp>
      <p:sp>
        <p:nvSpPr>
          <p:cNvPr id="19" name="codex-bm-card-poll-value">
            <a:extLst>
              <a:ext uri="{FF2B5EF4-FFF2-40B4-BE49-F238E27FC236}">
                <a16:creationId xmlns:a16="http://schemas.microsoft.com/office/drawing/2014/main" id="{441BE214-B85F-4AD6-159E-04B6AC96458E}"/>
              </a:ext>
            </a:extLst>
          </p:cNvPr>
          <p:cNvSpPr txBox="1"/>
          <p:nvPr/>
        </p:nvSpPr>
        <p:spPr>
          <a:xfrm>
            <a:off x="10033000" y="1828800"/>
            <a:ext cx="1600200" cy="420628"/>
          </a:xfrm>
          <a:prstGeom prst="rect">
            <a:avLst/>
          </a:prstGeom>
          <a:noFill/>
        </p:spPr>
        <p:txBody>
          <a:bodyPr vert="horz" lIns="50800" tIns="25400" rIns="50800" bIns="25400" rtlCol="0">
            <a:spAutoFit/>
          </a:bodyPr>
          <a:lstStyle/>
          <a:p>
            <a:pPr algn="ctr"/>
            <a:r>
              <a:rPr lang="vi-VN" sz="2400" b="1">
                <a:solidFill>
                  <a:srgbClr val="242C44"/>
                </a:solidFill>
              </a:rPr>
              <a:t>1000 ms</a:t>
            </a:r>
          </a:p>
        </p:txBody>
      </p:sp>
      <p:sp>
        <p:nvSpPr>
          <p:cNvPr id="20" name="codex-bm-card-poll-label">
            <a:extLst>
              <a:ext uri="{FF2B5EF4-FFF2-40B4-BE49-F238E27FC236}">
                <a16:creationId xmlns:a16="http://schemas.microsoft.com/office/drawing/2014/main" id="{E5C6FEF2-BC9E-F98C-ECA1-7470963A0833}"/>
              </a:ext>
            </a:extLst>
          </p:cNvPr>
          <p:cNvSpPr txBox="1"/>
          <p:nvPr/>
        </p:nvSpPr>
        <p:spPr>
          <a:xfrm>
            <a:off x="10033000" y="2362200"/>
            <a:ext cx="1600200" cy="297517"/>
          </a:xfrm>
          <a:prstGeom prst="rect">
            <a:avLst/>
          </a:prstGeom>
          <a:noFill/>
        </p:spPr>
        <p:txBody>
          <a:bodyPr vert="horz" lIns="50800" tIns="25400" rIns="50800" bIns="25400" rtlCol="0">
            <a:spAutoFit/>
          </a:bodyPr>
          <a:lstStyle/>
          <a:p>
            <a:pPr algn="ctr"/>
            <a:r>
              <a:rPr lang="vi-VN" sz="1600" b="1">
                <a:solidFill>
                  <a:srgbClr val="60677C"/>
                </a:solidFill>
                <a:latin typeface="Aptos" panose="020B0004020202020204" pitchFamily="34" charset="0"/>
              </a:rPr>
              <a:t>poll interval</a:t>
            </a:r>
          </a:p>
        </p:txBody>
      </p:sp>
      <p:sp>
        <p:nvSpPr>
          <p:cNvPr id="21" name="codex-bm-metrics-panel">
            <a:extLst>
              <a:ext uri="{FF2B5EF4-FFF2-40B4-BE49-F238E27FC236}">
                <a16:creationId xmlns:a16="http://schemas.microsoft.com/office/drawing/2014/main" id="{71265A22-0724-47CB-29B8-A243850447A3}"/>
              </a:ext>
            </a:extLst>
          </p:cNvPr>
          <p:cNvSpPr/>
          <p:nvPr/>
        </p:nvSpPr>
        <p:spPr>
          <a:xfrm>
            <a:off x="431800" y="3124200"/>
            <a:ext cx="5486400" cy="2921000"/>
          </a:xfrm>
          <a:prstGeom prst="roundRect">
            <a:avLst>
              <a:gd name="adj" fmla="val 6000"/>
            </a:avLst>
          </a:prstGeom>
          <a:solidFill>
            <a:srgbClr val="FFFFFF"/>
          </a:solidFill>
          <a:ln w="11430">
            <a:solidFill>
              <a:srgbClr val="CED6E5"/>
            </a:solidFill>
          </a:ln>
          <a:effectLst/>
          <a:extLs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vi-VN"/>
          </a:p>
        </p:txBody>
      </p:sp>
      <p:sp>
        <p:nvSpPr>
          <p:cNvPr id="22" name="codex-bm-metrics-kicker">
            <a:extLst>
              <a:ext uri="{FF2B5EF4-FFF2-40B4-BE49-F238E27FC236}">
                <a16:creationId xmlns:a16="http://schemas.microsoft.com/office/drawing/2014/main" id="{9B21590A-F9E0-9DDF-1FF3-949AB76BCABB}"/>
              </a:ext>
            </a:extLst>
          </p:cNvPr>
          <p:cNvSpPr txBox="1"/>
          <p:nvPr/>
        </p:nvSpPr>
        <p:spPr>
          <a:xfrm>
            <a:off x="660400" y="3327400"/>
            <a:ext cx="3302000" cy="297517"/>
          </a:xfrm>
          <a:prstGeom prst="rect">
            <a:avLst/>
          </a:prstGeom>
          <a:noFill/>
        </p:spPr>
        <p:txBody>
          <a:bodyPr vert="horz" wrap="square" lIns="50800" tIns="25400" rIns="50800" bIns="25400" rtlCol="0">
            <a:spAutoFit/>
          </a:bodyPr>
          <a:lstStyle/>
          <a:p>
            <a:r>
              <a:rPr lang="vi-VN" sz="1600" b="1" dirty="0">
                <a:solidFill>
                  <a:srgbClr val="C88639"/>
                </a:solidFill>
                <a:latin typeface="Aptos" panose="020B0004020202020204" pitchFamily="34" charset="0"/>
              </a:rPr>
              <a:t>NHÓM METRIC</a:t>
            </a:r>
          </a:p>
        </p:txBody>
      </p:sp>
      <p:sp>
        <p:nvSpPr>
          <p:cNvPr id="23" name="codex-bm-metrics-title">
            <a:extLst>
              <a:ext uri="{FF2B5EF4-FFF2-40B4-BE49-F238E27FC236}">
                <a16:creationId xmlns:a16="http://schemas.microsoft.com/office/drawing/2014/main" id="{AC4936B1-B998-DBA0-0CE8-1D71A358D51B}"/>
              </a:ext>
            </a:extLst>
          </p:cNvPr>
          <p:cNvSpPr txBox="1"/>
          <p:nvPr/>
        </p:nvSpPr>
        <p:spPr>
          <a:xfrm>
            <a:off x="660400" y="3581400"/>
            <a:ext cx="4064000" cy="328295"/>
          </a:xfrm>
          <a:prstGeom prst="rect">
            <a:avLst/>
          </a:prstGeom>
          <a:noFill/>
        </p:spPr>
        <p:txBody>
          <a:bodyPr vert="horz" lIns="50800" tIns="25400" rIns="50800" bIns="25400" rtlCol="0">
            <a:spAutoFit/>
          </a:bodyPr>
          <a:lstStyle/>
          <a:p>
            <a:r>
              <a:rPr lang="vi-VN" b="1" dirty="0">
                <a:solidFill>
                  <a:srgbClr val="242C44"/>
                </a:solidFill>
                <a:latin typeface="Aptos" panose="020B0004020202020204" pitchFamily="34" charset="0"/>
              </a:rPr>
              <a:t>Các thứ benchmark đang đo</a:t>
            </a:r>
          </a:p>
        </p:txBody>
      </p:sp>
      <p:sp>
        <p:nvSpPr>
          <p:cNvPr id="24" name="codex-bm-metrics-body">
            <a:extLst>
              <a:ext uri="{FF2B5EF4-FFF2-40B4-BE49-F238E27FC236}">
                <a16:creationId xmlns:a16="http://schemas.microsoft.com/office/drawing/2014/main" id="{029FD0E3-4EEF-2AB9-0531-BA0F1CBEEC10}"/>
              </a:ext>
            </a:extLst>
          </p:cNvPr>
          <p:cNvSpPr txBox="1"/>
          <p:nvPr/>
        </p:nvSpPr>
        <p:spPr>
          <a:xfrm>
            <a:off x="660400" y="4163695"/>
            <a:ext cx="5003800" cy="1528624"/>
          </a:xfrm>
          <a:prstGeom prst="rect">
            <a:avLst/>
          </a:prstGeom>
          <a:noFill/>
        </p:spPr>
        <p:txBody>
          <a:bodyPr vert="horz" wrap="square" lIns="50800" tIns="25400" rIns="50800" bIns="25400" rtlCol="0">
            <a:spAutoFit/>
          </a:bodyPr>
          <a:lstStyle/>
          <a:p>
            <a:pPr marL="342900" indent="-342900">
              <a:buFont typeface="+mj-lt"/>
              <a:buAutoNum type="arabicPeriod"/>
            </a:pPr>
            <a:r>
              <a:rPr lang="vi-VN" sz="1600" dirty="0">
                <a:solidFill>
                  <a:srgbClr val="60677C"/>
                </a:solidFill>
                <a:latin typeface="Aptos" panose="020B0004020202020204" pitchFamily="34" charset="0"/>
              </a:rPr>
              <a:t>Latency end-to-end
First chunk / first translated batch
Tỷ lệ thời gian xử lý trên thời lượng media
Artifact completeness và progressive evidence
WER / CER cho transcript nguồn
Policy evidence: during_asr, after_asr, trust gate</a:t>
            </a:r>
          </a:p>
        </p:txBody>
      </p:sp>
      <p:sp>
        <p:nvSpPr>
          <p:cNvPr id="25" name="codex-bm-caveat-panel">
            <a:extLst>
              <a:ext uri="{FF2B5EF4-FFF2-40B4-BE49-F238E27FC236}">
                <a16:creationId xmlns:a16="http://schemas.microsoft.com/office/drawing/2014/main" id="{B364CE31-7AA9-D447-3782-AA0F5F3FE9AD}"/>
              </a:ext>
            </a:extLst>
          </p:cNvPr>
          <p:cNvSpPr/>
          <p:nvPr/>
        </p:nvSpPr>
        <p:spPr>
          <a:xfrm>
            <a:off x="6197600" y="3124200"/>
            <a:ext cx="5562600" cy="2921000"/>
          </a:xfrm>
          <a:prstGeom prst="roundRect">
            <a:avLst>
              <a:gd name="adj" fmla="val 6000"/>
            </a:avLst>
          </a:prstGeom>
          <a:solidFill>
            <a:srgbClr val="F0EBE3"/>
          </a:solidFill>
          <a:ln w="11430">
            <a:solidFill>
              <a:srgbClr val="CED6E5"/>
            </a:solidFill>
          </a:ln>
          <a:effectLst/>
          <a:extLs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vi-VN"/>
          </a:p>
        </p:txBody>
      </p:sp>
      <p:sp>
        <p:nvSpPr>
          <p:cNvPr id="26" name="codex-bm-caveat-kicker">
            <a:extLst>
              <a:ext uri="{FF2B5EF4-FFF2-40B4-BE49-F238E27FC236}">
                <a16:creationId xmlns:a16="http://schemas.microsoft.com/office/drawing/2014/main" id="{736AECDF-9247-24FD-895F-A7212F987BA4}"/>
              </a:ext>
            </a:extLst>
          </p:cNvPr>
          <p:cNvSpPr txBox="1"/>
          <p:nvPr/>
        </p:nvSpPr>
        <p:spPr>
          <a:xfrm>
            <a:off x="6426200" y="3327400"/>
            <a:ext cx="3302000" cy="297517"/>
          </a:xfrm>
          <a:prstGeom prst="rect">
            <a:avLst/>
          </a:prstGeom>
          <a:noFill/>
        </p:spPr>
        <p:txBody>
          <a:bodyPr vert="horz" wrap="square" lIns="50800" tIns="25400" rIns="50800" bIns="25400" rtlCol="0">
            <a:spAutoFit/>
          </a:bodyPr>
          <a:lstStyle/>
          <a:p>
            <a:r>
              <a:rPr lang="vi-VN" sz="1600" b="1" dirty="0">
                <a:solidFill>
                  <a:srgbClr val="C88639"/>
                </a:solidFill>
                <a:latin typeface="Aptos" panose="020B0004020202020204" pitchFamily="34" charset="0"/>
              </a:rPr>
              <a:t>ĐIỀU KIỆN ĐỌC SỐ LIỆU</a:t>
            </a:r>
          </a:p>
        </p:txBody>
      </p:sp>
      <p:sp>
        <p:nvSpPr>
          <p:cNvPr id="27" name="codex-bm-caveat-title">
            <a:extLst>
              <a:ext uri="{FF2B5EF4-FFF2-40B4-BE49-F238E27FC236}">
                <a16:creationId xmlns:a16="http://schemas.microsoft.com/office/drawing/2014/main" id="{B3370993-0D58-C16A-5967-5D071299CA2A}"/>
              </a:ext>
            </a:extLst>
          </p:cNvPr>
          <p:cNvSpPr txBox="1"/>
          <p:nvPr/>
        </p:nvSpPr>
        <p:spPr>
          <a:xfrm>
            <a:off x="6426200" y="3581400"/>
            <a:ext cx="4572000" cy="328295"/>
          </a:xfrm>
          <a:prstGeom prst="rect">
            <a:avLst/>
          </a:prstGeom>
          <a:noFill/>
        </p:spPr>
        <p:txBody>
          <a:bodyPr vert="horz" lIns="50800" tIns="25400" rIns="50800" bIns="25400" rtlCol="0">
            <a:spAutoFit/>
          </a:bodyPr>
          <a:lstStyle/>
          <a:p>
            <a:r>
              <a:rPr lang="vi-VN" b="1" dirty="0">
                <a:solidFill>
                  <a:srgbClr val="242C44"/>
                </a:solidFill>
                <a:latin typeface="Aptos" panose="020B0004020202020204" pitchFamily="34" charset="0"/>
              </a:rPr>
              <a:t>Kết quả bám runtime thật</a:t>
            </a:r>
          </a:p>
        </p:txBody>
      </p:sp>
      <p:sp>
        <p:nvSpPr>
          <p:cNvPr id="28" name="codex-bm-caveat-body">
            <a:extLst>
              <a:ext uri="{FF2B5EF4-FFF2-40B4-BE49-F238E27FC236}">
                <a16:creationId xmlns:a16="http://schemas.microsoft.com/office/drawing/2014/main" id="{9FE22D25-9591-D98F-E892-104A4F0CDD77}"/>
              </a:ext>
            </a:extLst>
          </p:cNvPr>
          <p:cNvSpPr txBox="1"/>
          <p:nvPr/>
        </p:nvSpPr>
        <p:spPr>
          <a:xfrm>
            <a:off x="6426200" y="4163695"/>
            <a:ext cx="4953000" cy="1036181"/>
          </a:xfrm>
          <a:prstGeom prst="rect">
            <a:avLst/>
          </a:prstGeom>
          <a:noFill/>
        </p:spPr>
        <p:txBody>
          <a:bodyPr vert="horz" lIns="50800" tIns="25400" rIns="50800" bIns="25400" rtlCol="0">
            <a:spAutoFit/>
          </a:bodyPr>
          <a:lstStyle/>
          <a:p>
            <a:r>
              <a:rPr lang="vi-VN" sz="1600" dirty="0">
                <a:solidFill>
                  <a:srgbClr val="60677C"/>
                </a:solidFill>
                <a:latin typeface="Aptos" panose="020B0004020202020204" pitchFamily="34" charset="0"/>
              </a:rPr>
              <a:t>Exporter đọc lại một run đã lưu, không rerun model.
Mốc thời gian đến từ backend polling mỗi 1000 ms.
Vì vậy số liệu đủ tốt để so sánh policy, latency và artifact, nhưng không phải timestamp client tuyệt đối.</a:t>
            </a:r>
          </a:p>
        </p:txBody>
      </p:sp>
    </p:spTree>
    <p:extLst>
      <p:ext uri="{BB962C8B-B14F-4D97-AF65-F5344CB8AC3E}">
        <p14:creationId xmlns:p14="http://schemas.microsoft.com/office/powerpoint/2010/main" val="2219394157"/>
      </p:ext>
    </p:extLst>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5F1EA"/>
        </a:solidFill>
        <a:effectLst/>
      </p:bgPr>
    </p:bg>
    <p:spTree>
      <p:nvGrpSpPr>
        <p:cNvPr id="1" name=""/>
        <p:cNvGrpSpPr/>
        <p:nvPr/>
      </p:nvGrpSpPr>
      <p:grpSpPr>
        <a:xfrm>
          <a:off x="0" y="0"/>
          <a:ext cx="0" cy="0"/>
          <a:chOff x="0" y="0"/>
          <a:chExt cx="0" cy="0"/>
        </a:xfrm>
      </p:grpSpPr>
      <p:sp>
        <p:nvSpPr>
          <p:cNvPr id="2" name="codex-bm-results-marker">
            <a:extLst>
              <a:ext uri="{FF2B5EF4-FFF2-40B4-BE49-F238E27FC236}">
                <a16:creationId xmlns:a16="http://schemas.microsoft.com/office/drawing/2014/main" id="{6B3E2401-43A0-3F49-AFFA-17A04E948D47}"/>
              </a:ext>
            </a:extLst>
          </p:cNvPr>
          <p:cNvSpPr txBox="1"/>
          <p:nvPr/>
        </p:nvSpPr>
        <p:spPr>
          <a:xfrm>
            <a:off x="0" y="0"/>
            <a:ext cx="12700" cy="66685"/>
          </a:xfrm>
          <a:prstGeom prst="rect">
            <a:avLst/>
          </a:prstGeom>
          <a:noFill/>
        </p:spPr>
        <p:txBody>
          <a:bodyPr vert="horz" lIns="50800" tIns="25400" rIns="50800" bIns="25400" rtlCol="0">
            <a:spAutoFit/>
          </a:bodyPr>
          <a:lstStyle/>
          <a:p>
            <a:endParaRPr lang="vi-VN" sz="100">
              <a:solidFill>
                <a:srgbClr val="F5F1EA"/>
              </a:solidFill>
              <a:latin typeface="Aptos" panose="020B0004020202020204" pitchFamily="34" charset="0"/>
            </a:endParaRPr>
          </a:p>
        </p:txBody>
      </p:sp>
      <p:sp>
        <p:nvSpPr>
          <p:cNvPr id="3" name="codex-bm-results-kicker">
            <a:extLst>
              <a:ext uri="{FF2B5EF4-FFF2-40B4-BE49-F238E27FC236}">
                <a16:creationId xmlns:a16="http://schemas.microsoft.com/office/drawing/2014/main" id="{6A290689-967B-100A-5888-9E1E52252045}"/>
              </a:ext>
            </a:extLst>
          </p:cNvPr>
          <p:cNvSpPr txBox="1"/>
          <p:nvPr/>
        </p:nvSpPr>
        <p:spPr>
          <a:xfrm>
            <a:off x="431800" y="279400"/>
            <a:ext cx="1905000" cy="328295"/>
          </a:xfrm>
          <a:prstGeom prst="rect">
            <a:avLst/>
          </a:prstGeom>
          <a:noFill/>
        </p:spPr>
        <p:txBody>
          <a:bodyPr vert="horz" lIns="50800" tIns="25400" rIns="50800" bIns="25400" rtlCol="0">
            <a:spAutoFit/>
          </a:bodyPr>
          <a:lstStyle/>
          <a:p>
            <a:r>
              <a:rPr lang="vi-VN" b="1" dirty="0">
                <a:solidFill>
                  <a:srgbClr val="C88639"/>
                </a:solidFill>
                <a:latin typeface="Aptos" panose="020B0004020202020204" pitchFamily="34" charset="0"/>
              </a:rPr>
              <a:t>THỰC NGHIỆM</a:t>
            </a:r>
          </a:p>
        </p:txBody>
      </p:sp>
      <p:sp>
        <p:nvSpPr>
          <p:cNvPr id="4" name="codex-bm-results-title">
            <a:extLst>
              <a:ext uri="{FF2B5EF4-FFF2-40B4-BE49-F238E27FC236}">
                <a16:creationId xmlns:a16="http://schemas.microsoft.com/office/drawing/2014/main" id="{E7FB2D78-1C94-F726-C756-6A7B2C866352}"/>
              </a:ext>
            </a:extLst>
          </p:cNvPr>
          <p:cNvSpPr txBox="1"/>
          <p:nvPr/>
        </p:nvSpPr>
        <p:spPr>
          <a:xfrm>
            <a:off x="431800" y="582712"/>
            <a:ext cx="8587072" cy="482183"/>
          </a:xfrm>
          <a:prstGeom prst="rect">
            <a:avLst/>
          </a:prstGeom>
          <a:noFill/>
        </p:spPr>
        <p:txBody>
          <a:bodyPr vert="horz" wrap="square" lIns="50800" tIns="25400" rIns="50800" bIns="25400" rtlCol="0">
            <a:spAutoFit/>
          </a:bodyPr>
          <a:lstStyle/>
          <a:p>
            <a:r>
              <a:rPr lang="vi-VN" sz="2800" b="1" dirty="0">
                <a:solidFill>
                  <a:srgbClr val="242C44"/>
                </a:solidFill>
              </a:rPr>
              <a:t>Kết quả benchmark phản ánh đúng runtime policy</a:t>
            </a:r>
          </a:p>
        </p:txBody>
      </p:sp>
      <p:sp>
        <p:nvSpPr>
          <p:cNvPr id="5" name="codex-bmr-card-1">
            <a:extLst>
              <a:ext uri="{FF2B5EF4-FFF2-40B4-BE49-F238E27FC236}">
                <a16:creationId xmlns:a16="http://schemas.microsoft.com/office/drawing/2014/main" id="{3BBEFC1C-0030-DF12-A3D4-9D52CD905E62}"/>
              </a:ext>
            </a:extLst>
          </p:cNvPr>
          <p:cNvSpPr/>
          <p:nvPr/>
        </p:nvSpPr>
        <p:spPr>
          <a:xfrm>
            <a:off x="431800" y="1244600"/>
            <a:ext cx="2133600" cy="1016000"/>
          </a:xfrm>
          <a:prstGeom prst="roundRect">
            <a:avLst>
              <a:gd name="adj" fmla="val 8000"/>
            </a:avLst>
          </a:prstGeom>
          <a:solidFill>
            <a:srgbClr val="E9EFF5"/>
          </a:solidFill>
          <a:ln w="11430">
            <a:solidFill>
              <a:srgbClr val="ABBACC"/>
            </a:solidFill>
          </a:ln>
          <a:effectLst/>
          <a:extLs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vi-VN"/>
          </a:p>
        </p:txBody>
      </p:sp>
      <p:sp>
        <p:nvSpPr>
          <p:cNvPr id="6" name="codex-bmr-card-1-value">
            <a:extLst>
              <a:ext uri="{FF2B5EF4-FFF2-40B4-BE49-F238E27FC236}">
                <a16:creationId xmlns:a16="http://schemas.microsoft.com/office/drawing/2014/main" id="{5F25FEBA-4C17-49C1-FDAA-F63D8FC797CE}"/>
              </a:ext>
            </a:extLst>
          </p:cNvPr>
          <p:cNvSpPr txBox="1"/>
          <p:nvPr/>
        </p:nvSpPr>
        <p:spPr>
          <a:xfrm>
            <a:off x="558800" y="1422400"/>
            <a:ext cx="1879600" cy="420628"/>
          </a:xfrm>
          <a:prstGeom prst="rect">
            <a:avLst/>
          </a:prstGeom>
          <a:noFill/>
        </p:spPr>
        <p:txBody>
          <a:bodyPr vert="horz" lIns="50800" tIns="25400" rIns="50800" bIns="25400" rtlCol="0">
            <a:spAutoFit/>
          </a:bodyPr>
          <a:lstStyle/>
          <a:p>
            <a:pPr algn="ctr"/>
            <a:r>
              <a:rPr lang="vi-VN" sz="2400" b="1">
                <a:solidFill>
                  <a:srgbClr val="242C44"/>
                </a:solidFill>
              </a:rPr>
              <a:t>20/20</a:t>
            </a:r>
          </a:p>
        </p:txBody>
      </p:sp>
      <p:sp>
        <p:nvSpPr>
          <p:cNvPr id="7" name="codex-bmr-card-1-label">
            <a:extLst>
              <a:ext uri="{FF2B5EF4-FFF2-40B4-BE49-F238E27FC236}">
                <a16:creationId xmlns:a16="http://schemas.microsoft.com/office/drawing/2014/main" id="{CA5BD5AA-FFC0-1132-AF86-4852CD540FA8}"/>
              </a:ext>
            </a:extLst>
          </p:cNvPr>
          <p:cNvSpPr txBox="1"/>
          <p:nvPr/>
        </p:nvSpPr>
        <p:spPr>
          <a:xfrm>
            <a:off x="558800" y="1955800"/>
            <a:ext cx="1879600" cy="297517"/>
          </a:xfrm>
          <a:prstGeom prst="rect">
            <a:avLst/>
          </a:prstGeom>
          <a:noFill/>
        </p:spPr>
        <p:txBody>
          <a:bodyPr vert="horz" lIns="50800" tIns="25400" rIns="50800" bIns="25400" rtlCol="0">
            <a:spAutoFit/>
          </a:bodyPr>
          <a:lstStyle/>
          <a:p>
            <a:pPr algn="ctr"/>
            <a:r>
              <a:rPr lang="vi-VN" sz="1600" b="1" dirty="0">
                <a:solidFill>
                  <a:srgbClr val="60677C"/>
                </a:solidFill>
                <a:latin typeface="Aptos" panose="020B0004020202020204" pitchFamily="34" charset="0"/>
              </a:rPr>
              <a:t>cases completed</a:t>
            </a:r>
          </a:p>
        </p:txBody>
      </p:sp>
      <p:sp>
        <p:nvSpPr>
          <p:cNvPr id="8" name="codex-bmr-card-2">
            <a:extLst>
              <a:ext uri="{FF2B5EF4-FFF2-40B4-BE49-F238E27FC236}">
                <a16:creationId xmlns:a16="http://schemas.microsoft.com/office/drawing/2014/main" id="{7F33040E-828F-A8A1-DC9E-2B473255C2EB}"/>
              </a:ext>
            </a:extLst>
          </p:cNvPr>
          <p:cNvSpPr/>
          <p:nvPr/>
        </p:nvSpPr>
        <p:spPr>
          <a:xfrm>
            <a:off x="2743200" y="1244600"/>
            <a:ext cx="2133600" cy="1016000"/>
          </a:xfrm>
          <a:prstGeom prst="roundRect">
            <a:avLst>
              <a:gd name="adj" fmla="val 8000"/>
            </a:avLst>
          </a:prstGeom>
          <a:solidFill>
            <a:srgbClr val="E9EFFC"/>
          </a:solidFill>
          <a:ln w="11430">
            <a:solidFill>
              <a:srgbClr val="A0B7E5"/>
            </a:solidFill>
          </a:ln>
          <a:effectLst/>
          <a:extLs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vi-VN"/>
          </a:p>
        </p:txBody>
      </p:sp>
      <p:sp>
        <p:nvSpPr>
          <p:cNvPr id="9" name="codex-bmr-card-2-value">
            <a:extLst>
              <a:ext uri="{FF2B5EF4-FFF2-40B4-BE49-F238E27FC236}">
                <a16:creationId xmlns:a16="http://schemas.microsoft.com/office/drawing/2014/main" id="{DA536519-1E5E-47FF-947E-CCA3C55519C8}"/>
              </a:ext>
            </a:extLst>
          </p:cNvPr>
          <p:cNvSpPr txBox="1"/>
          <p:nvPr/>
        </p:nvSpPr>
        <p:spPr>
          <a:xfrm>
            <a:off x="2870200" y="1422400"/>
            <a:ext cx="1879600" cy="420628"/>
          </a:xfrm>
          <a:prstGeom prst="rect">
            <a:avLst/>
          </a:prstGeom>
          <a:noFill/>
        </p:spPr>
        <p:txBody>
          <a:bodyPr vert="horz" lIns="50800" tIns="25400" rIns="50800" bIns="25400" rtlCol="0">
            <a:spAutoFit/>
          </a:bodyPr>
          <a:lstStyle/>
          <a:p>
            <a:pPr algn="ctr"/>
            <a:r>
              <a:rPr lang="vi-VN" sz="2400" b="1">
                <a:solidFill>
                  <a:srgbClr val="242C44"/>
                </a:solidFill>
              </a:rPr>
              <a:t>143.27s</a:t>
            </a:r>
          </a:p>
        </p:txBody>
      </p:sp>
      <p:sp>
        <p:nvSpPr>
          <p:cNvPr id="10" name="codex-bmr-card-2-label">
            <a:extLst>
              <a:ext uri="{FF2B5EF4-FFF2-40B4-BE49-F238E27FC236}">
                <a16:creationId xmlns:a16="http://schemas.microsoft.com/office/drawing/2014/main" id="{EB2B9BA1-3F1F-B77C-2A77-1AFEDCD86533}"/>
              </a:ext>
            </a:extLst>
          </p:cNvPr>
          <p:cNvSpPr txBox="1"/>
          <p:nvPr/>
        </p:nvSpPr>
        <p:spPr>
          <a:xfrm>
            <a:off x="2870200" y="1955800"/>
            <a:ext cx="1879600" cy="297517"/>
          </a:xfrm>
          <a:prstGeom prst="rect">
            <a:avLst/>
          </a:prstGeom>
          <a:noFill/>
        </p:spPr>
        <p:txBody>
          <a:bodyPr vert="horz" lIns="50800" tIns="25400" rIns="50800" bIns="25400" rtlCol="0">
            <a:spAutoFit/>
          </a:bodyPr>
          <a:lstStyle/>
          <a:p>
            <a:pPr algn="ctr"/>
            <a:r>
              <a:rPr lang="vi-VN" sz="1600" b="1">
                <a:solidFill>
                  <a:srgbClr val="60677C"/>
                </a:solidFill>
                <a:latin typeface="Aptos" panose="020B0004020202020204" pitchFamily="34" charset="0"/>
              </a:rPr>
              <a:t>avg latency</a:t>
            </a:r>
          </a:p>
        </p:txBody>
      </p:sp>
      <p:sp>
        <p:nvSpPr>
          <p:cNvPr id="11" name="codex-bmr-card-3">
            <a:extLst>
              <a:ext uri="{FF2B5EF4-FFF2-40B4-BE49-F238E27FC236}">
                <a16:creationId xmlns:a16="http://schemas.microsoft.com/office/drawing/2014/main" id="{380F32D4-C18A-79B0-C645-129525D3D9EC}"/>
              </a:ext>
            </a:extLst>
          </p:cNvPr>
          <p:cNvSpPr/>
          <p:nvPr/>
        </p:nvSpPr>
        <p:spPr>
          <a:xfrm>
            <a:off x="5054600" y="1244600"/>
            <a:ext cx="2133600" cy="1016000"/>
          </a:xfrm>
          <a:prstGeom prst="roundRect">
            <a:avLst>
              <a:gd name="adj" fmla="val 8000"/>
            </a:avLst>
          </a:prstGeom>
          <a:solidFill>
            <a:srgbClr val="FAF7F2"/>
          </a:solidFill>
          <a:ln w="11430">
            <a:solidFill>
              <a:srgbClr val="DDB892"/>
            </a:solidFill>
          </a:ln>
          <a:effectLst/>
          <a:extLs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vi-VN"/>
          </a:p>
        </p:txBody>
      </p:sp>
      <p:sp>
        <p:nvSpPr>
          <p:cNvPr id="12" name="codex-bmr-card-3-value">
            <a:extLst>
              <a:ext uri="{FF2B5EF4-FFF2-40B4-BE49-F238E27FC236}">
                <a16:creationId xmlns:a16="http://schemas.microsoft.com/office/drawing/2014/main" id="{2447179F-329E-BCBF-1FC3-E62FD3DF52CE}"/>
              </a:ext>
            </a:extLst>
          </p:cNvPr>
          <p:cNvSpPr txBox="1"/>
          <p:nvPr/>
        </p:nvSpPr>
        <p:spPr>
          <a:xfrm>
            <a:off x="5181600" y="1422400"/>
            <a:ext cx="1879600" cy="420628"/>
          </a:xfrm>
          <a:prstGeom prst="rect">
            <a:avLst/>
          </a:prstGeom>
          <a:noFill/>
        </p:spPr>
        <p:txBody>
          <a:bodyPr vert="horz" lIns="50800" tIns="25400" rIns="50800" bIns="25400" rtlCol="0">
            <a:spAutoFit/>
          </a:bodyPr>
          <a:lstStyle/>
          <a:p>
            <a:pPr algn="ctr"/>
            <a:r>
              <a:rPr lang="vi-VN" sz="2400" b="1">
                <a:solidFill>
                  <a:srgbClr val="242C44"/>
                </a:solidFill>
              </a:rPr>
              <a:t>0.223x</a:t>
            </a:r>
          </a:p>
        </p:txBody>
      </p:sp>
      <p:sp>
        <p:nvSpPr>
          <p:cNvPr id="13" name="codex-bmr-card-3-label">
            <a:extLst>
              <a:ext uri="{FF2B5EF4-FFF2-40B4-BE49-F238E27FC236}">
                <a16:creationId xmlns:a16="http://schemas.microsoft.com/office/drawing/2014/main" id="{E6E46F73-832A-EC88-FFC3-77B6371EB40D}"/>
              </a:ext>
            </a:extLst>
          </p:cNvPr>
          <p:cNvSpPr txBox="1"/>
          <p:nvPr/>
        </p:nvSpPr>
        <p:spPr>
          <a:xfrm>
            <a:off x="5181600" y="1955800"/>
            <a:ext cx="1879600" cy="297517"/>
          </a:xfrm>
          <a:prstGeom prst="rect">
            <a:avLst/>
          </a:prstGeom>
          <a:noFill/>
        </p:spPr>
        <p:txBody>
          <a:bodyPr vert="horz" lIns="50800" tIns="25400" rIns="50800" bIns="25400" rtlCol="0">
            <a:spAutoFit/>
          </a:bodyPr>
          <a:lstStyle/>
          <a:p>
            <a:pPr algn="ctr"/>
            <a:r>
              <a:rPr lang="vi-VN" sz="1600" b="1">
                <a:solidFill>
                  <a:srgbClr val="60677C"/>
                </a:solidFill>
                <a:latin typeface="Aptos" panose="020B0004020202020204" pitchFamily="34" charset="0"/>
              </a:rPr>
              <a:t>avg latency ratio</a:t>
            </a:r>
          </a:p>
        </p:txBody>
      </p:sp>
      <p:sp>
        <p:nvSpPr>
          <p:cNvPr id="14" name="codex-bmr-card-4">
            <a:extLst>
              <a:ext uri="{FF2B5EF4-FFF2-40B4-BE49-F238E27FC236}">
                <a16:creationId xmlns:a16="http://schemas.microsoft.com/office/drawing/2014/main" id="{C72F5DFB-C87F-4F76-8202-19B075B8A61B}"/>
              </a:ext>
            </a:extLst>
          </p:cNvPr>
          <p:cNvSpPr/>
          <p:nvPr/>
        </p:nvSpPr>
        <p:spPr>
          <a:xfrm>
            <a:off x="7366000" y="1244600"/>
            <a:ext cx="2133600" cy="1016000"/>
          </a:xfrm>
          <a:prstGeom prst="roundRect">
            <a:avLst>
              <a:gd name="adj" fmla="val 8000"/>
            </a:avLst>
          </a:prstGeom>
          <a:solidFill>
            <a:srgbClr val="ECF4EC"/>
          </a:solidFill>
          <a:ln w="11430">
            <a:solidFill>
              <a:srgbClr val="A3C09D"/>
            </a:solidFill>
          </a:ln>
          <a:effectLst/>
          <a:extLs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vi-VN"/>
          </a:p>
        </p:txBody>
      </p:sp>
      <p:sp>
        <p:nvSpPr>
          <p:cNvPr id="15" name="codex-bmr-card-4-value">
            <a:extLst>
              <a:ext uri="{FF2B5EF4-FFF2-40B4-BE49-F238E27FC236}">
                <a16:creationId xmlns:a16="http://schemas.microsoft.com/office/drawing/2014/main" id="{91156A39-1EF1-69F6-F831-161D16F942D6}"/>
              </a:ext>
            </a:extLst>
          </p:cNvPr>
          <p:cNvSpPr txBox="1"/>
          <p:nvPr/>
        </p:nvSpPr>
        <p:spPr>
          <a:xfrm>
            <a:off x="7493000" y="1422400"/>
            <a:ext cx="1879600" cy="420628"/>
          </a:xfrm>
          <a:prstGeom prst="rect">
            <a:avLst/>
          </a:prstGeom>
          <a:noFill/>
        </p:spPr>
        <p:txBody>
          <a:bodyPr vert="horz" lIns="50800" tIns="25400" rIns="50800" bIns="25400" rtlCol="0">
            <a:spAutoFit/>
          </a:bodyPr>
          <a:lstStyle/>
          <a:p>
            <a:pPr algn="ctr"/>
            <a:r>
              <a:rPr lang="vi-VN" sz="2400" b="1">
                <a:solidFill>
                  <a:srgbClr val="242C44"/>
                </a:solidFill>
              </a:rPr>
              <a:t>18/20</a:t>
            </a:r>
          </a:p>
        </p:txBody>
      </p:sp>
      <p:sp>
        <p:nvSpPr>
          <p:cNvPr id="16" name="codex-bmr-card-4-label">
            <a:extLst>
              <a:ext uri="{FF2B5EF4-FFF2-40B4-BE49-F238E27FC236}">
                <a16:creationId xmlns:a16="http://schemas.microsoft.com/office/drawing/2014/main" id="{78B1B400-69CA-B594-6EC1-A4C966D795E8}"/>
              </a:ext>
            </a:extLst>
          </p:cNvPr>
          <p:cNvSpPr txBox="1"/>
          <p:nvPr/>
        </p:nvSpPr>
        <p:spPr>
          <a:xfrm>
            <a:off x="7366000" y="1955800"/>
            <a:ext cx="2133600" cy="266740"/>
          </a:xfrm>
          <a:prstGeom prst="rect">
            <a:avLst/>
          </a:prstGeom>
          <a:noFill/>
        </p:spPr>
        <p:txBody>
          <a:bodyPr vert="horz" wrap="square" lIns="50800" tIns="25400" rIns="50800" bIns="25400" rtlCol="0">
            <a:spAutoFit/>
          </a:bodyPr>
          <a:lstStyle/>
          <a:p>
            <a:pPr algn="ctr"/>
            <a:r>
              <a:rPr lang="vi-VN" sz="1400" b="1" dirty="0">
                <a:solidFill>
                  <a:srgbClr val="60677C"/>
                </a:solidFill>
                <a:latin typeface="Aptos" panose="020B0004020202020204" pitchFamily="34" charset="0"/>
              </a:rPr>
              <a:t>progressive before final</a:t>
            </a:r>
          </a:p>
        </p:txBody>
      </p:sp>
      <p:sp>
        <p:nvSpPr>
          <p:cNvPr id="17" name="codex-bmr-card-5">
            <a:extLst>
              <a:ext uri="{FF2B5EF4-FFF2-40B4-BE49-F238E27FC236}">
                <a16:creationId xmlns:a16="http://schemas.microsoft.com/office/drawing/2014/main" id="{7C685997-55F7-AF62-7E9E-2055EF88A711}"/>
              </a:ext>
            </a:extLst>
          </p:cNvPr>
          <p:cNvSpPr/>
          <p:nvPr/>
        </p:nvSpPr>
        <p:spPr>
          <a:xfrm>
            <a:off x="9677400" y="1244600"/>
            <a:ext cx="2082800" cy="1016000"/>
          </a:xfrm>
          <a:prstGeom prst="roundRect">
            <a:avLst>
              <a:gd name="adj" fmla="val 8000"/>
            </a:avLst>
          </a:prstGeom>
          <a:solidFill>
            <a:srgbClr val="FFFFFF"/>
          </a:solidFill>
          <a:ln w="11430">
            <a:solidFill>
              <a:srgbClr val="CED6E5"/>
            </a:solidFill>
          </a:ln>
          <a:effectLst/>
          <a:extLs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vi-VN"/>
          </a:p>
        </p:txBody>
      </p:sp>
      <p:sp>
        <p:nvSpPr>
          <p:cNvPr id="18" name="codex-bmr-card-5-value">
            <a:extLst>
              <a:ext uri="{FF2B5EF4-FFF2-40B4-BE49-F238E27FC236}">
                <a16:creationId xmlns:a16="http://schemas.microsoft.com/office/drawing/2014/main" id="{BBCDBD21-C7D1-9559-B53C-796F823665B7}"/>
              </a:ext>
            </a:extLst>
          </p:cNvPr>
          <p:cNvSpPr txBox="1"/>
          <p:nvPr/>
        </p:nvSpPr>
        <p:spPr>
          <a:xfrm>
            <a:off x="9804400" y="1422400"/>
            <a:ext cx="1828800" cy="420628"/>
          </a:xfrm>
          <a:prstGeom prst="rect">
            <a:avLst/>
          </a:prstGeom>
          <a:noFill/>
        </p:spPr>
        <p:txBody>
          <a:bodyPr vert="horz" lIns="50800" tIns="25400" rIns="50800" bIns="25400" rtlCol="0">
            <a:spAutoFit/>
          </a:bodyPr>
          <a:lstStyle/>
          <a:p>
            <a:pPr algn="ctr"/>
            <a:r>
              <a:rPr lang="vi-VN" sz="2400" b="1">
                <a:solidFill>
                  <a:srgbClr val="242C44"/>
                </a:solidFill>
              </a:rPr>
              <a:t>20/20</a:t>
            </a:r>
          </a:p>
        </p:txBody>
      </p:sp>
      <p:sp>
        <p:nvSpPr>
          <p:cNvPr id="19" name="codex-bmr-card-5-label">
            <a:extLst>
              <a:ext uri="{FF2B5EF4-FFF2-40B4-BE49-F238E27FC236}">
                <a16:creationId xmlns:a16="http://schemas.microsoft.com/office/drawing/2014/main" id="{3D25F31E-790C-D951-251A-8449D1BE186C}"/>
              </a:ext>
            </a:extLst>
          </p:cNvPr>
          <p:cNvSpPr txBox="1"/>
          <p:nvPr/>
        </p:nvSpPr>
        <p:spPr>
          <a:xfrm>
            <a:off x="9804400" y="1955800"/>
            <a:ext cx="1828800" cy="297517"/>
          </a:xfrm>
          <a:prstGeom prst="rect">
            <a:avLst/>
          </a:prstGeom>
          <a:noFill/>
        </p:spPr>
        <p:txBody>
          <a:bodyPr vert="horz" lIns="50800" tIns="25400" rIns="50800" bIns="25400" rtlCol="0">
            <a:spAutoFit/>
          </a:bodyPr>
          <a:lstStyle/>
          <a:p>
            <a:pPr algn="ctr"/>
            <a:r>
              <a:rPr lang="vi-VN" sz="1600" b="1">
                <a:solidFill>
                  <a:srgbClr val="60677C"/>
                </a:solidFill>
                <a:latin typeface="Aptos" panose="020B0004020202020204" pitchFamily="34" charset="0"/>
              </a:rPr>
              <a:t>final schema valid</a:t>
            </a:r>
          </a:p>
        </p:txBody>
      </p:sp>
      <p:sp>
        <p:nvSpPr>
          <p:cNvPr id="20" name="codex-bmr-table">
            <a:extLst>
              <a:ext uri="{FF2B5EF4-FFF2-40B4-BE49-F238E27FC236}">
                <a16:creationId xmlns:a16="http://schemas.microsoft.com/office/drawing/2014/main" id="{F4F28835-5B0B-9C29-1937-88048BE937E5}"/>
              </a:ext>
            </a:extLst>
          </p:cNvPr>
          <p:cNvSpPr/>
          <p:nvPr/>
        </p:nvSpPr>
        <p:spPr>
          <a:xfrm>
            <a:off x="431800" y="2489199"/>
            <a:ext cx="7239000" cy="3674973"/>
          </a:xfrm>
          <a:prstGeom prst="roundRect">
            <a:avLst>
              <a:gd name="adj" fmla="val 6000"/>
            </a:avLst>
          </a:prstGeom>
          <a:solidFill>
            <a:srgbClr val="FFFFFF"/>
          </a:solidFill>
          <a:ln w="11430">
            <a:solidFill>
              <a:srgbClr val="CED6E5"/>
            </a:solidFill>
          </a:ln>
          <a:effectLst/>
          <a:extLs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vi-VN"/>
          </a:p>
        </p:txBody>
      </p:sp>
      <p:sp>
        <p:nvSpPr>
          <p:cNvPr id="21" name="codex-bmr-table-k">
            <a:extLst>
              <a:ext uri="{FF2B5EF4-FFF2-40B4-BE49-F238E27FC236}">
                <a16:creationId xmlns:a16="http://schemas.microsoft.com/office/drawing/2014/main" id="{A776A7C8-AED0-9A26-EA14-BD529DD419D9}"/>
              </a:ext>
            </a:extLst>
          </p:cNvPr>
          <p:cNvSpPr txBox="1"/>
          <p:nvPr/>
        </p:nvSpPr>
        <p:spPr>
          <a:xfrm>
            <a:off x="635000" y="2692400"/>
            <a:ext cx="2794000" cy="297517"/>
          </a:xfrm>
          <a:prstGeom prst="rect">
            <a:avLst/>
          </a:prstGeom>
          <a:noFill/>
        </p:spPr>
        <p:txBody>
          <a:bodyPr vert="horz" lIns="50800" tIns="25400" rIns="50800" bIns="25400" rtlCol="0">
            <a:spAutoFit/>
          </a:bodyPr>
          <a:lstStyle/>
          <a:p>
            <a:r>
              <a:rPr lang="vi-VN" sz="1600" b="1" dirty="0">
                <a:solidFill>
                  <a:srgbClr val="C88639"/>
                </a:solidFill>
                <a:latin typeface="Aptos" panose="020B0004020202020204" pitchFamily="34" charset="0"/>
              </a:rPr>
              <a:t>ENGLISH VS CHINESE</a:t>
            </a:r>
          </a:p>
        </p:txBody>
      </p:sp>
      <p:sp>
        <p:nvSpPr>
          <p:cNvPr id="22" name="codex-bmr-table-title">
            <a:extLst>
              <a:ext uri="{FF2B5EF4-FFF2-40B4-BE49-F238E27FC236}">
                <a16:creationId xmlns:a16="http://schemas.microsoft.com/office/drawing/2014/main" id="{317E9D1D-BF17-F418-E19D-F640EA335640}"/>
              </a:ext>
            </a:extLst>
          </p:cNvPr>
          <p:cNvSpPr txBox="1"/>
          <p:nvPr/>
        </p:nvSpPr>
        <p:spPr>
          <a:xfrm>
            <a:off x="635000" y="2946400"/>
            <a:ext cx="4241800" cy="312906"/>
          </a:xfrm>
          <a:prstGeom prst="rect">
            <a:avLst/>
          </a:prstGeom>
          <a:noFill/>
        </p:spPr>
        <p:txBody>
          <a:bodyPr vert="horz" wrap="square" lIns="50800" tIns="25400" rIns="50800" bIns="25400" rtlCol="0">
            <a:spAutoFit/>
          </a:bodyPr>
          <a:lstStyle/>
          <a:p>
            <a:r>
              <a:rPr lang="en-US" sz="1700" b="1" dirty="0" err="1">
                <a:solidFill>
                  <a:srgbClr val="242C44"/>
                </a:solidFill>
                <a:latin typeface="Aptos" panose="020B0004020202020204" pitchFamily="34" charset="0"/>
              </a:rPr>
              <a:t>Chênh</a:t>
            </a:r>
            <a:r>
              <a:rPr lang="en-US" sz="1700" b="1" dirty="0">
                <a:solidFill>
                  <a:srgbClr val="242C44"/>
                </a:solidFill>
                <a:latin typeface="Aptos" panose="020B0004020202020204" pitchFamily="34" charset="0"/>
              </a:rPr>
              <a:t> </a:t>
            </a:r>
            <a:r>
              <a:rPr lang="en-US" sz="1700" b="1" dirty="0" err="1">
                <a:solidFill>
                  <a:srgbClr val="242C44"/>
                </a:solidFill>
                <a:latin typeface="Aptos" panose="020B0004020202020204" pitchFamily="34" charset="0"/>
              </a:rPr>
              <a:t>lệch</a:t>
            </a:r>
            <a:r>
              <a:rPr lang="en-US" sz="1700" b="1" dirty="0">
                <a:solidFill>
                  <a:srgbClr val="242C44"/>
                </a:solidFill>
                <a:latin typeface="Aptos" panose="020B0004020202020204" pitchFamily="34" charset="0"/>
              </a:rPr>
              <a:t> policy </a:t>
            </a:r>
            <a:r>
              <a:rPr lang="en-US" sz="1700" b="1" dirty="0" err="1">
                <a:solidFill>
                  <a:srgbClr val="242C44"/>
                </a:solidFill>
                <a:latin typeface="Aptos" panose="020B0004020202020204" pitchFamily="34" charset="0"/>
              </a:rPr>
              <a:t>và</a:t>
            </a:r>
            <a:r>
              <a:rPr lang="en-US" sz="1700" b="1" dirty="0">
                <a:solidFill>
                  <a:srgbClr val="242C44"/>
                </a:solidFill>
                <a:latin typeface="Aptos" panose="020B0004020202020204" pitchFamily="34" charset="0"/>
              </a:rPr>
              <a:t> transcript quality</a:t>
            </a:r>
            <a:endParaRPr lang="vi-VN" sz="1700" b="1" dirty="0">
              <a:solidFill>
                <a:srgbClr val="242C44"/>
              </a:solidFill>
              <a:latin typeface="Aptos" panose="020B0004020202020204" pitchFamily="34" charset="0"/>
            </a:endParaRPr>
          </a:p>
        </p:txBody>
      </p:sp>
      <p:sp>
        <p:nvSpPr>
          <p:cNvPr id="23" name="codex-bmr-h-metric">
            <a:extLst>
              <a:ext uri="{FF2B5EF4-FFF2-40B4-BE49-F238E27FC236}">
                <a16:creationId xmlns:a16="http://schemas.microsoft.com/office/drawing/2014/main" id="{D8DC78C5-E302-4CE7-0C2F-CC193AA3F2BE}"/>
              </a:ext>
            </a:extLst>
          </p:cNvPr>
          <p:cNvSpPr txBox="1"/>
          <p:nvPr/>
        </p:nvSpPr>
        <p:spPr>
          <a:xfrm>
            <a:off x="736600" y="3429000"/>
            <a:ext cx="2032000" cy="297517"/>
          </a:xfrm>
          <a:prstGeom prst="rect">
            <a:avLst/>
          </a:prstGeom>
          <a:noFill/>
        </p:spPr>
        <p:txBody>
          <a:bodyPr vert="horz" lIns="50800" tIns="25400" rIns="50800" bIns="25400" rtlCol="0">
            <a:spAutoFit/>
          </a:bodyPr>
          <a:lstStyle/>
          <a:p>
            <a:r>
              <a:rPr lang="vi-VN" sz="1600" b="1">
                <a:solidFill>
                  <a:srgbClr val="242C44"/>
                </a:solidFill>
                <a:latin typeface="Aptos" panose="020B0004020202020204" pitchFamily="34" charset="0"/>
              </a:rPr>
              <a:t>Metric</a:t>
            </a:r>
          </a:p>
        </p:txBody>
      </p:sp>
      <p:sp>
        <p:nvSpPr>
          <p:cNvPr id="24" name="codex-bmr-h-en">
            <a:extLst>
              <a:ext uri="{FF2B5EF4-FFF2-40B4-BE49-F238E27FC236}">
                <a16:creationId xmlns:a16="http://schemas.microsoft.com/office/drawing/2014/main" id="{831DCA00-D0A1-F0DD-D003-6EA5E2238BEC}"/>
              </a:ext>
            </a:extLst>
          </p:cNvPr>
          <p:cNvSpPr txBox="1"/>
          <p:nvPr/>
        </p:nvSpPr>
        <p:spPr>
          <a:xfrm>
            <a:off x="3396648" y="3410883"/>
            <a:ext cx="1397000" cy="297517"/>
          </a:xfrm>
          <a:prstGeom prst="rect">
            <a:avLst/>
          </a:prstGeom>
          <a:noFill/>
        </p:spPr>
        <p:txBody>
          <a:bodyPr vert="horz" lIns="50800" tIns="25400" rIns="50800" bIns="25400" rtlCol="0">
            <a:spAutoFit/>
          </a:bodyPr>
          <a:lstStyle/>
          <a:p>
            <a:pPr algn="ctr"/>
            <a:r>
              <a:rPr lang="vi-VN" sz="1600" b="1">
                <a:solidFill>
                  <a:srgbClr val="242C44"/>
                </a:solidFill>
                <a:latin typeface="Aptos" panose="020B0004020202020204" pitchFamily="34" charset="0"/>
              </a:rPr>
              <a:t>English</a:t>
            </a:r>
          </a:p>
        </p:txBody>
      </p:sp>
      <p:sp>
        <p:nvSpPr>
          <p:cNvPr id="25" name="codex-bmr-h-zh">
            <a:extLst>
              <a:ext uri="{FF2B5EF4-FFF2-40B4-BE49-F238E27FC236}">
                <a16:creationId xmlns:a16="http://schemas.microsoft.com/office/drawing/2014/main" id="{C15E3B59-6ADF-4014-05CF-C91096D64928}"/>
              </a:ext>
            </a:extLst>
          </p:cNvPr>
          <p:cNvSpPr txBox="1"/>
          <p:nvPr/>
        </p:nvSpPr>
        <p:spPr>
          <a:xfrm>
            <a:off x="5410200" y="3404553"/>
            <a:ext cx="1397000" cy="297517"/>
          </a:xfrm>
          <a:prstGeom prst="rect">
            <a:avLst/>
          </a:prstGeom>
          <a:noFill/>
        </p:spPr>
        <p:txBody>
          <a:bodyPr vert="horz" lIns="50800" tIns="25400" rIns="50800" bIns="25400" rtlCol="0">
            <a:spAutoFit/>
          </a:bodyPr>
          <a:lstStyle/>
          <a:p>
            <a:pPr algn="ctr"/>
            <a:r>
              <a:rPr lang="vi-VN" sz="1600" b="1" dirty="0">
                <a:solidFill>
                  <a:srgbClr val="242C44"/>
                </a:solidFill>
                <a:latin typeface="Aptos" panose="020B0004020202020204" pitchFamily="34" charset="0"/>
              </a:rPr>
              <a:t>Chinese</a:t>
            </a:r>
          </a:p>
        </p:txBody>
      </p:sp>
      <p:cxnSp>
        <p:nvCxnSpPr>
          <p:cNvPr id="26" name="codex-bmr-line-1">
            <a:extLst>
              <a:ext uri="{FF2B5EF4-FFF2-40B4-BE49-F238E27FC236}">
                <a16:creationId xmlns:a16="http://schemas.microsoft.com/office/drawing/2014/main" id="{BEA6D606-5436-1D1A-F8C2-56363B869E75}"/>
              </a:ext>
            </a:extLst>
          </p:cNvPr>
          <p:cNvCxnSpPr/>
          <p:nvPr/>
        </p:nvCxnSpPr>
        <p:spPr>
          <a:xfrm>
            <a:off x="736600" y="3708400"/>
            <a:ext cx="6223000" cy="0"/>
          </a:xfrm>
          <a:prstGeom prst="line">
            <a:avLst/>
          </a:prstGeom>
          <a:ln w="12700">
            <a:solidFill>
              <a:srgbClr val="CED6E5"/>
            </a:solidFill>
          </a:ln>
        </p:spPr>
        <p:style>
          <a:lnRef idx="2">
            <a:schemeClr val="accent1"/>
          </a:lnRef>
          <a:fillRef idx="0">
            <a:schemeClr val="accent1"/>
          </a:fillRef>
          <a:effectRef idx="1">
            <a:schemeClr val="accent1"/>
          </a:effectRef>
          <a:fontRef idx="minor">
            <a:schemeClr val="tx1"/>
          </a:fontRef>
        </p:style>
      </p:cxnSp>
      <p:cxnSp>
        <p:nvCxnSpPr>
          <p:cNvPr id="27" name="codex-bmr-line-v1">
            <a:extLst>
              <a:ext uri="{FF2B5EF4-FFF2-40B4-BE49-F238E27FC236}">
                <a16:creationId xmlns:a16="http://schemas.microsoft.com/office/drawing/2014/main" id="{884D111F-BB9D-E3C6-8C38-00533E88F780}"/>
              </a:ext>
            </a:extLst>
          </p:cNvPr>
          <p:cNvCxnSpPr/>
          <p:nvPr/>
        </p:nvCxnSpPr>
        <p:spPr>
          <a:xfrm>
            <a:off x="3149600" y="3302000"/>
            <a:ext cx="0" cy="2082800"/>
          </a:xfrm>
          <a:prstGeom prst="line">
            <a:avLst/>
          </a:prstGeom>
          <a:ln w="12700">
            <a:solidFill>
              <a:srgbClr val="CED6E5"/>
            </a:solidFill>
          </a:ln>
        </p:spPr>
        <p:style>
          <a:lnRef idx="2">
            <a:schemeClr val="accent1"/>
          </a:lnRef>
          <a:fillRef idx="0">
            <a:schemeClr val="accent1"/>
          </a:fillRef>
          <a:effectRef idx="1">
            <a:schemeClr val="accent1"/>
          </a:effectRef>
          <a:fontRef idx="minor">
            <a:schemeClr val="tx1"/>
          </a:fontRef>
        </p:style>
      </p:cxnSp>
      <p:cxnSp>
        <p:nvCxnSpPr>
          <p:cNvPr id="28" name="codex-bmr-line-v2">
            <a:extLst>
              <a:ext uri="{FF2B5EF4-FFF2-40B4-BE49-F238E27FC236}">
                <a16:creationId xmlns:a16="http://schemas.microsoft.com/office/drawing/2014/main" id="{B3E41BB9-D1E3-13AF-B269-0DB1C3509DA5}"/>
              </a:ext>
            </a:extLst>
          </p:cNvPr>
          <p:cNvCxnSpPr/>
          <p:nvPr/>
        </p:nvCxnSpPr>
        <p:spPr>
          <a:xfrm>
            <a:off x="5105400" y="3302000"/>
            <a:ext cx="0" cy="2082800"/>
          </a:xfrm>
          <a:prstGeom prst="line">
            <a:avLst/>
          </a:prstGeom>
          <a:ln w="12700">
            <a:solidFill>
              <a:srgbClr val="CED6E5"/>
            </a:solidFill>
          </a:ln>
        </p:spPr>
        <p:style>
          <a:lnRef idx="2">
            <a:schemeClr val="accent1"/>
          </a:lnRef>
          <a:fillRef idx="0">
            <a:schemeClr val="accent1"/>
          </a:fillRef>
          <a:effectRef idx="1">
            <a:schemeClr val="accent1"/>
          </a:effectRef>
          <a:fontRef idx="minor">
            <a:schemeClr val="tx1"/>
          </a:fontRef>
        </p:style>
      </p:cxnSp>
      <p:sp>
        <p:nvSpPr>
          <p:cNvPr id="29" name="codex-bmr-m-1">
            <a:extLst>
              <a:ext uri="{FF2B5EF4-FFF2-40B4-BE49-F238E27FC236}">
                <a16:creationId xmlns:a16="http://schemas.microsoft.com/office/drawing/2014/main" id="{51875D69-F23A-A672-D86B-1614B74F46C6}"/>
              </a:ext>
            </a:extLst>
          </p:cNvPr>
          <p:cNvSpPr txBox="1"/>
          <p:nvPr/>
        </p:nvSpPr>
        <p:spPr>
          <a:xfrm>
            <a:off x="736600" y="3835400"/>
            <a:ext cx="2184400" cy="297517"/>
          </a:xfrm>
          <a:prstGeom prst="rect">
            <a:avLst/>
          </a:prstGeom>
          <a:noFill/>
        </p:spPr>
        <p:txBody>
          <a:bodyPr vert="horz" lIns="50800" tIns="25400" rIns="50800" bIns="25400" rtlCol="0">
            <a:spAutoFit/>
          </a:bodyPr>
          <a:lstStyle/>
          <a:p>
            <a:r>
              <a:rPr lang="vi-VN" sz="1600">
                <a:solidFill>
                  <a:srgbClr val="60677C"/>
                </a:solidFill>
                <a:latin typeface="Aptos" panose="020B0004020202020204" pitchFamily="34" charset="0"/>
              </a:rPr>
              <a:t>Avg latency</a:t>
            </a:r>
          </a:p>
        </p:txBody>
      </p:sp>
      <p:sp>
        <p:nvSpPr>
          <p:cNvPr id="30" name="codex-bmr-e-1">
            <a:extLst>
              <a:ext uri="{FF2B5EF4-FFF2-40B4-BE49-F238E27FC236}">
                <a16:creationId xmlns:a16="http://schemas.microsoft.com/office/drawing/2014/main" id="{427AB59A-849C-D9AA-C266-157A0D242D2E}"/>
              </a:ext>
            </a:extLst>
          </p:cNvPr>
          <p:cNvSpPr txBox="1"/>
          <p:nvPr/>
        </p:nvSpPr>
        <p:spPr>
          <a:xfrm>
            <a:off x="3332747" y="3835400"/>
            <a:ext cx="1524000" cy="297517"/>
          </a:xfrm>
          <a:prstGeom prst="rect">
            <a:avLst/>
          </a:prstGeom>
          <a:noFill/>
        </p:spPr>
        <p:txBody>
          <a:bodyPr vert="horz" lIns="50800" tIns="25400" rIns="50800" bIns="25400" rtlCol="0">
            <a:spAutoFit/>
          </a:bodyPr>
          <a:lstStyle/>
          <a:p>
            <a:pPr algn="ctr"/>
            <a:r>
              <a:rPr lang="vi-VN" sz="1600" b="1" dirty="0">
                <a:solidFill>
                  <a:srgbClr val="242C44"/>
                </a:solidFill>
                <a:latin typeface="Aptos" panose="020B0004020202020204" pitchFamily="34" charset="0"/>
              </a:rPr>
              <a:t>125.288s</a:t>
            </a:r>
          </a:p>
        </p:txBody>
      </p:sp>
      <p:sp>
        <p:nvSpPr>
          <p:cNvPr id="31" name="codex-bmr-z-1">
            <a:extLst>
              <a:ext uri="{FF2B5EF4-FFF2-40B4-BE49-F238E27FC236}">
                <a16:creationId xmlns:a16="http://schemas.microsoft.com/office/drawing/2014/main" id="{CBA4126A-4391-D6F9-48D9-29D795A4FD52}"/>
              </a:ext>
            </a:extLst>
          </p:cNvPr>
          <p:cNvSpPr txBox="1"/>
          <p:nvPr/>
        </p:nvSpPr>
        <p:spPr>
          <a:xfrm>
            <a:off x="5308600" y="3835400"/>
            <a:ext cx="1524000" cy="297517"/>
          </a:xfrm>
          <a:prstGeom prst="rect">
            <a:avLst/>
          </a:prstGeom>
          <a:noFill/>
        </p:spPr>
        <p:txBody>
          <a:bodyPr vert="horz" lIns="50800" tIns="25400" rIns="50800" bIns="25400" rtlCol="0">
            <a:spAutoFit/>
          </a:bodyPr>
          <a:lstStyle/>
          <a:p>
            <a:pPr algn="ctr"/>
            <a:r>
              <a:rPr lang="vi-VN" sz="1600" b="1">
                <a:solidFill>
                  <a:srgbClr val="242C44"/>
                </a:solidFill>
                <a:latin typeface="Aptos" panose="020B0004020202020204" pitchFamily="34" charset="0"/>
              </a:rPr>
              <a:t>161.251s</a:t>
            </a:r>
          </a:p>
        </p:txBody>
      </p:sp>
      <p:sp>
        <p:nvSpPr>
          <p:cNvPr id="32" name="codex-bmr-m-2">
            <a:extLst>
              <a:ext uri="{FF2B5EF4-FFF2-40B4-BE49-F238E27FC236}">
                <a16:creationId xmlns:a16="http://schemas.microsoft.com/office/drawing/2014/main" id="{EC94020B-C6E6-9C77-05AF-AA4614B55C8C}"/>
              </a:ext>
            </a:extLst>
          </p:cNvPr>
          <p:cNvSpPr txBox="1"/>
          <p:nvPr/>
        </p:nvSpPr>
        <p:spPr>
          <a:xfrm>
            <a:off x="736600" y="4165600"/>
            <a:ext cx="2184400" cy="297517"/>
          </a:xfrm>
          <a:prstGeom prst="rect">
            <a:avLst/>
          </a:prstGeom>
          <a:noFill/>
        </p:spPr>
        <p:txBody>
          <a:bodyPr vert="horz" lIns="50800" tIns="25400" rIns="50800" bIns="25400" rtlCol="0">
            <a:spAutoFit/>
          </a:bodyPr>
          <a:lstStyle/>
          <a:p>
            <a:r>
              <a:rPr lang="vi-VN" sz="1600">
                <a:solidFill>
                  <a:srgbClr val="60677C"/>
                </a:solidFill>
                <a:latin typeface="Aptos" panose="020B0004020202020204" pitchFamily="34" charset="0"/>
              </a:rPr>
              <a:t>Avg ratio</a:t>
            </a:r>
          </a:p>
        </p:txBody>
      </p:sp>
      <p:sp>
        <p:nvSpPr>
          <p:cNvPr id="33" name="codex-bmr-e-2">
            <a:extLst>
              <a:ext uri="{FF2B5EF4-FFF2-40B4-BE49-F238E27FC236}">
                <a16:creationId xmlns:a16="http://schemas.microsoft.com/office/drawing/2014/main" id="{3BC9CFB7-264E-1647-84A6-AE7222AFE978}"/>
              </a:ext>
            </a:extLst>
          </p:cNvPr>
          <p:cNvSpPr txBox="1"/>
          <p:nvPr/>
        </p:nvSpPr>
        <p:spPr>
          <a:xfrm>
            <a:off x="3332747" y="4165600"/>
            <a:ext cx="1524000" cy="297517"/>
          </a:xfrm>
          <a:prstGeom prst="rect">
            <a:avLst/>
          </a:prstGeom>
          <a:noFill/>
        </p:spPr>
        <p:txBody>
          <a:bodyPr vert="horz" lIns="50800" tIns="25400" rIns="50800" bIns="25400" rtlCol="0">
            <a:spAutoFit/>
          </a:bodyPr>
          <a:lstStyle/>
          <a:p>
            <a:pPr algn="ctr"/>
            <a:r>
              <a:rPr lang="vi-VN" sz="1600" b="1">
                <a:solidFill>
                  <a:srgbClr val="242C44"/>
                </a:solidFill>
                <a:latin typeface="Aptos" panose="020B0004020202020204" pitchFamily="34" charset="0"/>
              </a:rPr>
              <a:t>0.193x</a:t>
            </a:r>
          </a:p>
        </p:txBody>
      </p:sp>
      <p:sp>
        <p:nvSpPr>
          <p:cNvPr id="34" name="codex-bmr-z-2">
            <a:extLst>
              <a:ext uri="{FF2B5EF4-FFF2-40B4-BE49-F238E27FC236}">
                <a16:creationId xmlns:a16="http://schemas.microsoft.com/office/drawing/2014/main" id="{8893A0AF-646E-45DE-47AD-E3E506091A98}"/>
              </a:ext>
            </a:extLst>
          </p:cNvPr>
          <p:cNvSpPr txBox="1"/>
          <p:nvPr/>
        </p:nvSpPr>
        <p:spPr>
          <a:xfrm>
            <a:off x="5308600" y="4165600"/>
            <a:ext cx="1524000" cy="297517"/>
          </a:xfrm>
          <a:prstGeom prst="rect">
            <a:avLst/>
          </a:prstGeom>
          <a:noFill/>
        </p:spPr>
        <p:txBody>
          <a:bodyPr vert="horz" lIns="50800" tIns="25400" rIns="50800" bIns="25400" rtlCol="0">
            <a:spAutoFit/>
          </a:bodyPr>
          <a:lstStyle/>
          <a:p>
            <a:pPr algn="ctr"/>
            <a:r>
              <a:rPr lang="vi-VN" sz="1600" b="1">
                <a:solidFill>
                  <a:srgbClr val="242C44"/>
                </a:solidFill>
                <a:latin typeface="Aptos" panose="020B0004020202020204" pitchFamily="34" charset="0"/>
              </a:rPr>
              <a:t>0.253x</a:t>
            </a:r>
          </a:p>
        </p:txBody>
      </p:sp>
      <p:sp>
        <p:nvSpPr>
          <p:cNvPr id="35" name="codex-bmr-m-3">
            <a:extLst>
              <a:ext uri="{FF2B5EF4-FFF2-40B4-BE49-F238E27FC236}">
                <a16:creationId xmlns:a16="http://schemas.microsoft.com/office/drawing/2014/main" id="{EA565C61-4BF5-2578-2053-B2C04D09A873}"/>
              </a:ext>
            </a:extLst>
          </p:cNvPr>
          <p:cNvSpPr txBox="1"/>
          <p:nvPr/>
        </p:nvSpPr>
        <p:spPr>
          <a:xfrm>
            <a:off x="736600" y="4495800"/>
            <a:ext cx="2184400" cy="297517"/>
          </a:xfrm>
          <a:prstGeom prst="rect">
            <a:avLst/>
          </a:prstGeom>
          <a:noFill/>
        </p:spPr>
        <p:txBody>
          <a:bodyPr vert="horz" lIns="50800" tIns="25400" rIns="50800" bIns="25400" rtlCol="0">
            <a:spAutoFit/>
          </a:bodyPr>
          <a:lstStyle/>
          <a:p>
            <a:r>
              <a:rPr lang="vi-VN" sz="1600">
                <a:solidFill>
                  <a:srgbClr val="60677C"/>
                </a:solidFill>
                <a:latin typeface="Aptos" panose="020B0004020202020204" pitchFamily="34" charset="0"/>
              </a:rPr>
              <a:t>First chunk</a:t>
            </a:r>
          </a:p>
        </p:txBody>
      </p:sp>
      <p:sp>
        <p:nvSpPr>
          <p:cNvPr id="36" name="codex-bmr-e-3">
            <a:extLst>
              <a:ext uri="{FF2B5EF4-FFF2-40B4-BE49-F238E27FC236}">
                <a16:creationId xmlns:a16="http://schemas.microsoft.com/office/drawing/2014/main" id="{D6BF33AD-4938-C6F9-2D4A-5AEA651C51CF}"/>
              </a:ext>
            </a:extLst>
          </p:cNvPr>
          <p:cNvSpPr txBox="1"/>
          <p:nvPr/>
        </p:nvSpPr>
        <p:spPr>
          <a:xfrm>
            <a:off x="3332747" y="4495800"/>
            <a:ext cx="1524000" cy="297517"/>
          </a:xfrm>
          <a:prstGeom prst="rect">
            <a:avLst/>
          </a:prstGeom>
          <a:noFill/>
        </p:spPr>
        <p:txBody>
          <a:bodyPr vert="horz" lIns="50800" tIns="25400" rIns="50800" bIns="25400" rtlCol="0">
            <a:spAutoFit/>
          </a:bodyPr>
          <a:lstStyle/>
          <a:p>
            <a:pPr algn="ctr"/>
            <a:r>
              <a:rPr lang="vi-VN" sz="1600" b="1">
                <a:solidFill>
                  <a:srgbClr val="242C44"/>
                </a:solidFill>
                <a:latin typeface="Aptos" panose="020B0004020202020204" pitchFamily="34" charset="0"/>
              </a:rPr>
              <a:t>67.714s</a:t>
            </a:r>
          </a:p>
        </p:txBody>
      </p:sp>
      <p:sp>
        <p:nvSpPr>
          <p:cNvPr id="37" name="codex-bmr-z-3">
            <a:extLst>
              <a:ext uri="{FF2B5EF4-FFF2-40B4-BE49-F238E27FC236}">
                <a16:creationId xmlns:a16="http://schemas.microsoft.com/office/drawing/2014/main" id="{20BAFEA1-A788-2F38-4C7A-0A8517E57105}"/>
              </a:ext>
            </a:extLst>
          </p:cNvPr>
          <p:cNvSpPr txBox="1"/>
          <p:nvPr/>
        </p:nvSpPr>
        <p:spPr>
          <a:xfrm>
            <a:off x="5308600" y="4495800"/>
            <a:ext cx="1524000" cy="297517"/>
          </a:xfrm>
          <a:prstGeom prst="rect">
            <a:avLst/>
          </a:prstGeom>
          <a:noFill/>
        </p:spPr>
        <p:txBody>
          <a:bodyPr vert="horz" lIns="50800" tIns="25400" rIns="50800" bIns="25400" rtlCol="0">
            <a:spAutoFit/>
          </a:bodyPr>
          <a:lstStyle/>
          <a:p>
            <a:pPr algn="ctr"/>
            <a:r>
              <a:rPr lang="vi-VN" sz="1600" b="1">
                <a:solidFill>
                  <a:srgbClr val="242C44"/>
                </a:solidFill>
                <a:latin typeface="Aptos" panose="020B0004020202020204" pitchFamily="34" charset="0"/>
              </a:rPr>
              <a:t>70.333s</a:t>
            </a:r>
          </a:p>
        </p:txBody>
      </p:sp>
      <p:sp>
        <p:nvSpPr>
          <p:cNvPr id="38" name="codex-bmr-m-4">
            <a:extLst>
              <a:ext uri="{FF2B5EF4-FFF2-40B4-BE49-F238E27FC236}">
                <a16:creationId xmlns:a16="http://schemas.microsoft.com/office/drawing/2014/main" id="{AD45C477-3F30-3128-B7B0-ACB1484F9FFB}"/>
              </a:ext>
            </a:extLst>
          </p:cNvPr>
          <p:cNvSpPr txBox="1"/>
          <p:nvPr/>
        </p:nvSpPr>
        <p:spPr>
          <a:xfrm>
            <a:off x="736600" y="4826000"/>
            <a:ext cx="2184400" cy="297517"/>
          </a:xfrm>
          <a:prstGeom prst="rect">
            <a:avLst/>
          </a:prstGeom>
          <a:noFill/>
        </p:spPr>
        <p:txBody>
          <a:bodyPr vert="horz" lIns="50800" tIns="25400" rIns="50800" bIns="25400" rtlCol="0">
            <a:spAutoFit/>
          </a:bodyPr>
          <a:lstStyle/>
          <a:p>
            <a:r>
              <a:rPr lang="vi-VN" sz="1600">
                <a:solidFill>
                  <a:srgbClr val="60677C"/>
                </a:solidFill>
                <a:latin typeface="Aptos" panose="020B0004020202020204" pitchFamily="34" charset="0"/>
              </a:rPr>
              <a:t>First batch</a:t>
            </a:r>
          </a:p>
        </p:txBody>
      </p:sp>
      <p:sp>
        <p:nvSpPr>
          <p:cNvPr id="39" name="codex-bmr-e-4">
            <a:extLst>
              <a:ext uri="{FF2B5EF4-FFF2-40B4-BE49-F238E27FC236}">
                <a16:creationId xmlns:a16="http://schemas.microsoft.com/office/drawing/2014/main" id="{AE7FBDDC-92AB-B280-B0EF-657ED06A6BED}"/>
              </a:ext>
            </a:extLst>
          </p:cNvPr>
          <p:cNvSpPr txBox="1"/>
          <p:nvPr/>
        </p:nvSpPr>
        <p:spPr>
          <a:xfrm>
            <a:off x="3332747" y="4826000"/>
            <a:ext cx="1524000" cy="297517"/>
          </a:xfrm>
          <a:prstGeom prst="rect">
            <a:avLst/>
          </a:prstGeom>
          <a:noFill/>
        </p:spPr>
        <p:txBody>
          <a:bodyPr vert="horz" lIns="50800" tIns="25400" rIns="50800" bIns="25400" rtlCol="0">
            <a:spAutoFit/>
          </a:bodyPr>
          <a:lstStyle/>
          <a:p>
            <a:pPr algn="ctr"/>
            <a:r>
              <a:rPr lang="vi-VN" sz="1600" b="1">
                <a:solidFill>
                  <a:srgbClr val="242C44"/>
                </a:solidFill>
                <a:latin typeface="Aptos" panose="020B0004020202020204" pitchFamily="34" charset="0"/>
              </a:rPr>
              <a:t>67.714s</a:t>
            </a:r>
          </a:p>
        </p:txBody>
      </p:sp>
      <p:sp>
        <p:nvSpPr>
          <p:cNvPr id="40" name="codex-bmr-z-4">
            <a:extLst>
              <a:ext uri="{FF2B5EF4-FFF2-40B4-BE49-F238E27FC236}">
                <a16:creationId xmlns:a16="http://schemas.microsoft.com/office/drawing/2014/main" id="{4B9153C2-FE7B-13AB-8050-C9B54908D61B}"/>
              </a:ext>
            </a:extLst>
          </p:cNvPr>
          <p:cNvSpPr txBox="1"/>
          <p:nvPr/>
        </p:nvSpPr>
        <p:spPr>
          <a:xfrm>
            <a:off x="5308600" y="4826000"/>
            <a:ext cx="1524000" cy="297517"/>
          </a:xfrm>
          <a:prstGeom prst="rect">
            <a:avLst/>
          </a:prstGeom>
          <a:noFill/>
        </p:spPr>
        <p:txBody>
          <a:bodyPr vert="horz" lIns="50800" tIns="25400" rIns="50800" bIns="25400" rtlCol="0">
            <a:spAutoFit/>
          </a:bodyPr>
          <a:lstStyle/>
          <a:p>
            <a:pPr algn="ctr"/>
            <a:r>
              <a:rPr lang="vi-VN" sz="1600" b="1">
                <a:solidFill>
                  <a:srgbClr val="242C44"/>
                </a:solidFill>
                <a:latin typeface="Aptos" panose="020B0004020202020204" pitchFamily="34" charset="0"/>
              </a:rPr>
              <a:t>84.55s</a:t>
            </a:r>
          </a:p>
        </p:txBody>
      </p:sp>
      <p:sp>
        <p:nvSpPr>
          <p:cNvPr id="41" name="codex-bmr-m-5">
            <a:extLst>
              <a:ext uri="{FF2B5EF4-FFF2-40B4-BE49-F238E27FC236}">
                <a16:creationId xmlns:a16="http://schemas.microsoft.com/office/drawing/2014/main" id="{B0BE50D4-F164-A72A-25F1-7CD824781E33}"/>
              </a:ext>
            </a:extLst>
          </p:cNvPr>
          <p:cNvSpPr txBox="1"/>
          <p:nvPr/>
        </p:nvSpPr>
        <p:spPr>
          <a:xfrm>
            <a:off x="736600" y="5156200"/>
            <a:ext cx="2184400" cy="297517"/>
          </a:xfrm>
          <a:prstGeom prst="rect">
            <a:avLst/>
          </a:prstGeom>
          <a:noFill/>
        </p:spPr>
        <p:txBody>
          <a:bodyPr vert="horz" lIns="50800" tIns="25400" rIns="50800" bIns="25400" rtlCol="0">
            <a:spAutoFit/>
          </a:bodyPr>
          <a:lstStyle/>
          <a:p>
            <a:r>
              <a:rPr lang="vi-VN" sz="1600">
                <a:solidFill>
                  <a:srgbClr val="60677C"/>
                </a:solidFill>
                <a:latin typeface="Aptos" panose="020B0004020202020204" pitchFamily="34" charset="0"/>
              </a:rPr>
              <a:t>WER / CER</a:t>
            </a:r>
          </a:p>
        </p:txBody>
      </p:sp>
      <p:sp>
        <p:nvSpPr>
          <p:cNvPr id="42" name="codex-bmr-e-5">
            <a:extLst>
              <a:ext uri="{FF2B5EF4-FFF2-40B4-BE49-F238E27FC236}">
                <a16:creationId xmlns:a16="http://schemas.microsoft.com/office/drawing/2014/main" id="{E6A630EC-9E93-542D-C8B1-840819895FCF}"/>
              </a:ext>
            </a:extLst>
          </p:cNvPr>
          <p:cNvSpPr txBox="1"/>
          <p:nvPr/>
        </p:nvSpPr>
        <p:spPr>
          <a:xfrm>
            <a:off x="3332747" y="5156200"/>
            <a:ext cx="1524000" cy="297517"/>
          </a:xfrm>
          <a:prstGeom prst="rect">
            <a:avLst/>
          </a:prstGeom>
          <a:noFill/>
        </p:spPr>
        <p:txBody>
          <a:bodyPr vert="horz" lIns="50800" tIns="25400" rIns="50800" bIns="25400" rtlCol="0">
            <a:spAutoFit/>
          </a:bodyPr>
          <a:lstStyle/>
          <a:p>
            <a:pPr algn="ctr"/>
            <a:r>
              <a:rPr lang="vi-VN" sz="1600" b="1">
                <a:solidFill>
                  <a:srgbClr val="242C44"/>
                </a:solidFill>
                <a:latin typeface="Aptos" panose="020B0004020202020204" pitchFamily="34" charset="0"/>
              </a:rPr>
              <a:t>0.036 / 0.021</a:t>
            </a:r>
          </a:p>
        </p:txBody>
      </p:sp>
      <p:sp>
        <p:nvSpPr>
          <p:cNvPr id="43" name="codex-bmr-z-5">
            <a:extLst>
              <a:ext uri="{FF2B5EF4-FFF2-40B4-BE49-F238E27FC236}">
                <a16:creationId xmlns:a16="http://schemas.microsoft.com/office/drawing/2014/main" id="{E9F17FF1-D478-4CE1-540D-B50722942D34}"/>
              </a:ext>
            </a:extLst>
          </p:cNvPr>
          <p:cNvSpPr txBox="1"/>
          <p:nvPr/>
        </p:nvSpPr>
        <p:spPr>
          <a:xfrm>
            <a:off x="5308600" y="5156200"/>
            <a:ext cx="1524000" cy="297517"/>
          </a:xfrm>
          <a:prstGeom prst="rect">
            <a:avLst/>
          </a:prstGeom>
          <a:noFill/>
        </p:spPr>
        <p:txBody>
          <a:bodyPr vert="horz" lIns="50800" tIns="25400" rIns="50800" bIns="25400" rtlCol="0">
            <a:spAutoFit/>
          </a:bodyPr>
          <a:lstStyle/>
          <a:p>
            <a:pPr algn="ctr"/>
            <a:r>
              <a:rPr lang="vi-VN" sz="1600" b="1">
                <a:solidFill>
                  <a:srgbClr val="242C44"/>
                </a:solidFill>
                <a:latin typeface="Aptos" panose="020B0004020202020204" pitchFamily="34" charset="0"/>
              </a:rPr>
              <a:t>0.247 / 0.181</a:t>
            </a:r>
          </a:p>
        </p:txBody>
      </p:sp>
      <p:sp>
        <p:nvSpPr>
          <p:cNvPr id="44" name="codex-bmr-policy-band">
            <a:extLst>
              <a:ext uri="{FF2B5EF4-FFF2-40B4-BE49-F238E27FC236}">
                <a16:creationId xmlns:a16="http://schemas.microsoft.com/office/drawing/2014/main" id="{1CE3D7FE-0DC3-D9AD-2AB9-C5267D293E95}"/>
              </a:ext>
            </a:extLst>
          </p:cNvPr>
          <p:cNvSpPr/>
          <p:nvPr/>
        </p:nvSpPr>
        <p:spPr>
          <a:xfrm>
            <a:off x="431800" y="6248400"/>
            <a:ext cx="6832600" cy="355600"/>
          </a:xfrm>
          <a:prstGeom prst="roundRect">
            <a:avLst>
              <a:gd name="adj" fmla="val 8000"/>
            </a:avLst>
          </a:prstGeom>
          <a:solidFill>
            <a:srgbClr val="F0EBE3"/>
          </a:solidFill>
          <a:ln w="10160">
            <a:solidFill>
              <a:srgbClr val="CED6E5"/>
            </a:solidFill>
          </a:ln>
          <a:effectLst/>
          <a:extLs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rtlCol="0" anchor="ctr"/>
          <a:lstStyle/>
          <a:p>
            <a:pPr algn="ctr"/>
            <a:r>
              <a:rPr lang="vi-VN" sz="1100">
                <a:solidFill>
                  <a:srgbClr val="242C44"/>
                </a:solidFill>
                <a:latin typeface="Aptos" panose="020B0004020202020204" pitchFamily="34" charset="0"/>
              </a:rPr>
              <a:t>English giữ during_asr · Chinese auto-downgrade sang after_asr và trust gate luôn bật</a:t>
            </a:r>
          </a:p>
        </p:txBody>
      </p:sp>
      <p:sp>
        <p:nvSpPr>
          <p:cNvPr id="45" name="codex-bmr-insight">
            <a:extLst>
              <a:ext uri="{FF2B5EF4-FFF2-40B4-BE49-F238E27FC236}">
                <a16:creationId xmlns:a16="http://schemas.microsoft.com/office/drawing/2014/main" id="{34948685-5102-B842-4141-70F193C192DE}"/>
              </a:ext>
            </a:extLst>
          </p:cNvPr>
          <p:cNvSpPr/>
          <p:nvPr/>
        </p:nvSpPr>
        <p:spPr>
          <a:xfrm>
            <a:off x="7853946" y="2489200"/>
            <a:ext cx="3906254" cy="4114800"/>
          </a:xfrm>
          <a:prstGeom prst="roundRect">
            <a:avLst>
              <a:gd name="adj" fmla="val 6000"/>
            </a:avLst>
          </a:prstGeom>
          <a:solidFill>
            <a:srgbClr val="F0EBE3"/>
          </a:solidFill>
          <a:ln w="11430">
            <a:solidFill>
              <a:srgbClr val="CED6E5"/>
            </a:solidFill>
          </a:ln>
          <a:effectLst/>
          <a:extLs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vi-VN"/>
          </a:p>
        </p:txBody>
      </p:sp>
      <p:sp>
        <p:nvSpPr>
          <p:cNvPr id="46" name="codex-bmr-insight-k">
            <a:extLst>
              <a:ext uri="{FF2B5EF4-FFF2-40B4-BE49-F238E27FC236}">
                <a16:creationId xmlns:a16="http://schemas.microsoft.com/office/drawing/2014/main" id="{82121EEA-40D9-54A8-BD52-CE458078CF1A}"/>
              </a:ext>
            </a:extLst>
          </p:cNvPr>
          <p:cNvSpPr txBox="1"/>
          <p:nvPr/>
        </p:nvSpPr>
        <p:spPr>
          <a:xfrm>
            <a:off x="7995654" y="2618105"/>
            <a:ext cx="2286000" cy="328295"/>
          </a:xfrm>
          <a:prstGeom prst="rect">
            <a:avLst/>
          </a:prstGeom>
          <a:noFill/>
        </p:spPr>
        <p:txBody>
          <a:bodyPr vert="horz" lIns="50800" tIns="25400" rIns="50800" bIns="25400" rtlCol="0">
            <a:spAutoFit/>
          </a:bodyPr>
          <a:lstStyle/>
          <a:p>
            <a:r>
              <a:rPr lang="vi-VN" b="1" dirty="0">
                <a:solidFill>
                  <a:srgbClr val="C88639"/>
                </a:solidFill>
                <a:latin typeface="Aptos" panose="020B0004020202020204" pitchFamily="34" charset="0"/>
              </a:rPr>
              <a:t>DIỄN GIẢI KỸ THUẬT</a:t>
            </a:r>
          </a:p>
        </p:txBody>
      </p:sp>
      <p:sp>
        <p:nvSpPr>
          <p:cNvPr id="47" name="codex-bmr-insight-title">
            <a:extLst>
              <a:ext uri="{FF2B5EF4-FFF2-40B4-BE49-F238E27FC236}">
                <a16:creationId xmlns:a16="http://schemas.microsoft.com/office/drawing/2014/main" id="{1572590B-2A86-C827-5A0C-7B267E860F70}"/>
              </a:ext>
            </a:extLst>
          </p:cNvPr>
          <p:cNvSpPr txBox="1"/>
          <p:nvPr/>
        </p:nvSpPr>
        <p:spPr>
          <a:xfrm>
            <a:off x="8051800" y="2946400"/>
            <a:ext cx="3505200" cy="574516"/>
          </a:xfrm>
          <a:prstGeom prst="rect">
            <a:avLst/>
          </a:prstGeom>
          <a:noFill/>
        </p:spPr>
        <p:txBody>
          <a:bodyPr vert="horz" wrap="square" lIns="50800" tIns="25400" rIns="50800" bIns="25400" rtlCol="0">
            <a:spAutoFit/>
          </a:bodyPr>
          <a:lstStyle/>
          <a:p>
            <a:r>
              <a:rPr lang="vi-VN" sz="1700" b="1" dirty="0">
                <a:solidFill>
                  <a:srgbClr val="242C44"/>
                </a:solidFill>
                <a:latin typeface="Aptos" panose="020B0004020202020204" pitchFamily="34" charset="0"/>
              </a:rPr>
              <a:t>Số liệu không đứng riêng, mà phản ánh cách pipeline đang chạy</a:t>
            </a:r>
          </a:p>
        </p:txBody>
      </p:sp>
      <p:sp>
        <p:nvSpPr>
          <p:cNvPr id="48" name="codex-bmr-insight-body">
            <a:extLst>
              <a:ext uri="{FF2B5EF4-FFF2-40B4-BE49-F238E27FC236}">
                <a16:creationId xmlns:a16="http://schemas.microsoft.com/office/drawing/2014/main" id="{ECEF1D7E-B055-1A47-201E-43A7294289C3}"/>
              </a:ext>
            </a:extLst>
          </p:cNvPr>
          <p:cNvSpPr txBox="1"/>
          <p:nvPr/>
        </p:nvSpPr>
        <p:spPr>
          <a:xfrm>
            <a:off x="8051800" y="3632200"/>
            <a:ext cx="3505200" cy="1774845"/>
          </a:xfrm>
          <a:prstGeom prst="rect">
            <a:avLst/>
          </a:prstGeom>
          <a:noFill/>
        </p:spPr>
        <p:txBody>
          <a:bodyPr vert="horz" wrap="square" lIns="50800" tIns="25400" rIns="50800" bIns="25400" rtlCol="0">
            <a:spAutoFit/>
          </a:bodyPr>
          <a:lstStyle/>
          <a:p>
            <a:pPr marL="285750" indent="-285750" algn="just">
              <a:buFont typeface="Arial" panose="020B0604020202020204" pitchFamily="34" charset="0"/>
              <a:buChar char="•"/>
            </a:pPr>
            <a:r>
              <a:rPr lang="vi-VN" sz="1600" dirty="0">
                <a:solidFill>
                  <a:srgbClr val="60677C"/>
                </a:solidFill>
                <a:latin typeface="Aptos" panose="020B0004020202020204" pitchFamily="34" charset="0"/>
              </a:rPr>
              <a:t>English ổn định hơn cả về latency lẫn WER/CER.
Chinese chậm hơn vì policy thực tế đang bảo thủ hơn.
Trust gate giúp giảm rủi ro publish transcript kém tin cậy, nhưng cũng làm first batch đến muộn hơn.</a:t>
            </a:r>
          </a:p>
        </p:txBody>
      </p:sp>
      <p:sp>
        <p:nvSpPr>
          <p:cNvPr id="49" name="codex-bmr-insight-note">
            <a:extLst>
              <a:ext uri="{FF2B5EF4-FFF2-40B4-BE49-F238E27FC236}">
                <a16:creationId xmlns:a16="http://schemas.microsoft.com/office/drawing/2014/main" id="{F63FBFF2-3B2A-42B2-242B-FB6F51E766EC}"/>
              </a:ext>
            </a:extLst>
          </p:cNvPr>
          <p:cNvSpPr/>
          <p:nvPr/>
        </p:nvSpPr>
        <p:spPr>
          <a:xfrm>
            <a:off x="8089900" y="5518329"/>
            <a:ext cx="3505200" cy="930865"/>
          </a:xfrm>
          <a:prstGeom prst="roundRect">
            <a:avLst>
              <a:gd name="adj" fmla="val 8000"/>
            </a:avLst>
          </a:prstGeom>
          <a:solidFill>
            <a:srgbClr val="FFFFFF"/>
          </a:solidFill>
          <a:ln w="10160">
            <a:solidFill>
              <a:srgbClr val="CED6E5"/>
            </a:solidFill>
          </a:ln>
          <a:effectLst/>
          <a:extLs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rtlCol="0" anchor="ctr"/>
          <a:lstStyle/>
          <a:p>
            <a:pPr algn="just"/>
            <a:r>
              <a:rPr lang="vi-VN" sz="1600" dirty="0">
                <a:solidFill>
                  <a:srgbClr val="242C44"/>
                </a:solidFill>
                <a:latin typeface="Aptos" panose="020B0004020202020204" pitchFamily="34" charset="0"/>
              </a:rPr>
              <a:t>Kết luận chính: hệ thống chạy ổn định end-to-end, nhưng Chinese path vẫn là điểm nghẽn kỹ thuật lớn nhất.</a:t>
            </a:r>
          </a:p>
        </p:txBody>
      </p:sp>
    </p:spTree>
    <p:extLst>
      <p:ext uri="{BB962C8B-B14F-4D97-AF65-F5344CB8AC3E}">
        <p14:creationId xmlns:p14="http://schemas.microsoft.com/office/powerpoint/2010/main" val="3987221371"/>
      </p:ext>
    </p:extLst>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5F1EA"/>
        </a:solidFill>
        <a:effectLst/>
      </p:bgPr>
    </p:bg>
    <p:spTree>
      <p:nvGrpSpPr>
        <p:cNvPr id="1" name=""/>
        <p:cNvGrpSpPr/>
        <p:nvPr/>
      </p:nvGrpSpPr>
      <p:grpSpPr>
        <a:xfrm>
          <a:off x="0" y="0"/>
          <a:ext cx="0" cy="0"/>
          <a:chOff x="0" y="0"/>
          <a:chExt cx="0" cy="0"/>
        </a:xfrm>
      </p:grpSpPr>
      <p:sp>
        <p:nvSpPr>
          <p:cNvPr id="2" name="codex-contrib-marker">
            <a:extLst>
              <a:ext uri="{FF2B5EF4-FFF2-40B4-BE49-F238E27FC236}">
                <a16:creationId xmlns:a16="http://schemas.microsoft.com/office/drawing/2014/main" id="{C54F0051-30E2-B7DC-96FD-3781F688D950}"/>
              </a:ext>
            </a:extLst>
          </p:cNvPr>
          <p:cNvSpPr txBox="1"/>
          <p:nvPr/>
        </p:nvSpPr>
        <p:spPr>
          <a:xfrm>
            <a:off x="0" y="0"/>
            <a:ext cx="12700" cy="82074"/>
          </a:xfrm>
          <a:prstGeom prst="rect">
            <a:avLst/>
          </a:prstGeom>
          <a:noFill/>
        </p:spPr>
        <p:txBody>
          <a:bodyPr vert="horz" lIns="50800" tIns="25400" rIns="50800" bIns="25400" rtlCol="0">
            <a:spAutoFit/>
          </a:bodyPr>
          <a:lstStyle/>
          <a:p>
            <a:endParaRPr lang="vi-VN" sz="200">
              <a:solidFill>
                <a:srgbClr val="F5F1EA"/>
              </a:solidFill>
              <a:latin typeface="Aptos" panose="020B0004020202020204" pitchFamily="34" charset="0"/>
            </a:endParaRPr>
          </a:p>
        </p:txBody>
      </p:sp>
      <p:sp>
        <p:nvSpPr>
          <p:cNvPr id="3" name="codex-contrib-kicker">
            <a:extLst>
              <a:ext uri="{FF2B5EF4-FFF2-40B4-BE49-F238E27FC236}">
                <a16:creationId xmlns:a16="http://schemas.microsoft.com/office/drawing/2014/main" id="{9BA243F8-9AE6-2F81-719F-16CF46AA5FD9}"/>
              </a:ext>
            </a:extLst>
          </p:cNvPr>
          <p:cNvSpPr txBox="1"/>
          <p:nvPr/>
        </p:nvSpPr>
        <p:spPr>
          <a:xfrm>
            <a:off x="431800" y="249663"/>
            <a:ext cx="1778000" cy="328295"/>
          </a:xfrm>
          <a:prstGeom prst="rect">
            <a:avLst/>
          </a:prstGeom>
          <a:noFill/>
        </p:spPr>
        <p:txBody>
          <a:bodyPr vert="horz" lIns="50800" tIns="25400" rIns="50800" bIns="25400" rtlCol="0">
            <a:spAutoFit/>
          </a:bodyPr>
          <a:lstStyle/>
          <a:p>
            <a:r>
              <a:rPr lang="vi-VN" b="1" dirty="0">
                <a:solidFill>
                  <a:srgbClr val="C88639"/>
                </a:solidFill>
                <a:latin typeface="Aptos" panose="020B0004020202020204" pitchFamily="34" charset="0"/>
              </a:rPr>
              <a:t>KẾT LUẬN</a:t>
            </a:r>
          </a:p>
        </p:txBody>
      </p:sp>
      <p:sp>
        <p:nvSpPr>
          <p:cNvPr id="4" name="codex-contrib-title">
            <a:extLst>
              <a:ext uri="{FF2B5EF4-FFF2-40B4-BE49-F238E27FC236}">
                <a16:creationId xmlns:a16="http://schemas.microsoft.com/office/drawing/2014/main" id="{0468434B-9910-3546-7A59-30A5396A26B1}"/>
              </a:ext>
            </a:extLst>
          </p:cNvPr>
          <p:cNvSpPr txBox="1"/>
          <p:nvPr/>
        </p:nvSpPr>
        <p:spPr>
          <a:xfrm>
            <a:off x="431800" y="508000"/>
            <a:ext cx="6604000" cy="543739"/>
          </a:xfrm>
          <a:prstGeom prst="rect">
            <a:avLst/>
          </a:prstGeom>
          <a:noFill/>
        </p:spPr>
        <p:txBody>
          <a:bodyPr vert="horz" lIns="50800" tIns="25400" rIns="50800" bIns="25400" rtlCol="0">
            <a:spAutoFit/>
          </a:bodyPr>
          <a:lstStyle/>
          <a:p>
            <a:r>
              <a:rPr lang="vi-VN" sz="3200" b="1">
                <a:solidFill>
                  <a:srgbClr val="242C44"/>
                </a:solidFill>
              </a:rPr>
              <a:t>Đóng góp kỹ thuật của đồ án</a:t>
            </a:r>
          </a:p>
        </p:txBody>
      </p:sp>
      <p:sp>
        <p:nvSpPr>
          <p:cNvPr id="5" name="codex-contrib-sub">
            <a:extLst>
              <a:ext uri="{FF2B5EF4-FFF2-40B4-BE49-F238E27FC236}">
                <a16:creationId xmlns:a16="http://schemas.microsoft.com/office/drawing/2014/main" id="{8B723454-D8AD-218E-0C9F-2A788D7441B3}"/>
              </a:ext>
            </a:extLst>
          </p:cNvPr>
          <p:cNvSpPr txBox="1"/>
          <p:nvPr/>
        </p:nvSpPr>
        <p:spPr>
          <a:xfrm>
            <a:off x="431800" y="1092200"/>
            <a:ext cx="7366000" cy="266740"/>
          </a:xfrm>
          <a:prstGeom prst="rect">
            <a:avLst/>
          </a:prstGeom>
          <a:noFill/>
        </p:spPr>
        <p:txBody>
          <a:bodyPr vert="horz" lIns="50800" tIns="25400" rIns="50800" bIns="25400" rtlCol="0">
            <a:spAutoFit/>
          </a:bodyPr>
          <a:lstStyle/>
          <a:p>
            <a:r>
              <a:rPr lang="vi-VN" sz="1400">
                <a:solidFill>
                  <a:srgbClr val="60677C"/>
                </a:solidFill>
                <a:latin typeface="Aptos" panose="020B0004020202020204" pitchFamily="34" charset="0"/>
              </a:rPr>
              <a:t>Điểm mạnh nằm ở tích hợp hệ thống và đưa pipeline ML vào một ứng dụng usable.</a:t>
            </a:r>
          </a:p>
        </p:txBody>
      </p:sp>
      <p:sp>
        <p:nvSpPr>
          <p:cNvPr id="6" name="codex-contrib-card-1">
            <a:extLst>
              <a:ext uri="{FF2B5EF4-FFF2-40B4-BE49-F238E27FC236}">
                <a16:creationId xmlns:a16="http://schemas.microsoft.com/office/drawing/2014/main" id="{12186A28-3FA6-120F-89CE-4D5004DB0A59}"/>
              </a:ext>
            </a:extLst>
          </p:cNvPr>
          <p:cNvSpPr/>
          <p:nvPr/>
        </p:nvSpPr>
        <p:spPr>
          <a:xfrm>
            <a:off x="431800" y="1676400"/>
            <a:ext cx="5410200" cy="1397000"/>
          </a:xfrm>
          <a:prstGeom prst="roundRect">
            <a:avLst>
              <a:gd name="adj" fmla="val 8000"/>
            </a:avLst>
          </a:prstGeom>
          <a:solidFill>
            <a:srgbClr val="E9EFF5"/>
          </a:solidFill>
          <a:ln w="11430">
            <a:solidFill>
              <a:srgbClr val="ABBACC"/>
            </a:solidFill>
          </a:ln>
          <a:effectLst/>
          <a:extLs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vi-VN" sz="2000"/>
          </a:p>
        </p:txBody>
      </p:sp>
      <p:sp>
        <p:nvSpPr>
          <p:cNvPr id="7" name="codex-contrib-no-1">
            <a:extLst>
              <a:ext uri="{FF2B5EF4-FFF2-40B4-BE49-F238E27FC236}">
                <a16:creationId xmlns:a16="http://schemas.microsoft.com/office/drawing/2014/main" id="{1E9E4718-3E25-227F-BF62-A31DF0B23BDB}"/>
              </a:ext>
            </a:extLst>
          </p:cNvPr>
          <p:cNvSpPr txBox="1"/>
          <p:nvPr/>
        </p:nvSpPr>
        <p:spPr>
          <a:xfrm>
            <a:off x="660400" y="1854200"/>
            <a:ext cx="584200" cy="420628"/>
          </a:xfrm>
          <a:prstGeom prst="rect">
            <a:avLst/>
          </a:prstGeom>
          <a:noFill/>
        </p:spPr>
        <p:txBody>
          <a:bodyPr vert="horz" lIns="50800" tIns="25400" rIns="50800" bIns="25400" rtlCol="0">
            <a:spAutoFit/>
          </a:bodyPr>
          <a:lstStyle/>
          <a:p>
            <a:r>
              <a:rPr lang="vi-VN" sz="2400" b="1">
                <a:solidFill>
                  <a:srgbClr val="C88639"/>
                </a:solidFill>
              </a:rPr>
              <a:t>01</a:t>
            </a:r>
          </a:p>
        </p:txBody>
      </p:sp>
      <p:sp>
        <p:nvSpPr>
          <p:cNvPr id="8" name="codex-contrib-title-1">
            <a:extLst>
              <a:ext uri="{FF2B5EF4-FFF2-40B4-BE49-F238E27FC236}">
                <a16:creationId xmlns:a16="http://schemas.microsoft.com/office/drawing/2014/main" id="{22BFBC3F-9B4F-D9AA-8169-36DE58ACDC5F}"/>
              </a:ext>
            </a:extLst>
          </p:cNvPr>
          <p:cNvSpPr txBox="1"/>
          <p:nvPr/>
        </p:nvSpPr>
        <p:spPr>
          <a:xfrm>
            <a:off x="1397000" y="1879600"/>
            <a:ext cx="4064000" cy="328295"/>
          </a:xfrm>
          <a:prstGeom prst="rect">
            <a:avLst/>
          </a:prstGeom>
          <a:noFill/>
        </p:spPr>
        <p:txBody>
          <a:bodyPr vert="horz" lIns="50800" tIns="25400" rIns="50800" bIns="25400" rtlCol="0">
            <a:spAutoFit/>
          </a:bodyPr>
          <a:lstStyle/>
          <a:p>
            <a:r>
              <a:rPr lang="vi-VN" b="1">
                <a:solidFill>
                  <a:srgbClr val="242C44"/>
                </a:solidFill>
                <a:latin typeface="Aptos" panose="020B0004020202020204" pitchFamily="34" charset="0"/>
              </a:rPr>
              <a:t>Subtitle platform end-to-end</a:t>
            </a:r>
          </a:p>
        </p:txBody>
      </p:sp>
      <p:sp>
        <p:nvSpPr>
          <p:cNvPr id="9" name="codex-contrib-body-1">
            <a:extLst>
              <a:ext uri="{FF2B5EF4-FFF2-40B4-BE49-F238E27FC236}">
                <a16:creationId xmlns:a16="http://schemas.microsoft.com/office/drawing/2014/main" id="{DD0B280A-F28A-79FE-AD12-7EF567ADDE0F}"/>
              </a:ext>
            </a:extLst>
          </p:cNvPr>
          <p:cNvSpPr txBox="1"/>
          <p:nvPr/>
        </p:nvSpPr>
        <p:spPr>
          <a:xfrm>
            <a:off x="1397000" y="2286000"/>
            <a:ext cx="4064000" cy="543739"/>
          </a:xfrm>
          <a:prstGeom prst="rect">
            <a:avLst/>
          </a:prstGeom>
          <a:noFill/>
        </p:spPr>
        <p:txBody>
          <a:bodyPr vert="horz" lIns="50800" tIns="25400" rIns="50800" bIns="25400" rtlCol="0">
            <a:spAutoFit/>
          </a:bodyPr>
          <a:lstStyle/>
          <a:p>
            <a:r>
              <a:rPr lang="en-US" sz="1600">
                <a:solidFill>
                  <a:srgbClr val="60677C"/>
                </a:solidFill>
                <a:latin typeface="Aptos" panose="020B0004020202020204" pitchFamily="34" charset="0"/>
              </a:rPr>
              <a:t>Từ ingest media, orchestration, artifact cho đến player song ngữ.</a:t>
            </a:r>
            <a:endParaRPr lang="vi-VN" sz="1600">
              <a:solidFill>
                <a:srgbClr val="60677C"/>
              </a:solidFill>
              <a:latin typeface="Aptos" panose="020B0004020202020204" pitchFamily="34" charset="0"/>
            </a:endParaRPr>
          </a:p>
        </p:txBody>
      </p:sp>
      <p:sp>
        <p:nvSpPr>
          <p:cNvPr id="10" name="codex-contrib-card-2">
            <a:extLst>
              <a:ext uri="{FF2B5EF4-FFF2-40B4-BE49-F238E27FC236}">
                <a16:creationId xmlns:a16="http://schemas.microsoft.com/office/drawing/2014/main" id="{0843EA12-46DB-5C42-C396-187D2D9570D8}"/>
              </a:ext>
            </a:extLst>
          </p:cNvPr>
          <p:cNvSpPr/>
          <p:nvPr/>
        </p:nvSpPr>
        <p:spPr>
          <a:xfrm>
            <a:off x="6350000" y="1676400"/>
            <a:ext cx="5410200" cy="1397000"/>
          </a:xfrm>
          <a:prstGeom prst="roundRect">
            <a:avLst>
              <a:gd name="adj" fmla="val 8000"/>
            </a:avLst>
          </a:prstGeom>
          <a:solidFill>
            <a:srgbClr val="E9EFFC"/>
          </a:solidFill>
          <a:ln w="11430">
            <a:solidFill>
              <a:srgbClr val="A0B7E5"/>
            </a:solidFill>
          </a:ln>
          <a:effectLst/>
          <a:extLs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vi-VN" sz="2000"/>
          </a:p>
        </p:txBody>
      </p:sp>
      <p:sp>
        <p:nvSpPr>
          <p:cNvPr id="11" name="codex-contrib-no-2">
            <a:extLst>
              <a:ext uri="{FF2B5EF4-FFF2-40B4-BE49-F238E27FC236}">
                <a16:creationId xmlns:a16="http://schemas.microsoft.com/office/drawing/2014/main" id="{91BD8B0A-95CA-EF09-6E93-3A4CE4D357D7}"/>
              </a:ext>
            </a:extLst>
          </p:cNvPr>
          <p:cNvSpPr txBox="1"/>
          <p:nvPr/>
        </p:nvSpPr>
        <p:spPr>
          <a:xfrm>
            <a:off x="6578600" y="1854200"/>
            <a:ext cx="584200" cy="420628"/>
          </a:xfrm>
          <a:prstGeom prst="rect">
            <a:avLst/>
          </a:prstGeom>
          <a:noFill/>
        </p:spPr>
        <p:txBody>
          <a:bodyPr vert="horz" lIns="50800" tIns="25400" rIns="50800" bIns="25400" rtlCol="0">
            <a:spAutoFit/>
          </a:bodyPr>
          <a:lstStyle/>
          <a:p>
            <a:r>
              <a:rPr lang="vi-VN" sz="2400" b="1">
                <a:solidFill>
                  <a:srgbClr val="C88639"/>
                </a:solidFill>
              </a:rPr>
              <a:t>02</a:t>
            </a:r>
          </a:p>
        </p:txBody>
      </p:sp>
      <p:sp>
        <p:nvSpPr>
          <p:cNvPr id="12" name="codex-contrib-title-2">
            <a:extLst>
              <a:ext uri="{FF2B5EF4-FFF2-40B4-BE49-F238E27FC236}">
                <a16:creationId xmlns:a16="http://schemas.microsoft.com/office/drawing/2014/main" id="{89E8FB39-5135-9BFA-8E56-A68E7A084B44}"/>
              </a:ext>
            </a:extLst>
          </p:cNvPr>
          <p:cNvSpPr txBox="1"/>
          <p:nvPr/>
        </p:nvSpPr>
        <p:spPr>
          <a:xfrm>
            <a:off x="7315200" y="1879600"/>
            <a:ext cx="4064000" cy="328295"/>
          </a:xfrm>
          <a:prstGeom prst="rect">
            <a:avLst/>
          </a:prstGeom>
          <a:noFill/>
        </p:spPr>
        <p:txBody>
          <a:bodyPr vert="horz" lIns="50800" tIns="25400" rIns="50800" bIns="25400" rtlCol="0">
            <a:spAutoFit/>
          </a:bodyPr>
          <a:lstStyle/>
          <a:p>
            <a:r>
              <a:rPr lang="vi-VN" b="1">
                <a:solidFill>
                  <a:srgbClr val="242C44"/>
                </a:solidFill>
                <a:latin typeface="Aptos" panose="020B0004020202020204" pitchFamily="34" charset="0"/>
              </a:rPr>
              <a:t>Kiến trúc bất đồng bộ rõ ràng</a:t>
            </a:r>
          </a:p>
        </p:txBody>
      </p:sp>
      <p:sp>
        <p:nvSpPr>
          <p:cNvPr id="13" name="codex-contrib-body-2">
            <a:extLst>
              <a:ext uri="{FF2B5EF4-FFF2-40B4-BE49-F238E27FC236}">
                <a16:creationId xmlns:a16="http://schemas.microsoft.com/office/drawing/2014/main" id="{8A5F7BF4-F800-F9ED-454D-7ED6AF6738E8}"/>
              </a:ext>
            </a:extLst>
          </p:cNvPr>
          <p:cNvSpPr txBox="1"/>
          <p:nvPr/>
        </p:nvSpPr>
        <p:spPr>
          <a:xfrm>
            <a:off x="7315200" y="2286000"/>
            <a:ext cx="4064000" cy="543739"/>
          </a:xfrm>
          <a:prstGeom prst="rect">
            <a:avLst/>
          </a:prstGeom>
          <a:noFill/>
        </p:spPr>
        <p:txBody>
          <a:bodyPr vert="horz" lIns="50800" tIns="25400" rIns="50800" bIns="25400" rtlCol="0">
            <a:spAutoFit/>
          </a:bodyPr>
          <a:lstStyle/>
          <a:p>
            <a:r>
              <a:rPr lang="vi-VN" sz="1600">
                <a:solidFill>
                  <a:srgbClr val="60677C"/>
                </a:solidFill>
                <a:latin typeface="Aptos" panose="020B0004020202020204" pitchFamily="34" charset="0"/>
              </a:rPr>
              <a:t>Tách API, worker và AI Engine thay vì dồn toàn bộ vào một service.</a:t>
            </a:r>
          </a:p>
        </p:txBody>
      </p:sp>
      <p:sp>
        <p:nvSpPr>
          <p:cNvPr id="14" name="codex-contrib-card-3">
            <a:extLst>
              <a:ext uri="{FF2B5EF4-FFF2-40B4-BE49-F238E27FC236}">
                <a16:creationId xmlns:a16="http://schemas.microsoft.com/office/drawing/2014/main" id="{92035F01-6E23-00C5-1DDE-71919864B6DD}"/>
              </a:ext>
            </a:extLst>
          </p:cNvPr>
          <p:cNvSpPr/>
          <p:nvPr/>
        </p:nvSpPr>
        <p:spPr>
          <a:xfrm>
            <a:off x="431800" y="3378200"/>
            <a:ext cx="5410200" cy="1397000"/>
          </a:xfrm>
          <a:prstGeom prst="roundRect">
            <a:avLst>
              <a:gd name="adj" fmla="val 8000"/>
            </a:avLst>
          </a:prstGeom>
          <a:solidFill>
            <a:srgbClr val="FAF7F2"/>
          </a:solidFill>
          <a:ln w="11430">
            <a:solidFill>
              <a:srgbClr val="DDB892"/>
            </a:solidFill>
          </a:ln>
          <a:effectLst/>
          <a:extLs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vi-VN" sz="2000"/>
          </a:p>
        </p:txBody>
      </p:sp>
      <p:sp>
        <p:nvSpPr>
          <p:cNvPr id="15" name="codex-contrib-no-3">
            <a:extLst>
              <a:ext uri="{FF2B5EF4-FFF2-40B4-BE49-F238E27FC236}">
                <a16:creationId xmlns:a16="http://schemas.microsoft.com/office/drawing/2014/main" id="{EE25B0CB-9619-06D4-99E4-E00C13EB3FB9}"/>
              </a:ext>
            </a:extLst>
          </p:cNvPr>
          <p:cNvSpPr txBox="1"/>
          <p:nvPr/>
        </p:nvSpPr>
        <p:spPr>
          <a:xfrm>
            <a:off x="660400" y="3556000"/>
            <a:ext cx="584200" cy="420628"/>
          </a:xfrm>
          <a:prstGeom prst="rect">
            <a:avLst/>
          </a:prstGeom>
          <a:noFill/>
        </p:spPr>
        <p:txBody>
          <a:bodyPr vert="horz" lIns="50800" tIns="25400" rIns="50800" bIns="25400" rtlCol="0">
            <a:spAutoFit/>
          </a:bodyPr>
          <a:lstStyle/>
          <a:p>
            <a:r>
              <a:rPr lang="vi-VN" sz="2400" b="1">
                <a:solidFill>
                  <a:srgbClr val="C88639"/>
                </a:solidFill>
              </a:rPr>
              <a:t>03</a:t>
            </a:r>
          </a:p>
        </p:txBody>
      </p:sp>
      <p:sp>
        <p:nvSpPr>
          <p:cNvPr id="16" name="codex-contrib-title-3">
            <a:extLst>
              <a:ext uri="{FF2B5EF4-FFF2-40B4-BE49-F238E27FC236}">
                <a16:creationId xmlns:a16="http://schemas.microsoft.com/office/drawing/2014/main" id="{7949F2A8-DDCD-EBFE-05D6-498E13C3D4D6}"/>
              </a:ext>
            </a:extLst>
          </p:cNvPr>
          <p:cNvSpPr txBox="1"/>
          <p:nvPr/>
        </p:nvSpPr>
        <p:spPr>
          <a:xfrm>
            <a:off x="1397000" y="3581400"/>
            <a:ext cx="4064000" cy="328295"/>
          </a:xfrm>
          <a:prstGeom prst="rect">
            <a:avLst/>
          </a:prstGeom>
          <a:noFill/>
        </p:spPr>
        <p:txBody>
          <a:bodyPr vert="horz" lIns="50800" tIns="25400" rIns="50800" bIns="25400" rtlCol="0">
            <a:spAutoFit/>
          </a:bodyPr>
          <a:lstStyle/>
          <a:p>
            <a:r>
              <a:rPr lang="vi-VN" b="1">
                <a:solidFill>
                  <a:srgbClr val="242C44"/>
                </a:solidFill>
                <a:latin typeface="Aptos" panose="020B0004020202020204" pitchFamily="34" charset="0"/>
              </a:rPr>
              <a:t>Artifact model tiến dần</a:t>
            </a:r>
          </a:p>
        </p:txBody>
      </p:sp>
      <p:sp>
        <p:nvSpPr>
          <p:cNvPr id="17" name="codex-contrib-body-3">
            <a:extLst>
              <a:ext uri="{FF2B5EF4-FFF2-40B4-BE49-F238E27FC236}">
                <a16:creationId xmlns:a16="http://schemas.microsoft.com/office/drawing/2014/main" id="{181047EA-BF8D-ACC8-20A0-4555DE63ED6D}"/>
              </a:ext>
            </a:extLst>
          </p:cNvPr>
          <p:cNvSpPr txBox="1"/>
          <p:nvPr/>
        </p:nvSpPr>
        <p:spPr>
          <a:xfrm>
            <a:off x="1397000" y="3987800"/>
            <a:ext cx="4064000" cy="543739"/>
          </a:xfrm>
          <a:prstGeom prst="rect">
            <a:avLst/>
          </a:prstGeom>
          <a:noFill/>
        </p:spPr>
        <p:txBody>
          <a:bodyPr vert="horz" lIns="50800" tIns="25400" rIns="50800" bIns="25400" rtlCol="0">
            <a:spAutoFit/>
          </a:bodyPr>
          <a:lstStyle/>
          <a:p>
            <a:r>
              <a:rPr lang="vi-VN" sz="1600" dirty="0">
                <a:solidFill>
                  <a:srgbClr val="60677C"/>
                </a:solidFill>
                <a:latin typeface="Aptos" panose="020B0004020202020204" pitchFamily="34" charset="0"/>
              </a:rPr>
              <a:t>chunks, translated_batches, final.json giúp hệ thống usable và benchmarkable hơn.</a:t>
            </a:r>
          </a:p>
        </p:txBody>
      </p:sp>
      <p:sp>
        <p:nvSpPr>
          <p:cNvPr id="18" name="codex-contrib-card-4">
            <a:extLst>
              <a:ext uri="{FF2B5EF4-FFF2-40B4-BE49-F238E27FC236}">
                <a16:creationId xmlns:a16="http://schemas.microsoft.com/office/drawing/2014/main" id="{2589775E-C747-7CF2-DFDD-00D249F88890}"/>
              </a:ext>
            </a:extLst>
          </p:cNvPr>
          <p:cNvSpPr/>
          <p:nvPr/>
        </p:nvSpPr>
        <p:spPr>
          <a:xfrm>
            <a:off x="6350000" y="3378200"/>
            <a:ext cx="5410200" cy="1397000"/>
          </a:xfrm>
          <a:prstGeom prst="roundRect">
            <a:avLst>
              <a:gd name="adj" fmla="val 8000"/>
            </a:avLst>
          </a:prstGeom>
          <a:solidFill>
            <a:srgbClr val="ECF4EC"/>
          </a:solidFill>
          <a:ln w="11430">
            <a:solidFill>
              <a:srgbClr val="A3C09D"/>
            </a:solidFill>
          </a:ln>
          <a:effectLst/>
          <a:extLs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vi-VN" sz="2000"/>
          </a:p>
        </p:txBody>
      </p:sp>
      <p:sp>
        <p:nvSpPr>
          <p:cNvPr id="19" name="codex-contrib-no-4">
            <a:extLst>
              <a:ext uri="{FF2B5EF4-FFF2-40B4-BE49-F238E27FC236}">
                <a16:creationId xmlns:a16="http://schemas.microsoft.com/office/drawing/2014/main" id="{18C92731-F68C-48C0-B476-2457B3C549B4}"/>
              </a:ext>
            </a:extLst>
          </p:cNvPr>
          <p:cNvSpPr txBox="1"/>
          <p:nvPr/>
        </p:nvSpPr>
        <p:spPr>
          <a:xfrm>
            <a:off x="6578600" y="3556000"/>
            <a:ext cx="584200" cy="420628"/>
          </a:xfrm>
          <a:prstGeom prst="rect">
            <a:avLst/>
          </a:prstGeom>
          <a:noFill/>
        </p:spPr>
        <p:txBody>
          <a:bodyPr vert="horz" lIns="50800" tIns="25400" rIns="50800" bIns="25400" rtlCol="0">
            <a:spAutoFit/>
          </a:bodyPr>
          <a:lstStyle/>
          <a:p>
            <a:r>
              <a:rPr lang="vi-VN" sz="2400" b="1">
                <a:solidFill>
                  <a:srgbClr val="C88639"/>
                </a:solidFill>
              </a:rPr>
              <a:t>04</a:t>
            </a:r>
          </a:p>
        </p:txBody>
      </p:sp>
      <p:sp>
        <p:nvSpPr>
          <p:cNvPr id="20" name="codex-contrib-title-4">
            <a:extLst>
              <a:ext uri="{FF2B5EF4-FFF2-40B4-BE49-F238E27FC236}">
                <a16:creationId xmlns:a16="http://schemas.microsoft.com/office/drawing/2014/main" id="{1C8F3C04-7FC5-9910-B8AD-284D88CCD4C1}"/>
              </a:ext>
            </a:extLst>
          </p:cNvPr>
          <p:cNvSpPr txBox="1"/>
          <p:nvPr/>
        </p:nvSpPr>
        <p:spPr>
          <a:xfrm>
            <a:off x="7315200" y="3581400"/>
            <a:ext cx="4064000" cy="328295"/>
          </a:xfrm>
          <a:prstGeom prst="rect">
            <a:avLst/>
          </a:prstGeom>
          <a:noFill/>
        </p:spPr>
        <p:txBody>
          <a:bodyPr vert="horz" lIns="50800" tIns="25400" rIns="50800" bIns="25400" rtlCol="0">
            <a:spAutoFit/>
          </a:bodyPr>
          <a:lstStyle/>
          <a:p>
            <a:r>
              <a:rPr lang="en-US" b="1">
                <a:solidFill>
                  <a:srgbClr val="242C44"/>
                </a:solidFill>
                <a:latin typeface="Aptos" panose="020B0004020202020204" pitchFamily="34" charset="0"/>
              </a:rPr>
              <a:t>Chinese trust path có chủ đích</a:t>
            </a:r>
            <a:endParaRPr lang="vi-VN" b="1">
              <a:solidFill>
                <a:srgbClr val="242C44"/>
              </a:solidFill>
              <a:latin typeface="Aptos" panose="020B0004020202020204" pitchFamily="34" charset="0"/>
            </a:endParaRPr>
          </a:p>
        </p:txBody>
      </p:sp>
      <p:sp>
        <p:nvSpPr>
          <p:cNvPr id="21" name="codex-contrib-body-4">
            <a:extLst>
              <a:ext uri="{FF2B5EF4-FFF2-40B4-BE49-F238E27FC236}">
                <a16:creationId xmlns:a16="http://schemas.microsoft.com/office/drawing/2014/main" id="{42D4ABDB-A681-59D1-A787-39FC619117CC}"/>
              </a:ext>
            </a:extLst>
          </p:cNvPr>
          <p:cNvSpPr txBox="1"/>
          <p:nvPr/>
        </p:nvSpPr>
        <p:spPr>
          <a:xfrm>
            <a:off x="7315200" y="3987800"/>
            <a:ext cx="4064000" cy="543739"/>
          </a:xfrm>
          <a:prstGeom prst="rect">
            <a:avLst/>
          </a:prstGeom>
          <a:noFill/>
        </p:spPr>
        <p:txBody>
          <a:bodyPr vert="horz" lIns="50800" tIns="25400" rIns="50800" bIns="25400" rtlCol="0">
            <a:spAutoFit/>
          </a:bodyPr>
          <a:lstStyle/>
          <a:p>
            <a:r>
              <a:rPr lang="vi-VN" sz="1600">
                <a:solidFill>
                  <a:srgbClr val="60677C"/>
                </a:solidFill>
                <a:latin typeface="Aptos" panose="020B0004020202020204" pitchFamily="34" charset="0"/>
              </a:rPr>
              <a:t>Không đánh đổi hoàn toàn độ tin cậy transcript để lấy output sớm ở case khó.</a:t>
            </a:r>
          </a:p>
        </p:txBody>
      </p:sp>
      <p:sp>
        <p:nvSpPr>
          <p:cNvPr id="22" name="codex-contrib-bottom">
            <a:extLst>
              <a:ext uri="{FF2B5EF4-FFF2-40B4-BE49-F238E27FC236}">
                <a16:creationId xmlns:a16="http://schemas.microsoft.com/office/drawing/2014/main" id="{72F4968A-8582-460D-ACCF-4BEDAA47B677}"/>
              </a:ext>
            </a:extLst>
          </p:cNvPr>
          <p:cNvSpPr/>
          <p:nvPr/>
        </p:nvSpPr>
        <p:spPr>
          <a:xfrm>
            <a:off x="431800" y="5105400"/>
            <a:ext cx="11328400" cy="1632284"/>
          </a:xfrm>
          <a:prstGeom prst="roundRect">
            <a:avLst>
              <a:gd name="adj" fmla="val 6000"/>
            </a:avLst>
          </a:prstGeom>
          <a:solidFill>
            <a:srgbClr val="FFFFFF"/>
          </a:solidFill>
          <a:ln w="11430">
            <a:solidFill>
              <a:srgbClr val="CED6E5"/>
            </a:solidFill>
          </a:ln>
          <a:effectLst/>
          <a:extLs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vi-VN" sz="2000"/>
          </a:p>
        </p:txBody>
      </p:sp>
      <p:sp>
        <p:nvSpPr>
          <p:cNvPr id="23" name="codex-contrib-bottom-title">
            <a:extLst>
              <a:ext uri="{FF2B5EF4-FFF2-40B4-BE49-F238E27FC236}">
                <a16:creationId xmlns:a16="http://schemas.microsoft.com/office/drawing/2014/main" id="{3FFDB154-056E-F2AD-76A8-7C38B092D514}"/>
              </a:ext>
            </a:extLst>
          </p:cNvPr>
          <p:cNvSpPr txBox="1"/>
          <p:nvPr/>
        </p:nvSpPr>
        <p:spPr>
          <a:xfrm>
            <a:off x="660400" y="5308600"/>
            <a:ext cx="4445000" cy="328295"/>
          </a:xfrm>
          <a:prstGeom prst="rect">
            <a:avLst/>
          </a:prstGeom>
          <a:noFill/>
        </p:spPr>
        <p:txBody>
          <a:bodyPr vert="horz" lIns="50800" tIns="25400" rIns="50800" bIns="25400" rtlCol="0">
            <a:spAutoFit/>
          </a:bodyPr>
          <a:lstStyle/>
          <a:p>
            <a:r>
              <a:rPr lang="en-US" b="1">
                <a:solidFill>
                  <a:srgbClr val="242C44"/>
                </a:solidFill>
                <a:latin typeface="Aptos" panose="020B0004020202020204" pitchFamily="34" charset="0"/>
              </a:rPr>
              <a:t>Đồ án này mạnh ở engineering integration</a:t>
            </a:r>
            <a:endParaRPr lang="vi-VN" b="1">
              <a:solidFill>
                <a:srgbClr val="242C44"/>
              </a:solidFill>
              <a:latin typeface="Aptos" panose="020B0004020202020204" pitchFamily="34" charset="0"/>
            </a:endParaRPr>
          </a:p>
        </p:txBody>
      </p:sp>
      <p:sp>
        <p:nvSpPr>
          <p:cNvPr id="24" name="codex-contrib-chip-1">
            <a:extLst>
              <a:ext uri="{FF2B5EF4-FFF2-40B4-BE49-F238E27FC236}">
                <a16:creationId xmlns:a16="http://schemas.microsoft.com/office/drawing/2014/main" id="{76743ECE-AA3F-6AC6-8384-C82D8439F54D}"/>
              </a:ext>
            </a:extLst>
          </p:cNvPr>
          <p:cNvSpPr txBox="1"/>
          <p:nvPr/>
        </p:nvSpPr>
        <p:spPr>
          <a:xfrm>
            <a:off x="660400" y="5740400"/>
            <a:ext cx="2413000" cy="543739"/>
          </a:xfrm>
          <a:prstGeom prst="rect">
            <a:avLst/>
          </a:prstGeom>
          <a:noFill/>
        </p:spPr>
        <p:txBody>
          <a:bodyPr vert="horz" lIns="50800" tIns="25400" rIns="50800" bIns="25400" rtlCol="0">
            <a:spAutoFit/>
          </a:bodyPr>
          <a:lstStyle/>
          <a:p>
            <a:r>
              <a:rPr lang="vi-VN" sz="1600" b="1">
                <a:solidFill>
                  <a:srgbClr val="60677C"/>
                </a:solidFill>
                <a:latin typeface="Aptos" panose="020B0004020202020204" pitchFamily="34" charset="0"/>
              </a:rPr>
              <a:t>Không huấn luyện mô hình mới</a:t>
            </a:r>
          </a:p>
        </p:txBody>
      </p:sp>
      <p:sp>
        <p:nvSpPr>
          <p:cNvPr id="25" name="codex-contrib-chip-2">
            <a:extLst>
              <a:ext uri="{FF2B5EF4-FFF2-40B4-BE49-F238E27FC236}">
                <a16:creationId xmlns:a16="http://schemas.microsoft.com/office/drawing/2014/main" id="{BCF777C6-B34E-D6E7-9098-F269307E183F}"/>
              </a:ext>
            </a:extLst>
          </p:cNvPr>
          <p:cNvSpPr txBox="1"/>
          <p:nvPr/>
        </p:nvSpPr>
        <p:spPr>
          <a:xfrm>
            <a:off x="3302000" y="5740400"/>
            <a:ext cx="2667000" cy="543739"/>
          </a:xfrm>
          <a:prstGeom prst="rect">
            <a:avLst/>
          </a:prstGeom>
          <a:noFill/>
        </p:spPr>
        <p:txBody>
          <a:bodyPr vert="horz" lIns="50800" tIns="25400" rIns="50800" bIns="25400" rtlCol="0">
            <a:spAutoFit/>
          </a:bodyPr>
          <a:lstStyle/>
          <a:p>
            <a:r>
              <a:rPr lang="vi-VN" sz="1600" b="1" dirty="0">
                <a:solidFill>
                  <a:srgbClr val="60677C"/>
                </a:solidFill>
                <a:latin typeface="Aptos" panose="020B0004020202020204" pitchFamily="34" charset="0"/>
              </a:rPr>
              <a:t>Pipeline ML đi vào hệ thống usable</a:t>
            </a:r>
          </a:p>
        </p:txBody>
      </p:sp>
      <p:sp>
        <p:nvSpPr>
          <p:cNvPr id="26" name="codex-contrib-chip-3">
            <a:extLst>
              <a:ext uri="{FF2B5EF4-FFF2-40B4-BE49-F238E27FC236}">
                <a16:creationId xmlns:a16="http://schemas.microsoft.com/office/drawing/2014/main" id="{BC14C558-9C38-822D-F3F2-306B34A8F0DD}"/>
              </a:ext>
            </a:extLst>
          </p:cNvPr>
          <p:cNvSpPr txBox="1"/>
          <p:nvPr/>
        </p:nvSpPr>
        <p:spPr>
          <a:xfrm>
            <a:off x="6388100" y="5740400"/>
            <a:ext cx="2413000" cy="543739"/>
          </a:xfrm>
          <a:prstGeom prst="rect">
            <a:avLst/>
          </a:prstGeom>
          <a:noFill/>
        </p:spPr>
        <p:txBody>
          <a:bodyPr vert="horz" lIns="50800" tIns="25400" rIns="50800" bIns="25400" rtlCol="0">
            <a:spAutoFit/>
          </a:bodyPr>
          <a:lstStyle/>
          <a:p>
            <a:r>
              <a:rPr lang="en-US" sz="1600" b="1" dirty="0" err="1">
                <a:solidFill>
                  <a:srgbClr val="60677C"/>
                </a:solidFill>
                <a:latin typeface="Aptos" panose="020B0004020202020204" pitchFamily="34" charset="0"/>
              </a:rPr>
              <a:t>Có</a:t>
            </a:r>
            <a:r>
              <a:rPr lang="en-US" sz="1600" b="1" dirty="0">
                <a:solidFill>
                  <a:srgbClr val="60677C"/>
                </a:solidFill>
                <a:latin typeface="Aptos" panose="020B0004020202020204" pitchFamily="34" charset="0"/>
              </a:rPr>
              <a:t> artifact contract </a:t>
            </a:r>
            <a:r>
              <a:rPr lang="en-US" sz="1600" b="1" dirty="0" err="1">
                <a:solidFill>
                  <a:srgbClr val="60677C"/>
                </a:solidFill>
                <a:latin typeface="Aptos" panose="020B0004020202020204" pitchFamily="34" charset="0"/>
              </a:rPr>
              <a:t>và</a:t>
            </a:r>
            <a:r>
              <a:rPr lang="en-US" sz="1600" b="1" dirty="0">
                <a:solidFill>
                  <a:srgbClr val="60677C"/>
                </a:solidFill>
                <a:latin typeface="Aptos" panose="020B0004020202020204" pitchFamily="34" charset="0"/>
              </a:rPr>
              <a:t> benchmark </a:t>
            </a:r>
            <a:r>
              <a:rPr lang="en-US" sz="1600" b="1" dirty="0" err="1">
                <a:solidFill>
                  <a:srgbClr val="60677C"/>
                </a:solidFill>
                <a:latin typeface="Aptos" panose="020B0004020202020204" pitchFamily="34" charset="0"/>
              </a:rPr>
              <a:t>thật</a:t>
            </a:r>
            <a:endParaRPr lang="vi-VN" sz="1600" b="1" dirty="0">
              <a:solidFill>
                <a:srgbClr val="60677C"/>
              </a:solidFill>
              <a:latin typeface="Aptos" panose="020B0004020202020204" pitchFamily="34" charset="0"/>
            </a:endParaRPr>
          </a:p>
        </p:txBody>
      </p:sp>
      <p:sp>
        <p:nvSpPr>
          <p:cNvPr id="27" name="codex-contrib-chip-4">
            <a:extLst>
              <a:ext uri="{FF2B5EF4-FFF2-40B4-BE49-F238E27FC236}">
                <a16:creationId xmlns:a16="http://schemas.microsoft.com/office/drawing/2014/main" id="{B89F8185-A39B-D20F-8844-DBA5A6EACEF2}"/>
              </a:ext>
            </a:extLst>
          </p:cNvPr>
          <p:cNvSpPr txBox="1"/>
          <p:nvPr/>
        </p:nvSpPr>
        <p:spPr>
          <a:xfrm>
            <a:off x="9220200" y="5740400"/>
            <a:ext cx="2159000" cy="543739"/>
          </a:xfrm>
          <a:prstGeom prst="rect">
            <a:avLst/>
          </a:prstGeom>
          <a:noFill/>
        </p:spPr>
        <p:txBody>
          <a:bodyPr vert="horz" lIns="50800" tIns="25400" rIns="50800" bIns="25400" rtlCol="0">
            <a:spAutoFit/>
          </a:bodyPr>
          <a:lstStyle/>
          <a:p>
            <a:r>
              <a:rPr lang="vi-VN" sz="1600" b="1" dirty="0">
                <a:solidFill>
                  <a:srgbClr val="60677C"/>
                </a:solidFill>
                <a:latin typeface="Aptos" panose="020B0004020202020204" pitchFamily="34" charset="0"/>
              </a:rPr>
              <a:t>Có surface để người dùng sử dụng</a:t>
            </a:r>
          </a:p>
        </p:txBody>
      </p:sp>
    </p:spTree>
    <p:extLst>
      <p:ext uri="{BB962C8B-B14F-4D97-AF65-F5344CB8AC3E}">
        <p14:creationId xmlns:p14="http://schemas.microsoft.com/office/powerpoint/2010/main" val="820236497"/>
      </p:ext>
    </p:extLst>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5F1EA"/>
        </a:solidFill>
        <a:effectLst/>
      </p:bgPr>
    </p:bg>
    <p:spTree>
      <p:nvGrpSpPr>
        <p:cNvPr id="1" name=""/>
        <p:cNvGrpSpPr/>
        <p:nvPr/>
      </p:nvGrpSpPr>
      <p:grpSpPr>
        <a:xfrm>
          <a:off x="0" y="0"/>
          <a:ext cx="0" cy="0"/>
          <a:chOff x="0" y="0"/>
          <a:chExt cx="0" cy="0"/>
        </a:xfrm>
      </p:grpSpPr>
      <p:sp>
        <p:nvSpPr>
          <p:cNvPr id="2" name="codex-limit-marker">
            <a:extLst>
              <a:ext uri="{FF2B5EF4-FFF2-40B4-BE49-F238E27FC236}">
                <a16:creationId xmlns:a16="http://schemas.microsoft.com/office/drawing/2014/main" id="{AC11CA3B-EAAA-D98C-EB91-4FDC1B1501D1}"/>
              </a:ext>
            </a:extLst>
          </p:cNvPr>
          <p:cNvSpPr txBox="1"/>
          <p:nvPr/>
        </p:nvSpPr>
        <p:spPr>
          <a:xfrm>
            <a:off x="0" y="0"/>
            <a:ext cx="12700" cy="66685"/>
          </a:xfrm>
          <a:prstGeom prst="rect">
            <a:avLst/>
          </a:prstGeom>
          <a:noFill/>
        </p:spPr>
        <p:txBody>
          <a:bodyPr vert="horz" lIns="50800" tIns="25400" rIns="50800" bIns="25400" rtlCol="0">
            <a:spAutoFit/>
          </a:bodyPr>
          <a:lstStyle/>
          <a:p>
            <a:endParaRPr lang="vi-VN" sz="100">
              <a:solidFill>
                <a:srgbClr val="F5F1EA"/>
              </a:solidFill>
              <a:latin typeface="Aptos" panose="020B0004020202020204" pitchFamily="34" charset="0"/>
            </a:endParaRPr>
          </a:p>
        </p:txBody>
      </p:sp>
      <p:sp>
        <p:nvSpPr>
          <p:cNvPr id="3" name="codex-limit-kicker">
            <a:extLst>
              <a:ext uri="{FF2B5EF4-FFF2-40B4-BE49-F238E27FC236}">
                <a16:creationId xmlns:a16="http://schemas.microsoft.com/office/drawing/2014/main" id="{389E5087-8F3F-BAEA-3D95-0620E0149C34}"/>
              </a:ext>
            </a:extLst>
          </p:cNvPr>
          <p:cNvSpPr txBox="1"/>
          <p:nvPr/>
        </p:nvSpPr>
        <p:spPr>
          <a:xfrm>
            <a:off x="431800" y="279400"/>
            <a:ext cx="1778000" cy="328295"/>
          </a:xfrm>
          <a:prstGeom prst="rect">
            <a:avLst/>
          </a:prstGeom>
          <a:noFill/>
        </p:spPr>
        <p:txBody>
          <a:bodyPr vert="horz" lIns="50800" tIns="25400" rIns="50800" bIns="25400" rtlCol="0">
            <a:spAutoFit/>
          </a:bodyPr>
          <a:lstStyle/>
          <a:p>
            <a:r>
              <a:rPr lang="vi-VN" b="1" dirty="0">
                <a:solidFill>
                  <a:srgbClr val="C88639"/>
                </a:solidFill>
                <a:latin typeface="Aptos" panose="020B0004020202020204" pitchFamily="34" charset="0"/>
              </a:rPr>
              <a:t>KẾT LUẬN</a:t>
            </a:r>
          </a:p>
        </p:txBody>
      </p:sp>
      <p:sp>
        <p:nvSpPr>
          <p:cNvPr id="4" name="codex-limit-title">
            <a:extLst>
              <a:ext uri="{FF2B5EF4-FFF2-40B4-BE49-F238E27FC236}">
                <a16:creationId xmlns:a16="http://schemas.microsoft.com/office/drawing/2014/main" id="{20CE49F3-8DDA-1B50-2E24-CF2A18479BCA}"/>
              </a:ext>
            </a:extLst>
          </p:cNvPr>
          <p:cNvSpPr txBox="1"/>
          <p:nvPr/>
        </p:nvSpPr>
        <p:spPr>
          <a:xfrm>
            <a:off x="431800" y="625733"/>
            <a:ext cx="7112000" cy="420628"/>
          </a:xfrm>
          <a:prstGeom prst="rect">
            <a:avLst/>
          </a:prstGeom>
          <a:noFill/>
        </p:spPr>
        <p:txBody>
          <a:bodyPr vert="horz" lIns="50800" tIns="25400" rIns="50800" bIns="25400" rtlCol="0">
            <a:spAutoFit/>
          </a:bodyPr>
          <a:lstStyle/>
          <a:p>
            <a:r>
              <a:rPr lang="vi-VN" sz="2400" b="1" dirty="0">
                <a:solidFill>
                  <a:srgbClr val="242C44"/>
                </a:solidFill>
              </a:rPr>
              <a:t>Hạn chế hiện tại và hướng phát triển</a:t>
            </a:r>
          </a:p>
        </p:txBody>
      </p:sp>
      <p:sp>
        <p:nvSpPr>
          <p:cNvPr id="6" name="codex-limit-left">
            <a:extLst>
              <a:ext uri="{FF2B5EF4-FFF2-40B4-BE49-F238E27FC236}">
                <a16:creationId xmlns:a16="http://schemas.microsoft.com/office/drawing/2014/main" id="{73F70A66-12F8-8C3D-445F-B42A44949144}"/>
              </a:ext>
            </a:extLst>
          </p:cNvPr>
          <p:cNvSpPr/>
          <p:nvPr/>
        </p:nvSpPr>
        <p:spPr>
          <a:xfrm>
            <a:off x="431800" y="1651000"/>
            <a:ext cx="5461000" cy="3302000"/>
          </a:xfrm>
          <a:prstGeom prst="roundRect">
            <a:avLst>
              <a:gd name="adj" fmla="val 6000"/>
            </a:avLst>
          </a:prstGeom>
          <a:solidFill>
            <a:srgbClr val="FFFFFF"/>
          </a:solidFill>
          <a:ln w="11430">
            <a:solidFill>
              <a:srgbClr val="CED6E5"/>
            </a:solidFill>
          </a:ln>
          <a:effectLst/>
          <a:extLs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vi-VN"/>
          </a:p>
        </p:txBody>
      </p:sp>
      <p:sp>
        <p:nvSpPr>
          <p:cNvPr id="7" name="codex-limit-left-k">
            <a:extLst>
              <a:ext uri="{FF2B5EF4-FFF2-40B4-BE49-F238E27FC236}">
                <a16:creationId xmlns:a16="http://schemas.microsoft.com/office/drawing/2014/main" id="{1BF8BD12-767B-EBDF-5F23-78812BB3E499}"/>
              </a:ext>
            </a:extLst>
          </p:cNvPr>
          <p:cNvSpPr txBox="1"/>
          <p:nvPr/>
        </p:nvSpPr>
        <p:spPr>
          <a:xfrm>
            <a:off x="660400" y="1854200"/>
            <a:ext cx="2286000" cy="235962"/>
          </a:xfrm>
          <a:prstGeom prst="rect">
            <a:avLst/>
          </a:prstGeom>
          <a:noFill/>
        </p:spPr>
        <p:txBody>
          <a:bodyPr vert="horz" lIns="50800" tIns="25400" rIns="50800" bIns="25400" rtlCol="0">
            <a:spAutoFit/>
          </a:bodyPr>
          <a:lstStyle/>
          <a:p>
            <a:r>
              <a:rPr lang="vi-VN" sz="1200" b="1" dirty="0">
                <a:solidFill>
                  <a:srgbClr val="C88639"/>
                </a:solidFill>
                <a:latin typeface="Aptos" panose="020B0004020202020204" pitchFamily="34" charset="0"/>
              </a:rPr>
              <a:t>GIỚI HẠN HIỆN TẠI</a:t>
            </a:r>
          </a:p>
        </p:txBody>
      </p:sp>
      <p:sp>
        <p:nvSpPr>
          <p:cNvPr id="9" name="codex-limit-left-body">
            <a:extLst>
              <a:ext uri="{FF2B5EF4-FFF2-40B4-BE49-F238E27FC236}">
                <a16:creationId xmlns:a16="http://schemas.microsoft.com/office/drawing/2014/main" id="{3F7C72C3-594A-2512-0C24-2EB1D1434A13}"/>
              </a:ext>
            </a:extLst>
          </p:cNvPr>
          <p:cNvSpPr txBox="1"/>
          <p:nvPr/>
        </p:nvSpPr>
        <p:spPr>
          <a:xfrm>
            <a:off x="660400" y="2565400"/>
            <a:ext cx="5008880" cy="1713290"/>
          </a:xfrm>
          <a:prstGeom prst="rect">
            <a:avLst/>
          </a:prstGeom>
          <a:noFill/>
        </p:spPr>
        <p:txBody>
          <a:bodyPr vert="horz" wrap="square" lIns="50800" tIns="25400" rIns="50800" bIns="25400" rtlCol="0">
            <a:spAutoFit/>
          </a:bodyPr>
          <a:lstStyle/>
          <a:p>
            <a:pPr marL="285750" indent="-285750">
              <a:buFont typeface="Arial" panose="020B0604020202020204" pitchFamily="34" charset="0"/>
              <a:buChar char="•"/>
            </a:pPr>
            <a:r>
              <a:rPr lang="en-US" dirty="0" err="1">
                <a:solidFill>
                  <a:srgbClr val="60677C"/>
                </a:solidFill>
                <a:latin typeface="Aptos" panose="020B0004020202020204" pitchFamily="34" charset="0"/>
              </a:rPr>
              <a:t>Thời</a:t>
            </a:r>
            <a:r>
              <a:rPr lang="en-US" dirty="0">
                <a:solidFill>
                  <a:srgbClr val="60677C"/>
                </a:solidFill>
                <a:latin typeface="Aptos" panose="020B0004020202020204" pitchFamily="34" charset="0"/>
              </a:rPr>
              <a:t> </a:t>
            </a:r>
            <a:r>
              <a:rPr lang="en-US" dirty="0" err="1">
                <a:solidFill>
                  <a:srgbClr val="60677C"/>
                </a:solidFill>
                <a:latin typeface="Aptos" panose="020B0004020202020204" pitchFamily="34" charset="0"/>
              </a:rPr>
              <a:t>gian</a:t>
            </a:r>
            <a:r>
              <a:rPr lang="en-US" dirty="0">
                <a:solidFill>
                  <a:srgbClr val="60677C"/>
                </a:solidFill>
                <a:latin typeface="Aptos" panose="020B0004020202020204" pitchFamily="34" charset="0"/>
              </a:rPr>
              <a:t> </a:t>
            </a:r>
            <a:r>
              <a:rPr lang="en-US" dirty="0" err="1">
                <a:solidFill>
                  <a:srgbClr val="60677C"/>
                </a:solidFill>
                <a:latin typeface="Aptos" panose="020B0004020202020204" pitchFamily="34" charset="0"/>
              </a:rPr>
              <a:t>xử</a:t>
            </a:r>
            <a:r>
              <a:rPr lang="en-US" dirty="0">
                <a:solidFill>
                  <a:srgbClr val="60677C"/>
                </a:solidFill>
                <a:latin typeface="Aptos" panose="020B0004020202020204" pitchFamily="34" charset="0"/>
              </a:rPr>
              <a:t> </a:t>
            </a:r>
            <a:r>
              <a:rPr lang="en-US" dirty="0" err="1">
                <a:solidFill>
                  <a:srgbClr val="60677C"/>
                </a:solidFill>
                <a:latin typeface="Aptos" panose="020B0004020202020204" pitchFamily="34" charset="0"/>
              </a:rPr>
              <a:t>lý</a:t>
            </a:r>
            <a:r>
              <a:rPr lang="en-US" dirty="0">
                <a:solidFill>
                  <a:srgbClr val="60677C"/>
                </a:solidFill>
                <a:latin typeface="Aptos" panose="020B0004020202020204" pitchFamily="34" charset="0"/>
              </a:rPr>
              <a:t> </a:t>
            </a:r>
            <a:r>
              <a:rPr lang="en-US" dirty="0" err="1">
                <a:solidFill>
                  <a:srgbClr val="60677C"/>
                </a:solidFill>
                <a:latin typeface="Aptos" panose="020B0004020202020204" pitchFamily="34" charset="0"/>
              </a:rPr>
              <a:t>chưa</a:t>
            </a:r>
            <a:r>
              <a:rPr lang="en-US" dirty="0">
                <a:solidFill>
                  <a:srgbClr val="60677C"/>
                </a:solidFill>
                <a:latin typeface="Aptos" panose="020B0004020202020204" pitchFamily="34" charset="0"/>
              </a:rPr>
              <a:t> </a:t>
            </a:r>
            <a:r>
              <a:rPr lang="en-US" dirty="0" err="1">
                <a:solidFill>
                  <a:srgbClr val="60677C"/>
                </a:solidFill>
                <a:latin typeface="Aptos" panose="020B0004020202020204" pitchFamily="34" charset="0"/>
              </a:rPr>
              <a:t>đủ</a:t>
            </a:r>
            <a:r>
              <a:rPr lang="en-US" dirty="0">
                <a:solidFill>
                  <a:srgbClr val="60677C"/>
                </a:solidFill>
                <a:latin typeface="Aptos" panose="020B0004020202020204" pitchFamily="34" charset="0"/>
              </a:rPr>
              <a:t> </a:t>
            </a:r>
            <a:r>
              <a:rPr lang="en-US" dirty="0" err="1">
                <a:solidFill>
                  <a:srgbClr val="60677C"/>
                </a:solidFill>
                <a:latin typeface="Aptos" panose="020B0004020202020204" pitchFamily="34" charset="0"/>
              </a:rPr>
              <a:t>tối</a:t>
            </a:r>
            <a:r>
              <a:rPr lang="en-US" dirty="0">
                <a:solidFill>
                  <a:srgbClr val="60677C"/>
                </a:solidFill>
                <a:latin typeface="Aptos" panose="020B0004020202020204" pitchFamily="34" charset="0"/>
              </a:rPr>
              <a:t> </a:t>
            </a:r>
            <a:r>
              <a:rPr lang="en-US" dirty="0" err="1">
                <a:solidFill>
                  <a:srgbClr val="60677C"/>
                </a:solidFill>
                <a:latin typeface="Aptos" panose="020B0004020202020204" pitchFamily="34" charset="0"/>
              </a:rPr>
              <a:t>ưu</a:t>
            </a:r>
            <a:r>
              <a:rPr lang="vi-VN" dirty="0">
                <a:solidFill>
                  <a:srgbClr val="60677C"/>
                </a:solidFill>
                <a:latin typeface="Aptos" panose="020B0004020202020204" pitchFamily="34" charset="0"/>
              </a:rPr>
              <a:t>.
Chinese path vẫn là điểm yếu lớn nhất về latency và WER/CER.
Timing benchmark hiện là polling-observed.
Translation quality đích chưa có manual review đủ sâu như transcript nguồn.</a:t>
            </a:r>
          </a:p>
        </p:txBody>
      </p:sp>
      <p:sp>
        <p:nvSpPr>
          <p:cNvPr id="10" name="codex-limit-right">
            <a:extLst>
              <a:ext uri="{FF2B5EF4-FFF2-40B4-BE49-F238E27FC236}">
                <a16:creationId xmlns:a16="http://schemas.microsoft.com/office/drawing/2014/main" id="{96CD31F3-2E99-AB82-5E34-F6D7EC2E12EF}"/>
              </a:ext>
            </a:extLst>
          </p:cNvPr>
          <p:cNvSpPr/>
          <p:nvPr/>
        </p:nvSpPr>
        <p:spPr>
          <a:xfrm>
            <a:off x="6299200" y="1651000"/>
            <a:ext cx="5461000" cy="3302000"/>
          </a:xfrm>
          <a:prstGeom prst="roundRect">
            <a:avLst>
              <a:gd name="adj" fmla="val 6000"/>
            </a:avLst>
          </a:prstGeom>
          <a:solidFill>
            <a:srgbClr val="F0EBE3"/>
          </a:solidFill>
          <a:ln w="11430">
            <a:solidFill>
              <a:srgbClr val="CED6E5"/>
            </a:solidFill>
          </a:ln>
          <a:effectLst/>
          <a:extLs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vi-VN"/>
          </a:p>
        </p:txBody>
      </p:sp>
      <p:sp>
        <p:nvSpPr>
          <p:cNvPr id="11" name="codex-limit-right-k">
            <a:extLst>
              <a:ext uri="{FF2B5EF4-FFF2-40B4-BE49-F238E27FC236}">
                <a16:creationId xmlns:a16="http://schemas.microsoft.com/office/drawing/2014/main" id="{CAEE6B65-5285-E73B-4ADF-5AA2D1083204}"/>
              </a:ext>
            </a:extLst>
          </p:cNvPr>
          <p:cNvSpPr txBox="1"/>
          <p:nvPr/>
        </p:nvSpPr>
        <p:spPr>
          <a:xfrm>
            <a:off x="6527800" y="1854200"/>
            <a:ext cx="2286000" cy="235962"/>
          </a:xfrm>
          <a:prstGeom prst="rect">
            <a:avLst/>
          </a:prstGeom>
          <a:noFill/>
        </p:spPr>
        <p:txBody>
          <a:bodyPr vert="horz" lIns="50800" tIns="25400" rIns="50800" bIns="25400" rtlCol="0">
            <a:spAutoFit/>
          </a:bodyPr>
          <a:lstStyle/>
          <a:p>
            <a:r>
              <a:rPr lang="vi-VN" sz="1200" b="1">
                <a:solidFill>
                  <a:srgbClr val="C88639"/>
                </a:solidFill>
                <a:latin typeface="Aptos" panose="020B0004020202020204" pitchFamily="34" charset="0"/>
              </a:rPr>
              <a:t>HƯỚNG PHÁT TRIỂN</a:t>
            </a:r>
          </a:p>
        </p:txBody>
      </p:sp>
      <p:sp>
        <p:nvSpPr>
          <p:cNvPr id="12" name="codex-limit-right-title">
            <a:extLst>
              <a:ext uri="{FF2B5EF4-FFF2-40B4-BE49-F238E27FC236}">
                <a16:creationId xmlns:a16="http://schemas.microsoft.com/office/drawing/2014/main" id="{A8AA83AE-4455-B6B7-0AC6-0CA9DEE1F659}"/>
              </a:ext>
            </a:extLst>
          </p:cNvPr>
          <p:cNvSpPr txBox="1"/>
          <p:nvPr/>
        </p:nvSpPr>
        <p:spPr>
          <a:xfrm>
            <a:off x="6527800" y="2108200"/>
            <a:ext cx="2794000" cy="312906"/>
          </a:xfrm>
          <a:prstGeom prst="rect">
            <a:avLst/>
          </a:prstGeom>
          <a:noFill/>
        </p:spPr>
        <p:txBody>
          <a:bodyPr vert="horz" lIns="50800" tIns="25400" rIns="50800" bIns="25400" rtlCol="0">
            <a:spAutoFit/>
          </a:bodyPr>
          <a:lstStyle/>
          <a:p>
            <a:r>
              <a:rPr lang="vi-VN" sz="1700" b="1">
                <a:solidFill>
                  <a:srgbClr val="242C44"/>
                </a:solidFill>
                <a:latin typeface="Aptos" panose="020B0004020202020204" pitchFamily="34" charset="0"/>
              </a:rPr>
              <a:t>Các hướng nên làm tiếp</a:t>
            </a:r>
          </a:p>
        </p:txBody>
      </p:sp>
      <p:sp>
        <p:nvSpPr>
          <p:cNvPr id="13" name="codex-limit-right-body">
            <a:extLst>
              <a:ext uri="{FF2B5EF4-FFF2-40B4-BE49-F238E27FC236}">
                <a16:creationId xmlns:a16="http://schemas.microsoft.com/office/drawing/2014/main" id="{E070E8A4-5D0E-17B7-B021-44C1B2578BD3}"/>
              </a:ext>
            </a:extLst>
          </p:cNvPr>
          <p:cNvSpPr txBox="1"/>
          <p:nvPr/>
        </p:nvSpPr>
        <p:spPr>
          <a:xfrm>
            <a:off x="6527800" y="2565400"/>
            <a:ext cx="4775200" cy="1990288"/>
          </a:xfrm>
          <a:prstGeom prst="rect">
            <a:avLst/>
          </a:prstGeom>
          <a:noFill/>
        </p:spPr>
        <p:txBody>
          <a:bodyPr vert="horz" lIns="50800" tIns="25400" rIns="50800" bIns="25400" rtlCol="0">
            <a:spAutoFit/>
          </a:bodyPr>
          <a:lstStyle/>
          <a:p>
            <a:pPr marL="285750" indent="-285750">
              <a:buFont typeface="Arial" panose="020B0604020202020204" pitchFamily="34" charset="0"/>
              <a:buChar char="•"/>
            </a:pPr>
            <a:r>
              <a:rPr lang="vi-VN" dirty="0">
                <a:solidFill>
                  <a:srgbClr val="60677C"/>
                </a:solidFill>
                <a:latin typeface="Aptos" panose="020B0004020202020204" pitchFamily="34" charset="0"/>
              </a:rPr>
              <a:t>Tối ưu Chinese route và trust-gated runtime policy.
Giảm latency của progressive subtitle pipeline.
Mở rộng đánh giá translation quality.
Hoàn thiện thêm lớp vận hành, monitoring và scale của hệ thống.</a:t>
            </a:r>
          </a:p>
        </p:txBody>
      </p:sp>
    </p:spTree>
    <p:extLst>
      <p:ext uri="{BB962C8B-B14F-4D97-AF65-F5344CB8AC3E}">
        <p14:creationId xmlns:p14="http://schemas.microsoft.com/office/powerpoint/2010/main" val="3244457061"/>
      </p:ext>
    </p:extLst>
  </p:cSld>
  <p:clrMapOvr>
    <a:masterClrMapping/>
  </p:clrMapOvr>
  <p:transition spd="slow">
    <p:push dir="u"/>
  </p:transition>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5F1EA"/>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CB1D8A1-91F4-E6F3-F281-858DE1B7CC96}"/>
              </a:ext>
            </a:extLst>
          </p:cNvPr>
          <p:cNvSpPr txBox="1"/>
          <p:nvPr/>
        </p:nvSpPr>
        <p:spPr>
          <a:xfrm>
            <a:off x="1355069" y="386458"/>
            <a:ext cx="9481862" cy="1569660"/>
          </a:xfrm>
          <a:prstGeom prst="rect">
            <a:avLst/>
          </a:prstGeom>
          <a:noFill/>
        </p:spPr>
        <p:txBody>
          <a:bodyPr wrap="square" rtlCol="0">
            <a:spAutoFit/>
          </a:bodyPr>
          <a:lstStyle/>
          <a:p>
            <a:pPr algn="ctr"/>
            <a:r>
              <a:rPr lang="en-US" sz="4800" b="1" dirty="0">
                <a:ln w="22225">
                  <a:solidFill>
                    <a:schemeClr val="accent2"/>
                  </a:solidFill>
                  <a:prstDash val="solid"/>
                </a:ln>
                <a:solidFill>
                  <a:schemeClr val="accent2">
                    <a:lumMod val="40000"/>
                    <a:lumOff val="60000"/>
                  </a:schemeClr>
                </a:solidFill>
                <a:latin typeface="Aptos" panose="020B0004020202020204" pitchFamily="34" charset="0"/>
              </a:rPr>
              <a:t>Em </a:t>
            </a:r>
            <a:r>
              <a:rPr lang="en-US" sz="4800" b="1" dirty="0" err="1">
                <a:ln w="22225">
                  <a:solidFill>
                    <a:schemeClr val="accent2"/>
                  </a:solidFill>
                  <a:prstDash val="solid"/>
                </a:ln>
                <a:solidFill>
                  <a:schemeClr val="accent2">
                    <a:lumMod val="40000"/>
                    <a:lumOff val="60000"/>
                  </a:schemeClr>
                </a:solidFill>
                <a:latin typeface="Aptos" panose="020B0004020202020204" pitchFamily="34" charset="0"/>
              </a:rPr>
              <a:t>xin</a:t>
            </a:r>
            <a:r>
              <a:rPr lang="en-US" sz="4800" b="1" dirty="0">
                <a:ln w="22225">
                  <a:solidFill>
                    <a:schemeClr val="accent2"/>
                  </a:solidFill>
                  <a:prstDash val="solid"/>
                </a:ln>
                <a:solidFill>
                  <a:schemeClr val="accent2">
                    <a:lumMod val="40000"/>
                    <a:lumOff val="60000"/>
                  </a:schemeClr>
                </a:solidFill>
                <a:latin typeface="Aptos" panose="020B0004020202020204" pitchFamily="34" charset="0"/>
              </a:rPr>
              <a:t> </a:t>
            </a:r>
            <a:r>
              <a:rPr lang="en-US" sz="4800" b="1" dirty="0" err="1">
                <a:ln w="22225">
                  <a:solidFill>
                    <a:schemeClr val="accent2"/>
                  </a:solidFill>
                  <a:prstDash val="solid"/>
                </a:ln>
                <a:solidFill>
                  <a:schemeClr val="accent2">
                    <a:lumMod val="40000"/>
                    <a:lumOff val="60000"/>
                  </a:schemeClr>
                </a:solidFill>
                <a:latin typeface="Aptos" panose="020B0004020202020204" pitchFamily="34" charset="0"/>
              </a:rPr>
              <a:t>cảm</a:t>
            </a:r>
            <a:r>
              <a:rPr lang="en-US" sz="4800" b="1" dirty="0">
                <a:ln w="22225">
                  <a:solidFill>
                    <a:schemeClr val="accent2"/>
                  </a:solidFill>
                  <a:prstDash val="solid"/>
                </a:ln>
                <a:solidFill>
                  <a:schemeClr val="accent2">
                    <a:lumMod val="40000"/>
                    <a:lumOff val="60000"/>
                  </a:schemeClr>
                </a:solidFill>
                <a:latin typeface="Aptos" panose="020B0004020202020204" pitchFamily="34" charset="0"/>
              </a:rPr>
              <a:t> </a:t>
            </a:r>
            <a:r>
              <a:rPr lang="en-US" sz="4800" b="1" dirty="0" err="1">
                <a:ln w="22225">
                  <a:solidFill>
                    <a:schemeClr val="accent2"/>
                  </a:solidFill>
                  <a:prstDash val="solid"/>
                </a:ln>
                <a:solidFill>
                  <a:schemeClr val="accent2">
                    <a:lumMod val="40000"/>
                    <a:lumOff val="60000"/>
                  </a:schemeClr>
                </a:solidFill>
                <a:latin typeface="Aptos" panose="020B0004020202020204" pitchFamily="34" charset="0"/>
              </a:rPr>
              <a:t>ơn</a:t>
            </a:r>
            <a:r>
              <a:rPr lang="en-US" sz="4800" b="1" dirty="0">
                <a:ln w="22225">
                  <a:solidFill>
                    <a:schemeClr val="accent2"/>
                  </a:solidFill>
                  <a:prstDash val="solid"/>
                </a:ln>
                <a:solidFill>
                  <a:schemeClr val="accent2">
                    <a:lumMod val="40000"/>
                    <a:lumOff val="60000"/>
                  </a:schemeClr>
                </a:solidFill>
                <a:latin typeface="Aptos" panose="020B0004020202020204" pitchFamily="34" charset="0"/>
              </a:rPr>
              <a:t> </a:t>
            </a:r>
            <a:r>
              <a:rPr lang="en-US" sz="4800" b="1" dirty="0" err="1">
                <a:ln w="22225">
                  <a:solidFill>
                    <a:schemeClr val="accent2"/>
                  </a:solidFill>
                  <a:prstDash val="solid"/>
                </a:ln>
                <a:solidFill>
                  <a:schemeClr val="accent2">
                    <a:lumMod val="40000"/>
                    <a:lumOff val="60000"/>
                  </a:schemeClr>
                </a:solidFill>
                <a:latin typeface="Aptos" panose="020B0004020202020204" pitchFamily="34" charset="0"/>
              </a:rPr>
              <a:t>các</a:t>
            </a:r>
            <a:r>
              <a:rPr lang="en-US" sz="4800" b="1" dirty="0">
                <a:ln w="22225">
                  <a:solidFill>
                    <a:schemeClr val="accent2"/>
                  </a:solidFill>
                  <a:prstDash val="solid"/>
                </a:ln>
                <a:solidFill>
                  <a:schemeClr val="accent2">
                    <a:lumMod val="40000"/>
                    <a:lumOff val="60000"/>
                  </a:schemeClr>
                </a:solidFill>
                <a:latin typeface="Aptos" panose="020B0004020202020204" pitchFamily="34" charset="0"/>
              </a:rPr>
              <a:t> </a:t>
            </a:r>
            <a:r>
              <a:rPr lang="en-US" sz="4800" b="1" dirty="0" err="1">
                <a:ln w="22225">
                  <a:solidFill>
                    <a:schemeClr val="accent2"/>
                  </a:solidFill>
                  <a:prstDash val="solid"/>
                </a:ln>
                <a:solidFill>
                  <a:schemeClr val="accent2">
                    <a:lumMod val="40000"/>
                    <a:lumOff val="60000"/>
                  </a:schemeClr>
                </a:solidFill>
                <a:latin typeface="Aptos" panose="020B0004020202020204" pitchFamily="34" charset="0"/>
              </a:rPr>
              <a:t>quý</a:t>
            </a:r>
            <a:r>
              <a:rPr lang="en-US" sz="4800" b="1" dirty="0">
                <a:ln w="22225">
                  <a:solidFill>
                    <a:schemeClr val="accent2"/>
                  </a:solidFill>
                  <a:prstDash val="solid"/>
                </a:ln>
                <a:solidFill>
                  <a:schemeClr val="accent2">
                    <a:lumMod val="40000"/>
                    <a:lumOff val="60000"/>
                  </a:schemeClr>
                </a:solidFill>
                <a:latin typeface="Aptos" panose="020B0004020202020204" pitchFamily="34" charset="0"/>
              </a:rPr>
              <a:t> </a:t>
            </a:r>
            <a:r>
              <a:rPr lang="en-US" sz="4800" b="1" dirty="0" err="1">
                <a:ln w="22225">
                  <a:solidFill>
                    <a:schemeClr val="accent2"/>
                  </a:solidFill>
                  <a:prstDash val="solid"/>
                </a:ln>
                <a:solidFill>
                  <a:schemeClr val="accent2">
                    <a:lumMod val="40000"/>
                    <a:lumOff val="60000"/>
                  </a:schemeClr>
                </a:solidFill>
                <a:latin typeface="Aptos" panose="020B0004020202020204" pitchFamily="34" charset="0"/>
              </a:rPr>
              <a:t>thầy</a:t>
            </a:r>
            <a:r>
              <a:rPr lang="en-US" sz="4800" b="1" dirty="0">
                <a:ln w="22225">
                  <a:solidFill>
                    <a:schemeClr val="accent2"/>
                  </a:solidFill>
                  <a:prstDash val="solid"/>
                </a:ln>
                <a:solidFill>
                  <a:schemeClr val="accent2">
                    <a:lumMod val="40000"/>
                    <a:lumOff val="60000"/>
                  </a:schemeClr>
                </a:solidFill>
                <a:latin typeface="Aptos" panose="020B0004020202020204" pitchFamily="34" charset="0"/>
              </a:rPr>
              <a:t> </a:t>
            </a:r>
            <a:r>
              <a:rPr lang="en-US" sz="4800" b="1" dirty="0" err="1">
                <a:ln w="22225">
                  <a:solidFill>
                    <a:schemeClr val="accent2"/>
                  </a:solidFill>
                  <a:prstDash val="solid"/>
                </a:ln>
                <a:solidFill>
                  <a:schemeClr val="accent2">
                    <a:lumMod val="40000"/>
                    <a:lumOff val="60000"/>
                  </a:schemeClr>
                </a:solidFill>
                <a:latin typeface="Aptos" panose="020B0004020202020204" pitchFamily="34" charset="0"/>
              </a:rPr>
              <a:t>cô</a:t>
            </a:r>
            <a:r>
              <a:rPr lang="en-US" sz="4800" b="1" dirty="0">
                <a:ln w="22225">
                  <a:solidFill>
                    <a:schemeClr val="accent2"/>
                  </a:solidFill>
                  <a:prstDash val="solid"/>
                </a:ln>
                <a:solidFill>
                  <a:schemeClr val="accent2">
                    <a:lumMod val="40000"/>
                    <a:lumOff val="60000"/>
                  </a:schemeClr>
                </a:solidFill>
                <a:latin typeface="Aptos" panose="020B0004020202020204" pitchFamily="34" charset="0"/>
              </a:rPr>
              <a:t> </a:t>
            </a:r>
            <a:r>
              <a:rPr lang="en-US" sz="4800" b="1" dirty="0" err="1">
                <a:ln w="22225">
                  <a:solidFill>
                    <a:schemeClr val="accent2"/>
                  </a:solidFill>
                  <a:prstDash val="solid"/>
                </a:ln>
                <a:solidFill>
                  <a:schemeClr val="accent2">
                    <a:lumMod val="40000"/>
                    <a:lumOff val="60000"/>
                  </a:schemeClr>
                </a:solidFill>
                <a:latin typeface="Aptos" panose="020B0004020202020204" pitchFamily="34" charset="0"/>
              </a:rPr>
              <a:t>đã</a:t>
            </a:r>
            <a:r>
              <a:rPr lang="en-US" sz="4800" b="1" dirty="0">
                <a:ln w="22225">
                  <a:solidFill>
                    <a:schemeClr val="accent2"/>
                  </a:solidFill>
                  <a:prstDash val="solid"/>
                </a:ln>
                <a:solidFill>
                  <a:schemeClr val="accent2">
                    <a:lumMod val="40000"/>
                    <a:lumOff val="60000"/>
                  </a:schemeClr>
                </a:solidFill>
                <a:latin typeface="Aptos" panose="020B0004020202020204" pitchFamily="34" charset="0"/>
              </a:rPr>
              <a:t> </a:t>
            </a:r>
            <a:r>
              <a:rPr lang="en-US" sz="4800" b="1" dirty="0" err="1">
                <a:ln w="22225">
                  <a:solidFill>
                    <a:schemeClr val="accent2"/>
                  </a:solidFill>
                  <a:prstDash val="solid"/>
                </a:ln>
                <a:solidFill>
                  <a:schemeClr val="accent2">
                    <a:lumMod val="40000"/>
                    <a:lumOff val="60000"/>
                  </a:schemeClr>
                </a:solidFill>
                <a:latin typeface="Aptos" panose="020B0004020202020204" pitchFamily="34" charset="0"/>
              </a:rPr>
              <a:t>lắng</a:t>
            </a:r>
            <a:r>
              <a:rPr lang="en-US" sz="4800" b="1" dirty="0">
                <a:ln w="22225">
                  <a:solidFill>
                    <a:schemeClr val="accent2"/>
                  </a:solidFill>
                  <a:prstDash val="solid"/>
                </a:ln>
                <a:solidFill>
                  <a:schemeClr val="accent2">
                    <a:lumMod val="40000"/>
                    <a:lumOff val="60000"/>
                  </a:schemeClr>
                </a:solidFill>
                <a:latin typeface="Aptos" panose="020B0004020202020204" pitchFamily="34" charset="0"/>
              </a:rPr>
              <a:t> </a:t>
            </a:r>
            <a:r>
              <a:rPr lang="en-US" sz="4800" b="1" dirty="0" err="1">
                <a:ln w="22225">
                  <a:solidFill>
                    <a:schemeClr val="accent2"/>
                  </a:solidFill>
                  <a:prstDash val="solid"/>
                </a:ln>
                <a:solidFill>
                  <a:schemeClr val="accent2">
                    <a:lumMod val="40000"/>
                    <a:lumOff val="60000"/>
                  </a:schemeClr>
                </a:solidFill>
                <a:latin typeface="Aptos" panose="020B0004020202020204" pitchFamily="34" charset="0"/>
              </a:rPr>
              <a:t>nghe</a:t>
            </a:r>
            <a:r>
              <a:rPr lang="en-US" sz="4800" b="1" dirty="0">
                <a:ln w="22225">
                  <a:solidFill>
                    <a:schemeClr val="accent2"/>
                  </a:solidFill>
                  <a:prstDash val="solid"/>
                </a:ln>
                <a:solidFill>
                  <a:schemeClr val="accent2">
                    <a:lumMod val="40000"/>
                    <a:lumOff val="60000"/>
                  </a:schemeClr>
                </a:solidFill>
                <a:latin typeface="Aptos" panose="020B0004020202020204" pitchFamily="34" charset="0"/>
              </a:rPr>
              <a:t>!</a:t>
            </a:r>
            <a:endParaRPr lang="vi-VN" sz="4800" b="1" dirty="0">
              <a:ln w="22225">
                <a:solidFill>
                  <a:schemeClr val="accent2"/>
                </a:solidFill>
                <a:prstDash val="solid"/>
              </a:ln>
              <a:solidFill>
                <a:schemeClr val="accent2">
                  <a:lumMod val="40000"/>
                  <a:lumOff val="60000"/>
                </a:schemeClr>
              </a:solidFill>
              <a:latin typeface="Aptos" panose="020B0004020202020204" pitchFamily="34" charset="0"/>
            </a:endParaRPr>
          </a:p>
        </p:txBody>
      </p:sp>
      <p:pic>
        <p:nvPicPr>
          <p:cNvPr id="1026" name="Picture 2" descr="Mortarboard Blank Graduation Thank-You Notes, Pack of 40 - Note Cards &amp;  Stationery | Hallmark">
            <a:extLst>
              <a:ext uri="{FF2B5EF4-FFF2-40B4-BE49-F238E27FC236}">
                <a16:creationId xmlns:a16="http://schemas.microsoft.com/office/drawing/2014/main" id="{8253E178-86A1-8F4F-8E19-CEA81A45005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07310" y="2730368"/>
            <a:ext cx="3377380" cy="3377380"/>
          </a:xfrm>
          <a:prstGeom prst="rect">
            <a:avLst/>
          </a:prstGeom>
          <a:noFill/>
          <a:extLst>
            <a:ext uri="{909E8E84-426E-40DD-AFC4-6F175D3DCCD1}">
              <a14:hiddenFill xmlns:a14="http://schemas.microsoft.com/office/drawing/2010/main">
                <a:solidFill>
                  <a:srgbClr val="FFFFFF"/>
                </a:solidFill>
              </a14:hiddenFill>
            </a:ext>
          </a:extLst>
        </p:spPr>
      </p:pic>
      <p:sp>
        <p:nvSpPr>
          <p:cNvPr id="3" name="codex-contrib-kicker">
            <a:extLst>
              <a:ext uri="{FF2B5EF4-FFF2-40B4-BE49-F238E27FC236}">
                <a16:creationId xmlns:a16="http://schemas.microsoft.com/office/drawing/2014/main" id="{F0011E18-8D17-BB6F-B846-5ABCFB6B60D9}"/>
              </a:ext>
            </a:extLst>
          </p:cNvPr>
          <p:cNvSpPr txBox="1"/>
          <p:nvPr/>
        </p:nvSpPr>
        <p:spPr>
          <a:xfrm>
            <a:off x="1421436" y="2122595"/>
            <a:ext cx="9322763" cy="420628"/>
          </a:xfrm>
          <a:prstGeom prst="rect">
            <a:avLst/>
          </a:prstGeom>
          <a:noFill/>
        </p:spPr>
        <p:txBody>
          <a:bodyPr vert="horz" wrap="square" lIns="50800" tIns="25400" rIns="50800" bIns="25400" rtlCol="0">
            <a:spAutoFit/>
          </a:bodyPr>
          <a:lstStyle/>
          <a:p>
            <a:pPr algn="ctr"/>
            <a:r>
              <a:rPr lang="en-US" sz="2400" b="1" dirty="0">
                <a:solidFill>
                  <a:srgbClr val="C88639"/>
                </a:solidFill>
                <a:latin typeface="Aptos" panose="020B0004020202020204" pitchFamily="34" charset="0"/>
              </a:rPr>
              <a:t>Em </a:t>
            </a:r>
            <a:r>
              <a:rPr lang="en-US" sz="2400" b="1" dirty="0" err="1">
                <a:solidFill>
                  <a:srgbClr val="C88639"/>
                </a:solidFill>
                <a:latin typeface="Aptos" panose="020B0004020202020204" pitchFamily="34" charset="0"/>
              </a:rPr>
              <a:t>xin</a:t>
            </a:r>
            <a:r>
              <a:rPr lang="en-US" sz="2400" b="1" dirty="0">
                <a:solidFill>
                  <a:srgbClr val="C88639"/>
                </a:solidFill>
                <a:latin typeface="Aptos" panose="020B0004020202020204" pitchFamily="34" charset="0"/>
              </a:rPr>
              <a:t> </a:t>
            </a:r>
            <a:r>
              <a:rPr lang="en-US" sz="2400" b="1" dirty="0" err="1">
                <a:solidFill>
                  <a:srgbClr val="C88639"/>
                </a:solidFill>
                <a:latin typeface="Aptos" panose="020B0004020202020204" pitchFamily="34" charset="0"/>
              </a:rPr>
              <a:t>được</a:t>
            </a:r>
            <a:r>
              <a:rPr lang="en-US" sz="2400" b="1" dirty="0">
                <a:solidFill>
                  <a:srgbClr val="C88639"/>
                </a:solidFill>
                <a:latin typeface="Aptos" panose="020B0004020202020204" pitchFamily="34" charset="0"/>
              </a:rPr>
              <a:t> </a:t>
            </a:r>
            <a:r>
              <a:rPr lang="en-US" sz="2400" b="1" dirty="0" err="1">
                <a:solidFill>
                  <a:srgbClr val="C88639"/>
                </a:solidFill>
                <a:latin typeface="Aptos" panose="020B0004020202020204" pitchFamily="34" charset="0"/>
              </a:rPr>
              <a:t>phép</a:t>
            </a:r>
            <a:r>
              <a:rPr lang="en-US" sz="2400" b="1" dirty="0">
                <a:solidFill>
                  <a:srgbClr val="C88639"/>
                </a:solidFill>
                <a:latin typeface="Aptos" panose="020B0004020202020204" pitchFamily="34" charset="0"/>
              </a:rPr>
              <a:t> </a:t>
            </a:r>
            <a:r>
              <a:rPr lang="en-US" sz="2400" b="1" dirty="0" err="1">
                <a:solidFill>
                  <a:srgbClr val="C88639"/>
                </a:solidFill>
                <a:latin typeface="Aptos" panose="020B0004020202020204" pitchFamily="34" charset="0"/>
              </a:rPr>
              <a:t>tiếp</a:t>
            </a:r>
            <a:r>
              <a:rPr lang="en-US" sz="2400" b="1" dirty="0">
                <a:solidFill>
                  <a:srgbClr val="C88639"/>
                </a:solidFill>
                <a:latin typeface="Aptos" panose="020B0004020202020204" pitchFamily="34" charset="0"/>
              </a:rPr>
              <a:t> </a:t>
            </a:r>
            <a:r>
              <a:rPr lang="en-US" sz="2400" b="1" dirty="0" err="1">
                <a:solidFill>
                  <a:srgbClr val="C88639"/>
                </a:solidFill>
                <a:latin typeface="Aptos" panose="020B0004020202020204" pitchFamily="34" charset="0"/>
              </a:rPr>
              <a:t>thu</a:t>
            </a:r>
            <a:r>
              <a:rPr lang="en-US" sz="2400" b="1" dirty="0">
                <a:solidFill>
                  <a:srgbClr val="C88639"/>
                </a:solidFill>
                <a:latin typeface="Aptos" panose="020B0004020202020204" pitchFamily="34" charset="0"/>
              </a:rPr>
              <a:t> </a:t>
            </a:r>
            <a:r>
              <a:rPr lang="en-US" sz="2400" b="1" dirty="0" err="1">
                <a:solidFill>
                  <a:srgbClr val="C88639"/>
                </a:solidFill>
                <a:latin typeface="Aptos" panose="020B0004020202020204" pitchFamily="34" charset="0"/>
              </a:rPr>
              <a:t>và</a:t>
            </a:r>
            <a:r>
              <a:rPr lang="en-US" sz="2400" b="1" dirty="0">
                <a:solidFill>
                  <a:srgbClr val="C88639"/>
                </a:solidFill>
                <a:latin typeface="Aptos" panose="020B0004020202020204" pitchFamily="34" charset="0"/>
              </a:rPr>
              <a:t> </a:t>
            </a:r>
            <a:r>
              <a:rPr lang="en-US" sz="2400" b="1" dirty="0" err="1">
                <a:solidFill>
                  <a:srgbClr val="C88639"/>
                </a:solidFill>
                <a:latin typeface="Aptos" panose="020B0004020202020204" pitchFamily="34" charset="0"/>
              </a:rPr>
              <a:t>lắng</a:t>
            </a:r>
            <a:r>
              <a:rPr lang="en-US" sz="2400" b="1" dirty="0">
                <a:solidFill>
                  <a:srgbClr val="C88639"/>
                </a:solidFill>
                <a:latin typeface="Aptos" panose="020B0004020202020204" pitchFamily="34" charset="0"/>
              </a:rPr>
              <a:t> </a:t>
            </a:r>
            <a:r>
              <a:rPr lang="en-US" sz="2400" b="1" dirty="0" err="1">
                <a:solidFill>
                  <a:srgbClr val="C88639"/>
                </a:solidFill>
                <a:latin typeface="Aptos" panose="020B0004020202020204" pitchFamily="34" charset="0"/>
              </a:rPr>
              <a:t>nghe</a:t>
            </a:r>
            <a:r>
              <a:rPr lang="en-US" sz="2400" b="1" dirty="0">
                <a:solidFill>
                  <a:srgbClr val="C88639"/>
                </a:solidFill>
                <a:latin typeface="Aptos" panose="020B0004020202020204" pitchFamily="34" charset="0"/>
              </a:rPr>
              <a:t> ý </a:t>
            </a:r>
            <a:r>
              <a:rPr lang="en-US" sz="2400" b="1" dirty="0" err="1">
                <a:solidFill>
                  <a:srgbClr val="C88639"/>
                </a:solidFill>
                <a:latin typeface="Aptos" panose="020B0004020202020204" pitchFamily="34" charset="0"/>
              </a:rPr>
              <a:t>kiến</a:t>
            </a:r>
            <a:r>
              <a:rPr lang="en-US" sz="2400" b="1" dirty="0">
                <a:solidFill>
                  <a:srgbClr val="C88639"/>
                </a:solidFill>
                <a:latin typeface="Aptos" panose="020B0004020202020204" pitchFamily="34" charset="0"/>
              </a:rPr>
              <a:t> </a:t>
            </a:r>
            <a:r>
              <a:rPr lang="en-US" sz="2400" b="1" dirty="0" err="1">
                <a:solidFill>
                  <a:srgbClr val="C88639"/>
                </a:solidFill>
                <a:latin typeface="Aptos" panose="020B0004020202020204" pitchFamily="34" charset="0"/>
              </a:rPr>
              <a:t>từ</a:t>
            </a:r>
            <a:r>
              <a:rPr lang="en-US" sz="2400" b="1" dirty="0">
                <a:solidFill>
                  <a:srgbClr val="C88639"/>
                </a:solidFill>
                <a:latin typeface="Aptos" panose="020B0004020202020204" pitchFamily="34" charset="0"/>
              </a:rPr>
              <a:t> </a:t>
            </a:r>
            <a:r>
              <a:rPr lang="en-US" sz="2400" b="1" dirty="0" err="1">
                <a:solidFill>
                  <a:srgbClr val="C88639"/>
                </a:solidFill>
                <a:latin typeface="Aptos" panose="020B0004020202020204" pitchFamily="34" charset="0"/>
              </a:rPr>
              <a:t>các</a:t>
            </a:r>
            <a:r>
              <a:rPr lang="en-US" sz="2400" b="1" dirty="0">
                <a:solidFill>
                  <a:srgbClr val="C88639"/>
                </a:solidFill>
                <a:latin typeface="Aptos" panose="020B0004020202020204" pitchFamily="34" charset="0"/>
              </a:rPr>
              <a:t> </a:t>
            </a:r>
            <a:r>
              <a:rPr lang="en-US" sz="2400" b="1" dirty="0" err="1">
                <a:solidFill>
                  <a:srgbClr val="C88639"/>
                </a:solidFill>
                <a:latin typeface="Aptos" panose="020B0004020202020204" pitchFamily="34" charset="0"/>
              </a:rPr>
              <a:t>thầy</a:t>
            </a:r>
            <a:r>
              <a:rPr lang="en-US" sz="2400" b="1" dirty="0">
                <a:solidFill>
                  <a:srgbClr val="C88639"/>
                </a:solidFill>
                <a:latin typeface="Aptos" panose="020B0004020202020204" pitchFamily="34" charset="0"/>
              </a:rPr>
              <a:t>/</a:t>
            </a:r>
            <a:r>
              <a:rPr lang="en-US" sz="2400" b="1" dirty="0" err="1">
                <a:solidFill>
                  <a:srgbClr val="C88639"/>
                </a:solidFill>
                <a:latin typeface="Aptos" panose="020B0004020202020204" pitchFamily="34" charset="0"/>
              </a:rPr>
              <a:t>cô</a:t>
            </a:r>
            <a:endParaRPr lang="vi-VN" sz="2400" b="1" dirty="0">
              <a:solidFill>
                <a:srgbClr val="C88639"/>
              </a:solidFill>
              <a:latin typeface="Aptos" panose="020B0004020202020204" pitchFamily="34" charset="0"/>
            </a:endParaRPr>
          </a:p>
        </p:txBody>
      </p:sp>
    </p:spTree>
    <p:extLst>
      <p:ext uri="{BB962C8B-B14F-4D97-AF65-F5344CB8AC3E}">
        <p14:creationId xmlns:p14="http://schemas.microsoft.com/office/powerpoint/2010/main" val="3660902487"/>
      </p:ext>
    </p:extLst>
  </p:cSld>
  <p:clrMapOvr>
    <a:masterClrMapping/>
  </p:clrMapOvr>
  <p:transition spd="slow">
    <p:wip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321</TotalTime>
  <Words>1365</Words>
  <Application>Microsoft Office PowerPoint</Application>
  <PresentationFormat>Widescreen</PresentationFormat>
  <Paragraphs>258</Paragraphs>
  <Slides>14</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Aptos</vt:lpstr>
      <vt:lpstr>Arial</vt:lpstr>
      <vt:lpstr>Calibri</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Sơn Đoàn Nam</cp:lastModifiedBy>
  <cp:revision>27</cp:revision>
  <dcterms:created xsi:type="dcterms:W3CDTF">2013-01-27T09:14:16Z</dcterms:created>
  <dcterms:modified xsi:type="dcterms:W3CDTF">2026-06-12T23:58:19Z</dcterms:modified>
  <cp:category/>
</cp:coreProperties>
</file>